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61" r:id="rId5"/>
    <p:sldId id="262" r:id="rId6"/>
    <p:sldId id="263"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Raw</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38ADDFBE-ABEC-4E38-82F8-6DBBF02391A6}">
      <dgm:prSet phldrT="[文本]"/>
      <dgm:spPr/>
      <dgm:t>
        <a:bodyPr/>
        <a:lstStyle/>
        <a:p>
          <a:r>
            <a:rPr lang="en-US" altLang="zh-CN" dirty="0"/>
            <a:t>detrend</a:t>
          </a:r>
          <a:endParaRPr lang="zh-CN" altLang="en-US" dirty="0"/>
        </a:p>
      </dgm:t>
    </dgm:pt>
    <dgm:pt modelId="{3F1710E2-BAE8-4F1B-ABE2-78AF4C366C1C}" type="parTrans" cxnId="{BD2E3739-8A04-47AA-9995-D4DE87B8E6B1}">
      <dgm:prSet/>
      <dgm:spPr/>
      <dgm:t>
        <a:bodyPr/>
        <a:lstStyle/>
        <a:p>
          <a:endParaRPr lang="zh-CN" altLang="en-US"/>
        </a:p>
      </dgm:t>
    </dgm:pt>
    <dgm:pt modelId="{02715F00-CC8E-46D5-937D-5F3B32124E4A}" type="sibTrans" cxnId="{BD2E3739-8A04-47AA-9995-D4DE87B8E6B1}">
      <dgm:prSet/>
      <dgm:spPr/>
      <dgm:t>
        <a:bodyPr/>
        <a:lstStyle/>
        <a:p>
          <a:endParaRPr lang="zh-CN" altLang="en-US"/>
        </a:p>
      </dgm:t>
    </dgm:pt>
    <dgm:pt modelId="{2C01D7DC-2A03-4F54-95B5-70F2D135D3DE}">
      <dgm:prSet/>
      <dgm:spPr/>
      <dgm:t>
        <a:bodyPr/>
        <a:lstStyle/>
        <a:p>
          <a:r>
            <a:rPr lang="en-NZ" altLang="zh-CN" dirty="0"/>
            <a:t>Centring</a:t>
          </a:r>
          <a:endParaRPr lang="zh-CN" altLang="en-US" dirty="0"/>
        </a:p>
      </dgm:t>
    </dgm:pt>
    <dgm:pt modelId="{F99ECEBD-B6DE-487A-B95F-44D8A6EBFDD2}" type="parTrans" cxnId="{DEC46AE4-D634-4B13-BC63-1C936C00FA85}">
      <dgm:prSet/>
      <dgm:spPr/>
      <dgm:t>
        <a:bodyPr/>
        <a:lstStyle/>
        <a:p>
          <a:endParaRPr lang="zh-CN" altLang="en-US"/>
        </a:p>
      </dgm:t>
    </dgm:pt>
    <dgm:pt modelId="{5CB45267-91C6-4D1F-AC53-1E48F037013B}" type="sibTrans" cxnId="{DEC46AE4-D634-4B13-BC63-1C936C00FA85}">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3" custLinFactNeighborY="771">
        <dgm:presLayoutVars>
          <dgm:bulletEnabled val="1"/>
        </dgm:presLayoutVars>
      </dgm:prSet>
      <dgm:spPr/>
    </dgm:pt>
    <dgm:pt modelId="{09C9038B-B660-46E2-B486-E66C7FD2D17E}" type="pres">
      <dgm:prSet presAssocID="{91F3EABB-6CD2-4970-95B1-EF9A54C1BF6D}" presName="sibTrans" presStyleLbl="sibTrans2D1" presStyleIdx="0" presStyleCnt="2"/>
      <dgm:spPr/>
    </dgm:pt>
    <dgm:pt modelId="{C035693B-A4DB-49B9-843D-6CBE02E7D6E2}" type="pres">
      <dgm:prSet presAssocID="{91F3EABB-6CD2-4970-95B1-EF9A54C1BF6D}" presName="connectorText" presStyleLbl="sibTrans2D1" presStyleIdx="0" presStyleCnt="2"/>
      <dgm:spPr/>
    </dgm:pt>
    <dgm:pt modelId="{73D6BB4F-4D0E-4F0D-9D8E-026A8463C75D}" type="pres">
      <dgm:prSet presAssocID="{2C01D7DC-2A03-4F54-95B5-70F2D135D3DE}" presName="node" presStyleLbl="node1" presStyleIdx="1" presStyleCnt="3">
        <dgm:presLayoutVars>
          <dgm:bulletEnabled val="1"/>
        </dgm:presLayoutVars>
      </dgm:prSet>
      <dgm:spPr/>
    </dgm:pt>
    <dgm:pt modelId="{52C3659D-424B-480A-8E3F-877C6E7A3E57}" type="pres">
      <dgm:prSet presAssocID="{5CB45267-91C6-4D1F-AC53-1E48F037013B}" presName="sibTrans" presStyleLbl="sibTrans2D1" presStyleIdx="1" presStyleCnt="2"/>
      <dgm:spPr/>
    </dgm:pt>
    <dgm:pt modelId="{B5EAD845-87F6-4193-8F82-8E142AF8ECE6}" type="pres">
      <dgm:prSet presAssocID="{5CB45267-91C6-4D1F-AC53-1E48F037013B}" presName="connectorText" presStyleLbl="sibTrans2D1" presStyleIdx="1" presStyleCnt="2"/>
      <dgm:spPr/>
    </dgm:pt>
    <dgm:pt modelId="{C206A823-6696-41D0-9096-8A3313B635C8}" type="pres">
      <dgm:prSet presAssocID="{38ADDFBE-ABEC-4E38-82F8-6DBBF02391A6}" presName="node" presStyleLbl="node1" presStyleIdx="2" presStyleCnt="3">
        <dgm:presLayoutVars>
          <dgm:bulletEnabled val="1"/>
        </dgm:presLayoutVars>
      </dgm:prSet>
      <dgm:spPr/>
    </dgm:pt>
  </dgm:ptLst>
  <dgm:cxnLst>
    <dgm:cxn modelId="{A55D8C10-CDBE-43F9-BDD6-A13717FCFF8C}" type="presOf" srcId="{38ADDFBE-ABEC-4E38-82F8-6DBBF02391A6}" destId="{C206A823-6696-41D0-9096-8A3313B635C8}" srcOrd="0" destOrd="0" presId="urn:microsoft.com/office/officeart/2005/8/layout/process2"/>
    <dgm:cxn modelId="{E5398923-F1ED-445E-A7CB-4DAC00879040}" type="presOf" srcId="{5CB45267-91C6-4D1F-AC53-1E48F037013B}" destId="{B5EAD845-87F6-4193-8F82-8E142AF8ECE6}" srcOrd="1" destOrd="0" presId="urn:microsoft.com/office/officeart/2005/8/layout/process2"/>
    <dgm:cxn modelId="{F046122D-E784-4511-8372-31C75F790AB2}" type="presOf" srcId="{2C01D7DC-2A03-4F54-95B5-70F2D135D3DE}" destId="{73D6BB4F-4D0E-4F0D-9D8E-026A8463C75D}" srcOrd="0" destOrd="0" presId="urn:microsoft.com/office/officeart/2005/8/layout/process2"/>
    <dgm:cxn modelId="{BD2E3739-8A04-47AA-9995-D4DE87B8E6B1}" srcId="{DAA0BAEC-B78B-4A8D-9BFB-A835B75EFC7A}" destId="{38ADDFBE-ABEC-4E38-82F8-6DBBF02391A6}" srcOrd="2" destOrd="0" parTransId="{3F1710E2-BAE8-4F1B-ABE2-78AF4C366C1C}" sibTransId="{02715F00-CC8E-46D5-937D-5F3B32124E4A}"/>
    <dgm:cxn modelId="{B0957E5C-2D85-40AB-9DCB-0370C79813FF}" type="presOf" srcId="{91F3EABB-6CD2-4970-95B1-EF9A54C1BF6D}" destId="{09C9038B-B660-46E2-B486-E66C7FD2D17E}" srcOrd="0" destOrd="0" presId="urn:microsoft.com/office/officeart/2005/8/layout/process2"/>
    <dgm:cxn modelId="{28887F6D-D9D9-4F90-82C8-203C8E08A210}" type="presOf" srcId="{91F3EABB-6CD2-4970-95B1-EF9A54C1BF6D}" destId="{C035693B-A4DB-49B9-843D-6CBE02E7D6E2}" srcOrd="1" destOrd="0" presId="urn:microsoft.com/office/officeart/2005/8/layout/process2"/>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0B2A0490-9F5B-424A-B01D-A4BB088AC42B}" type="presOf" srcId="{5CB45267-91C6-4D1F-AC53-1E48F037013B}" destId="{52C3659D-424B-480A-8E3F-877C6E7A3E57}"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EC46AE4-D634-4B13-BC63-1C936C00FA85}" srcId="{DAA0BAEC-B78B-4A8D-9BFB-A835B75EFC7A}" destId="{2C01D7DC-2A03-4F54-95B5-70F2D135D3DE}" srcOrd="1" destOrd="0" parTransId="{F99ECEBD-B6DE-487A-B95F-44D8A6EBFDD2}" sibTransId="{5CB45267-91C6-4D1F-AC53-1E48F037013B}"/>
    <dgm:cxn modelId="{D68E8E80-32E0-4421-9E7E-CDB2228E4473}" type="presParOf" srcId="{BEF35219-2B87-446E-B231-DBA5BBFA8883}" destId="{20AFE87E-8194-454B-813D-88A0B5ADCAD1}" srcOrd="0" destOrd="0" presId="urn:microsoft.com/office/officeart/2005/8/layout/process2"/>
    <dgm:cxn modelId="{8DB158FA-14E6-465E-81C4-F14E4BDB43D3}" type="presParOf" srcId="{BEF35219-2B87-446E-B231-DBA5BBFA8883}" destId="{09C9038B-B660-46E2-B486-E66C7FD2D17E}" srcOrd="1" destOrd="0" presId="urn:microsoft.com/office/officeart/2005/8/layout/process2"/>
    <dgm:cxn modelId="{FBC21B43-ED79-4BAF-97C2-F1364CE7B463}" type="presParOf" srcId="{09C9038B-B660-46E2-B486-E66C7FD2D17E}" destId="{C035693B-A4DB-49B9-843D-6CBE02E7D6E2}" srcOrd="0" destOrd="0" presId="urn:microsoft.com/office/officeart/2005/8/layout/process2"/>
    <dgm:cxn modelId="{66FA8E36-3357-404C-A2EA-D7A3AD1DB1E3}" type="presParOf" srcId="{BEF35219-2B87-446E-B231-DBA5BBFA8883}" destId="{73D6BB4F-4D0E-4F0D-9D8E-026A8463C75D}" srcOrd="2" destOrd="0" presId="urn:microsoft.com/office/officeart/2005/8/layout/process2"/>
    <dgm:cxn modelId="{4A16124B-83B4-4640-8543-2F05ADD090CA}" type="presParOf" srcId="{BEF35219-2B87-446E-B231-DBA5BBFA8883}" destId="{52C3659D-424B-480A-8E3F-877C6E7A3E57}" srcOrd="3" destOrd="0" presId="urn:microsoft.com/office/officeart/2005/8/layout/process2"/>
    <dgm:cxn modelId="{7D905C9D-DB77-47B9-8A22-0A5688DC2E48}" type="presParOf" srcId="{52C3659D-424B-480A-8E3F-877C6E7A3E57}" destId="{B5EAD845-87F6-4193-8F82-8E142AF8ECE6}" srcOrd="0" destOrd="0" presId="urn:microsoft.com/office/officeart/2005/8/layout/process2"/>
    <dgm:cxn modelId="{FF8B6FFF-8EC5-4896-A360-047647F6DDE2}" type="presParOf" srcId="{BEF35219-2B87-446E-B231-DBA5BBFA8883}" destId="{C206A823-6696-41D0-9096-8A3313B635C8}"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Average</a:t>
          </a:r>
        </a:p>
        <a:p>
          <a:r>
            <a:rPr lang="en-US" altLang="zh-CN" dirty="0"/>
            <a:t>transects </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38ADDFBE-ABEC-4E38-82F8-6DBBF02391A6}">
      <dgm:prSet phldrT="[文本]"/>
      <dgm:spPr/>
      <dgm:t>
        <a:bodyPr/>
        <a:lstStyle/>
        <a:p>
          <a:r>
            <a:rPr lang="en-US" altLang="zh-CN" dirty="0"/>
            <a:t>Merge</a:t>
          </a:r>
          <a:endParaRPr lang="zh-CN" altLang="en-US" dirty="0"/>
        </a:p>
      </dgm:t>
    </dgm:pt>
    <dgm:pt modelId="{3F1710E2-BAE8-4F1B-ABE2-78AF4C366C1C}" type="parTrans" cxnId="{BD2E3739-8A04-47AA-9995-D4DE87B8E6B1}">
      <dgm:prSet/>
      <dgm:spPr/>
      <dgm:t>
        <a:bodyPr/>
        <a:lstStyle/>
        <a:p>
          <a:endParaRPr lang="zh-CN" altLang="en-US"/>
        </a:p>
      </dgm:t>
    </dgm:pt>
    <dgm:pt modelId="{02715F00-CC8E-46D5-937D-5F3B32124E4A}" type="sibTrans" cxnId="{BD2E3739-8A04-47AA-9995-D4DE87B8E6B1}">
      <dgm:prSet/>
      <dgm:spPr/>
      <dgm:t>
        <a:bodyPr/>
        <a:lstStyle/>
        <a:p>
          <a:endParaRPr lang="zh-CN" altLang="en-US"/>
        </a:p>
      </dgm:t>
    </dgm:pt>
    <dgm:pt modelId="{2C01D7DC-2A03-4F54-95B5-70F2D135D3DE}">
      <dgm:prSet/>
      <dgm:spPr/>
      <dgm:t>
        <a:bodyPr/>
        <a:lstStyle/>
        <a:p>
          <a:r>
            <a:rPr lang="en-NZ" altLang="zh-CN" dirty="0"/>
            <a:t>Mean by month</a:t>
          </a:r>
          <a:endParaRPr lang="zh-CN" altLang="en-US" dirty="0"/>
        </a:p>
      </dgm:t>
    </dgm:pt>
    <dgm:pt modelId="{F99ECEBD-B6DE-487A-B95F-44D8A6EBFDD2}" type="parTrans" cxnId="{DEC46AE4-D634-4B13-BC63-1C936C00FA85}">
      <dgm:prSet/>
      <dgm:spPr/>
      <dgm:t>
        <a:bodyPr/>
        <a:lstStyle/>
        <a:p>
          <a:endParaRPr lang="zh-CN" altLang="en-US"/>
        </a:p>
      </dgm:t>
    </dgm:pt>
    <dgm:pt modelId="{5CB45267-91C6-4D1F-AC53-1E48F037013B}" type="sibTrans" cxnId="{DEC46AE4-D634-4B13-BC63-1C936C00FA85}">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3" custLinFactNeighborX="-21320" custLinFactNeighborY="-1541">
        <dgm:presLayoutVars>
          <dgm:bulletEnabled val="1"/>
        </dgm:presLayoutVars>
      </dgm:prSet>
      <dgm:spPr/>
    </dgm:pt>
    <dgm:pt modelId="{09C9038B-B660-46E2-B486-E66C7FD2D17E}" type="pres">
      <dgm:prSet presAssocID="{91F3EABB-6CD2-4970-95B1-EF9A54C1BF6D}" presName="sibTrans" presStyleLbl="sibTrans2D1" presStyleIdx="0" presStyleCnt="2"/>
      <dgm:spPr/>
    </dgm:pt>
    <dgm:pt modelId="{C035693B-A4DB-49B9-843D-6CBE02E7D6E2}" type="pres">
      <dgm:prSet presAssocID="{91F3EABB-6CD2-4970-95B1-EF9A54C1BF6D}" presName="connectorText" presStyleLbl="sibTrans2D1" presStyleIdx="0" presStyleCnt="2"/>
      <dgm:spPr/>
    </dgm:pt>
    <dgm:pt modelId="{73D6BB4F-4D0E-4F0D-9D8E-026A8463C75D}" type="pres">
      <dgm:prSet presAssocID="{2C01D7DC-2A03-4F54-95B5-70F2D135D3DE}" presName="node" presStyleLbl="node1" presStyleIdx="1" presStyleCnt="3">
        <dgm:presLayoutVars>
          <dgm:bulletEnabled val="1"/>
        </dgm:presLayoutVars>
      </dgm:prSet>
      <dgm:spPr/>
    </dgm:pt>
    <dgm:pt modelId="{52C3659D-424B-480A-8E3F-877C6E7A3E57}" type="pres">
      <dgm:prSet presAssocID="{5CB45267-91C6-4D1F-AC53-1E48F037013B}" presName="sibTrans" presStyleLbl="sibTrans2D1" presStyleIdx="1" presStyleCnt="2"/>
      <dgm:spPr/>
    </dgm:pt>
    <dgm:pt modelId="{B5EAD845-87F6-4193-8F82-8E142AF8ECE6}" type="pres">
      <dgm:prSet presAssocID="{5CB45267-91C6-4D1F-AC53-1E48F037013B}" presName="connectorText" presStyleLbl="sibTrans2D1" presStyleIdx="1" presStyleCnt="2"/>
      <dgm:spPr/>
    </dgm:pt>
    <dgm:pt modelId="{C206A823-6696-41D0-9096-8A3313B635C8}" type="pres">
      <dgm:prSet presAssocID="{38ADDFBE-ABEC-4E38-82F8-6DBBF02391A6}" presName="node" presStyleLbl="node1" presStyleIdx="2" presStyleCnt="3">
        <dgm:presLayoutVars>
          <dgm:bulletEnabled val="1"/>
        </dgm:presLayoutVars>
      </dgm:prSet>
      <dgm:spPr/>
    </dgm:pt>
  </dgm:ptLst>
  <dgm:cxnLst>
    <dgm:cxn modelId="{A55D8C10-CDBE-43F9-BDD6-A13717FCFF8C}" type="presOf" srcId="{38ADDFBE-ABEC-4E38-82F8-6DBBF02391A6}" destId="{C206A823-6696-41D0-9096-8A3313B635C8}" srcOrd="0" destOrd="0" presId="urn:microsoft.com/office/officeart/2005/8/layout/process2"/>
    <dgm:cxn modelId="{E5398923-F1ED-445E-A7CB-4DAC00879040}" type="presOf" srcId="{5CB45267-91C6-4D1F-AC53-1E48F037013B}" destId="{B5EAD845-87F6-4193-8F82-8E142AF8ECE6}" srcOrd="1" destOrd="0" presId="urn:microsoft.com/office/officeart/2005/8/layout/process2"/>
    <dgm:cxn modelId="{F046122D-E784-4511-8372-31C75F790AB2}" type="presOf" srcId="{2C01D7DC-2A03-4F54-95B5-70F2D135D3DE}" destId="{73D6BB4F-4D0E-4F0D-9D8E-026A8463C75D}" srcOrd="0" destOrd="0" presId="urn:microsoft.com/office/officeart/2005/8/layout/process2"/>
    <dgm:cxn modelId="{BD2E3739-8A04-47AA-9995-D4DE87B8E6B1}" srcId="{DAA0BAEC-B78B-4A8D-9BFB-A835B75EFC7A}" destId="{38ADDFBE-ABEC-4E38-82F8-6DBBF02391A6}" srcOrd="2" destOrd="0" parTransId="{3F1710E2-BAE8-4F1B-ABE2-78AF4C366C1C}" sibTransId="{02715F00-CC8E-46D5-937D-5F3B32124E4A}"/>
    <dgm:cxn modelId="{B0957E5C-2D85-40AB-9DCB-0370C79813FF}" type="presOf" srcId="{91F3EABB-6CD2-4970-95B1-EF9A54C1BF6D}" destId="{09C9038B-B660-46E2-B486-E66C7FD2D17E}" srcOrd="0" destOrd="0" presId="urn:microsoft.com/office/officeart/2005/8/layout/process2"/>
    <dgm:cxn modelId="{28887F6D-D9D9-4F90-82C8-203C8E08A210}" type="presOf" srcId="{91F3EABB-6CD2-4970-95B1-EF9A54C1BF6D}" destId="{C035693B-A4DB-49B9-843D-6CBE02E7D6E2}" srcOrd="1" destOrd="0" presId="urn:microsoft.com/office/officeart/2005/8/layout/process2"/>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0B2A0490-9F5B-424A-B01D-A4BB088AC42B}" type="presOf" srcId="{5CB45267-91C6-4D1F-AC53-1E48F037013B}" destId="{52C3659D-424B-480A-8E3F-877C6E7A3E57}"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EC46AE4-D634-4B13-BC63-1C936C00FA85}" srcId="{DAA0BAEC-B78B-4A8D-9BFB-A835B75EFC7A}" destId="{2C01D7DC-2A03-4F54-95B5-70F2D135D3DE}" srcOrd="1" destOrd="0" parTransId="{F99ECEBD-B6DE-487A-B95F-44D8A6EBFDD2}" sibTransId="{5CB45267-91C6-4D1F-AC53-1E48F037013B}"/>
    <dgm:cxn modelId="{D68E8E80-32E0-4421-9E7E-CDB2228E4473}" type="presParOf" srcId="{BEF35219-2B87-446E-B231-DBA5BBFA8883}" destId="{20AFE87E-8194-454B-813D-88A0B5ADCAD1}" srcOrd="0" destOrd="0" presId="urn:microsoft.com/office/officeart/2005/8/layout/process2"/>
    <dgm:cxn modelId="{8DB158FA-14E6-465E-81C4-F14E4BDB43D3}" type="presParOf" srcId="{BEF35219-2B87-446E-B231-DBA5BBFA8883}" destId="{09C9038B-B660-46E2-B486-E66C7FD2D17E}" srcOrd="1" destOrd="0" presId="urn:microsoft.com/office/officeart/2005/8/layout/process2"/>
    <dgm:cxn modelId="{FBC21B43-ED79-4BAF-97C2-F1364CE7B463}" type="presParOf" srcId="{09C9038B-B660-46E2-B486-E66C7FD2D17E}" destId="{C035693B-A4DB-49B9-843D-6CBE02E7D6E2}" srcOrd="0" destOrd="0" presId="urn:microsoft.com/office/officeart/2005/8/layout/process2"/>
    <dgm:cxn modelId="{66FA8E36-3357-404C-A2EA-D7A3AD1DB1E3}" type="presParOf" srcId="{BEF35219-2B87-446E-B231-DBA5BBFA8883}" destId="{73D6BB4F-4D0E-4F0D-9D8E-026A8463C75D}" srcOrd="2" destOrd="0" presId="urn:microsoft.com/office/officeart/2005/8/layout/process2"/>
    <dgm:cxn modelId="{4A16124B-83B4-4640-8543-2F05ADD090CA}" type="presParOf" srcId="{BEF35219-2B87-446E-B231-DBA5BBFA8883}" destId="{52C3659D-424B-480A-8E3F-877C6E7A3E57}" srcOrd="3" destOrd="0" presId="urn:microsoft.com/office/officeart/2005/8/layout/process2"/>
    <dgm:cxn modelId="{7D905C9D-DB77-47B9-8A22-0A5688DC2E48}" type="presParOf" srcId="{52C3659D-424B-480A-8E3F-877C6E7A3E57}" destId="{B5EAD845-87F6-4193-8F82-8E142AF8ECE6}" srcOrd="0" destOrd="0" presId="urn:microsoft.com/office/officeart/2005/8/layout/process2"/>
    <dgm:cxn modelId="{FF8B6FFF-8EC5-4896-A360-047647F6DDE2}" type="presParOf" srcId="{BEF35219-2B87-446E-B231-DBA5BBFA8883}" destId="{C206A823-6696-41D0-9096-8A3313B635C8}"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Cross-correlation</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1" custLinFactNeighborX="-4297" custLinFactNeighborY="-36623">
        <dgm:presLayoutVars>
          <dgm:bulletEnabled val="1"/>
        </dgm:presLayoutVars>
      </dgm:prSet>
      <dgm:spPr/>
    </dgm:pt>
  </dgm:ptLst>
  <dgm:cxnLst>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68E8E80-32E0-4421-9E7E-CDB2228E4473}" type="presParOf" srcId="{BEF35219-2B87-446E-B231-DBA5BBFA8883}" destId="{20AFE87E-8194-454B-813D-88A0B5ADCAD1}"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Cross-correlation</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1" custLinFactNeighborX="-4297" custLinFactNeighborY="-36623">
        <dgm:presLayoutVars>
          <dgm:bulletEnabled val="1"/>
        </dgm:presLayoutVars>
      </dgm:prSet>
      <dgm:spPr/>
    </dgm:pt>
  </dgm:ptLst>
  <dgm:cxnLst>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68E8E80-32E0-4421-9E7E-CDB2228E4473}" type="presParOf" srcId="{BEF35219-2B87-446E-B231-DBA5BBFA8883}" destId="{20AFE87E-8194-454B-813D-88A0B5ADCAD1}"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custT="1"/>
      <dgm:spPr/>
      <dgm:t>
        <a:bodyPr/>
        <a:lstStyle/>
        <a:p>
          <a:r>
            <a:rPr lang="en-US" altLang="zh-CN" sz="1700" kern="1200" dirty="0">
              <a:solidFill>
                <a:prstClr val="white"/>
              </a:solidFill>
              <a:latin typeface="Gill Sans MT" panose="020B0502020104020203"/>
              <a:ea typeface="华文中宋" panose="02010600040101010101" pitchFamily="2" charset="-122"/>
              <a:cs typeface="+mn-cs"/>
            </a:rPr>
            <a:t>Wavelet</a:t>
          </a:r>
          <a:endParaRPr lang="zh-CN" altLang="en-US" sz="1700" kern="1200" dirty="0">
            <a:solidFill>
              <a:prstClr val="white"/>
            </a:solidFill>
            <a:latin typeface="Gill Sans MT" panose="020B0502020104020203"/>
            <a:ea typeface="华文中宋" panose="02010600040101010101" pitchFamily="2" charset="-122"/>
            <a:cs typeface="+mn-cs"/>
          </a:endParaRPr>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1" custLinFactNeighborX="-8850" custLinFactNeighborY="-481">
        <dgm:presLayoutVars>
          <dgm:bulletEnabled val="1"/>
        </dgm:presLayoutVars>
      </dgm:prSet>
      <dgm:spPr/>
    </dgm:pt>
  </dgm:ptLst>
  <dgm:cxnLst>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68E8E80-32E0-4421-9E7E-CDB2228E4473}" type="presParOf" srcId="{BEF35219-2B87-446E-B231-DBA5BBFA8883}" destId="{20AFE87E-8194-454B-813D-88A0B5ADCAD1}"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6352"/>
          <a:ext cx="1250950" cy="164782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Raw</a:t>
          </a:r>
          <a:endParaRPr lang="zh-CN" altLang="en-US" sz="2200" kern="1200" dirty="0"/>
        </a:p>
      </dsp:txBody>
      <dsp:txXfrm>
        <a:off x="36639" y="42991"/>
        <a:ext cx="1177672" cy="1574546"/>
      </dsp:txXfrm>
    </dsp:sp>
    <dsp:sp modelId="{09C9038B-B660-46E2-B486-E66C7FD2D17E}">
      <dsp:nvSpPr>
        <dsp:cNvPr id="0" name=""/>
        <dsp:cNvSpPr/>
      </dsp:nvSpPr>
      <dsp:spPr>
        <a:xfrm rot="5400000">
          <a:off x="318889" y="1692196"/>
          <a:ext cx="613170" cy="7415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5400000">
        <a:off x="403018" y="1756372"/>
        <a:ext cx="444913" cy="429219"/>
      </dsp:txXfrm>
    </dsp:sp>
    <dsp:sp modelId="{73D6BB4F-4D0E-4F0D-9D8E-026A8463C75D}">
      <dsp:nvSpPr>
        <dsp:cNvPr id="0" name=""/>
        <dsp:cNvSpPr/>
      </dsp:nvSpPr>
      <dsp:spPr>
        <a:xfrm>
          <a:off x="0" y="2471737"/>
          <a:ext cx="1250950" cy="164782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NZ" altLang="zh-CN" sz="2200" kern="1200" dirty="0"/>
            <a:t>Centring</a:t>
          </a:r>
          <a:endParaRPr lang="zh-CN" altLang="en-US" sz="2200" kern="1200" dirty="0"/>
        </a:p>
      </dsp:txBody>
      <dsp:txXfrm>
        <a:off x="36639" y="2508376"/>
        <a:ext cx="1177672" cy="1574546"/>
      </dsp:txXfrm>
    </dsp:sp>
    <dsp:sp modelId="{52C3659D-424B-480A-8E3F-877C6E7A3E57}">
      <dsp:nvSpPr>
        <dsp:cNvPr id="0" name=""/>
        <dsp:cNvSpPr/>
      </dsp:nvSpPr>
      <dsp:spPr>
        <a:xfrm rot="5400000">
          <a:off x="316507" y="4160757"/>
          <a:ext cx="617934" cy="7415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5400000">
        <a:off x="403018" y="4222550"/>
        <a:ext cx="444913" cy="432554"/>
      </dsp:txXfrm>
    </dsp:sp>
    <dsp:sp modelId="{C206A823-6696-41D0-9096-8A3313B635C8}">
      <dsp:nvSpPr>
        <dsp:cNvPr id="0" name=""/>
        <dsp:cNvSpPr/>
      </dsp:nvSpPr>
      <dsp:spPr>
        <a:xfrm>
          <a:off x="0" y="4943474"/>
          <a:ext cx="1250950" cy="164782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detrend</a:t>
          </a:r>
          <a:endParaRPr lang="zh-CN" altLang="en-US" sz="2200" kern="1200" dirty="0"/>
        </a:p>
      </dsp:txBody>
      <dsp:txXfrm>
        <a:off x="36639" y="4980113"/>
        <a:ext cx="1177672" cy="15745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250950" cy="149602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altLang="zh-CN" sz="2100" kern="1200" dirty="0"/>
            <a:t>Average</a:t>
          </a:r>
        </a:p>
        <a:p>
          <a:pPr marL="0" lvl="0" indent="0" algn="ctr" defTabSz="933450">
            <a:lnSpc>
              <a:spcPct val="90000"/>
            </a:lnSpc>
            <a:spcBef>
              <a:spcPct val="0"/>
            </a:spcBef>
            <a:spcAft>
              <a:spcPct val="35000"/>
            </a:spcAft>
            <a:buNone/>
          </a:pPr>
          <a:r>
            <a:rPr lang="en-US" altLang="zh-CN" sz="2100" kern="1200" dirty="0"/>
            <a:t>transects </a:t>
          </a:r>
          <a:endParaRPr lang="zh-CN" altLang="en-US" sz="2100" kern="1200" dirty="0"/>
        </a:p>
      </dsp:txBody>
      <dsp:txXfrm>
        <a:off x="36639" y="36639"/>
        <a:ext cx="1177672" cy="1422750"/>
      </dsp:txXfrm>
    </dsp:sp>
    <dsp:sp modelId="{09C9038B-B660-46E2-B486-E66C7FD2D17E}">
      <dsp:nvSpPr>
        <dsp:cNvPr id="0" name=""/>
        <dsp:cNvSpPr/>
      </dsp:nvSpPr>
      <dsp:spPr>
        <a:xfrm rot="5400000">
          <a:off x="344969" y="1533429"/>
          <a:ext cx="561010" cy="6732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5400000">
        <a:off x="423511" y="1589530"/>
        <a:ext cx="403928" cy="392707"/>
      </dsp:txXfrm>
    </dsp:sp>
    <dsp:sp modelId="{73D6BB4F-4D0E-4F0D-9D8E-026A8463C75D}">
      <dsp:nvSpPr>
        <dsp:cNvPr id="0" name=""/>
        <dsp:cNvSpPr/>
      </dsp:nvSpPr>
      <dsp:spPr>
        <a:xfrm>
          <a:off x="0" y="2244042"/>
          <a:ext cx="1250950" cy="149602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NZ" altLang="zh-CN" sz="2100" kern="1200" dirty="0"/>
            <a:t>Mean by month</a:t>
          </a:r>
          <a:endParaRPr lang="zh-CN" altLang="en-US" sz="2100" kern="1200" dirty="0"/>
        </a:p>
      </dsp:txBody>
      <dsp:txXfrm>
        <a:off x="36639" y="2280681"/>
        <a:ext cx="1177672" cy="1422750"/>
      </dsp:txXfrm>
    </dsp:sp>
    <dsp:sp modelId="{52C3659D-424B-480A-8E3F-877C6E7A3E57}">
      <dsp:nvSpPr>
        <dsp:cNvPr id="0" name=""/>
        <dsp:cNvSpPr/>
      </dsp:nvSpPr>
      <dsp:spPr>
        <a:xfrm rot="5400000">
          <a:off x="344969" y="3777471"/>
          <a:ext cx="561010" cy="6732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5400000">
        <a:off x="423511" y="3833572"/>
        <a:ext cx="403928" cy="392707"/>
      </dsp:txXfrm>
    </dsp:sp>
    <dsp:sp modelId="{C206A823-6696-41D0-9096-8A3313B635C8}">
      <dsp:nvSpPr>
        <dsp:cNvPr id="0" name=""/>
        <dsp:cNvSpPr/>
      </dsp:nvSpPr>
      <dsp:spPr>
        <a:xfrm>
          <a:off x="0" y="4488085"/>
          <a:ext cx="1250950" cy="149602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altLang="zh-CN" sz="2100" kern="1200" dirty="0"/>
            <a:t>Merge</a:t>
          </a:r>
          <a:endParaRPr lang="zh-CN" altLang="en-US" sz="2100" kern="1200" dirty="0"/>
        </a:p>
      </dsp:txBody>
      <dsp:txXfrm>
        <a:off x="36639" y="4524724"/>
        <a:ext cx="1177672" cy="14227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195307" cy="244859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Cross-correlation</a:t>
          </a:r>
          <a:endParaRPr lang="zh-CN" altLang="en-US" sz="1700" kern="1200" dirty="0"/>
        </a:p>
      </dsp:txBody>
      <dsp:txXfrm>
        <a:off x="35009" y="35009"/>
        <a:ext cx="1125289" cy="23785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195307" cy="2104157"/>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Cross-correlation</a:t>
          </a:r>
          <a:endParaRPr lang="zh-CN" altLang="en-US" sz="1700" kern="1200" dirty="0"/>
        </a:p>
      </dsp:txBody>
      <dsp:txXfrm>
        <a:off x="35009" y="35009"/>
        <a:ext cx="1125289" cy="20341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182805" cy="98590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solidFill>
                <a:prstClr val="white"/>
              </a:solidFill>
              <a:latin typeface="Gill Sans MT" panose="020B0502020104020203"/>
              <a:ea typeface="华文中宋" panose="02010600040101010101" pitchFamily="2" charset="-122"/>
              <a:cs typeface="+mn-cs"/>
            </a:rPr>
            <a:t>Wavelet</a:t>
          </a:r>
          <a:endParaRPr lang="zh-CN" altLang="en-US" sz="1700" kern="1200" dirty="0">
            <a:solidFill>
              <a:prstClr val="white"/>
            </a:solidFill>
            <a:latin typeface="Gill Sans MT" panose="020B0502020104020203"/>
            <a:ea typeface="华文中宋" panose="02010600040101010101" pitchFamily="2" charset="-122"/>
            <a:cs typeface="+mn-cs"/>
          </a:endParaRPr>
        </a:p>
      </dsp:txBody>
      <dsp:txXfrm>
        <a:off x="28876" y="28876"/>
        <a:ext cx="1125053" cy="9281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zh-CN" alt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CN" altLang="en-US"/>
              <a:t>单击此处编辑母版标题样式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zh-CN" alt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19ECE750-AA66-4446-B46C-81E32C850EF0}" type="slidenum">
              <a:rPr lang="zh-CN" altLang="en-US" smtClean="0"/>
              <a:t>‹#›</a:t>
            </a:fld>
            <a:endParaRPr lang="zh-CN" alt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383772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2544783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19ECE750-AA66-4446-B46C-81E32C850EF0}" type="slidenum">
              <a:rPr lang="zh-CN" altLang="en-US" smtClean="0"/>
              <a:t>‹#›</a:t>
            </a:fld>
            <a:endParaRPr lang="zh-CN" alt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68530947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36501394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257300" y="2909102"/>
            <a:ext cx="4800600" cy="2996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633864" y="2909102"/>
            <a:ext cx="4800600" cy="2996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301200290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265283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18837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CN" altLang="en-US"/>
              <a:t>单击此处编辑母版标题样式</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65051" y="6375679"/>
            <a:ext cx="1233355" cy="348462"/>
          </a:xfrm>
        </p:spPr>
        <p:txBody>
          <a:bodyPr/>
          <a:lstStyle/>
          <a:p>
            <a:fld id="{1668EF0F-2C1B-436E-92F6-756F887E9169}" type="datetimeFigureOut">
              <a:rPr lang="zh-CN" altLang="en-US" smtClean="0"/>
              <a:t>2026/1/31</a:t>
            </a:fld>
            <a:endParaRPr lang="zh-CN" altLang="en-US"/>
          </a:p>
        </p:txBody>
      </p:sp>
      <p:sp>
        <p:nvSpPr>
          <p:cNvPr id="6" name="Footer Placeholder 5"/>
          <p:cNvSpPr>
            <a:spLocks noGrp="1"/>
          </p:cNvSpPr>
          <p:nvPr>
            <p:ph type="ftr" sz="quarter" idx="11"/>
          </p:nvPr>
        </p:nvSpPr>
        <p:spPr>
          <a:xfrm>
            <a:off x="2103620" y="6375679"/>
            <a:ext cx="3482179" cy="345796"/>
          </a:xfrm>
        </p:spPr>
        <p:txBody>
          <a:bodyPr/>
          <a:lstStyle/>
          <a:p>
            <a:endParaRPr lang="zh-CN" altLang="en-US"/>
          </a:p>
        </p:txBody>
      </p:sp>
      <p:sp>
        <p:nvSpPr>
          <p:cNvPr id="7" name="Slide Number Placeholder 6"/>
          <p:cNvSpPr>
            <a:spLocks noGrp="1"/>
          </p:cNvSpPr>
          <p:nvPr>
            <p:ph type="sldNum" sz="quarter" idx="12"/>
          </p:nvPr>
        </p:nvSpPr>
        <p:spPr>
          <a:xfrm>
            <a:off x="5691014" y="6375679"/>
            <a:ext cx="1232456" cy="345796"/>
          </a:xfrm>
        </p:spPr>
        <p:txBody>
          <a:bodyPr/>
          <a:lstStyle/>
          <a:p>
            <a:fld id="{19ECE750-AA66-4446-B46C-81E32C850EF0}" type="slidenum">
              <a:rPr lang="zh-CN" altLang="en-US" smtClean="0"/>
              <a:t>‹#›</a:t>
            </a:fld>
            <a:endParaRPr lang="zh-CN"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7751942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65950" y="6375679"/>
            <a:ext cx="1232456" cy="348462"/>
          </a:xfrm>
        </p:spPr>
        <p:txBody>
          <a:bodyPr/>
          <a:lstStyle/>
          <a:p>
            <a:fld id="{1668EF0F-2C1B-436E-92F6-756F887E9169}" type="datetimeFigureOut">
              <a:rPr lang="zh-CN" altLang="en-US" smtClean="0"/>
              <a:t>2026/1/31</a:t>
            </a:fld>
            <a:endParaRPr lang="zh-CN" altLang="en-US"/>
          </a:p>
        </p:txBody>
      </p:sp>
      <p:sp>
        <p:nvSpPr>
          <p:cNvPr id="6" name="Footer Placeholder 5"/>
          <p:cNvSpPr>
            <a:spLocks noGrp="1"/>
          </p:cNvSpPr>
          <p:nvPr>
            <p:ph type="ftr" sz="quarter" idx="11"/>
          </p:nvPr>
        </p:nvSpPr>
        <p:spPr>
          <a:xfrm>
            <a:off x="2103621" y="6375679"/>
            <a:ext cx="3482178" cy="345796"/>
          </a:xfrm>
        </p:spPr>
        <p:txBody>
          <a:bodyPr/>
          <a:lstStyle/>
          <a:p>
            <a:endParaRPr lang="zh-CN" altLang="en-US"/>
          </a:p>
        </p:txBody>
      </p:sp>
      <p:sp>
        <p:nvSpPr>
          <p:cNvPr id="7" name="Slide Number Placeholder 6"/>
          <p:cNvSpPr>
            <a:spLocks noGrp="1"/>
          </p:cNvSpPr>
          <p:nvPr>
            <p:ph type="sldNum" sz="quarter" idx="12"/>
          </p:nvPr>
        </p:nvSpPr>
        <p:spPr>
          <a:xfrm>
            <a:off x="5687568" y="6375679"/>
            <a:ext cx="1234440" cy="345796"/>
          </a:xfrm>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2070750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382419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1716575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19ECE750-AA66-4446-B46C-81E32C850EF0}" type="slidenum">
              <a:rPr lang="zh-CN" altLang="en-US" smtClean="0"/>
              <a:t>‹#›</a:t>
            </a:fld>
            <a:endParaRPr lang="zh-CN" alt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zh-CN" alt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63853618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2.xml"/><Relationship Id="rId7" Type="http://schemas.openxmlformats.org/officeDocument/2006/relationships/image" Target="../media/image4.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7.png"/><Relationship Id="rId4" Type="http://schemas.openxmlformats.org/officeDocument/2006/relationships/diagramQuickStyle" Target="../diagrams/quickStyle2.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8.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9.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4FFECA-0832-4FE3-B587-054A0F2D80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7767B28-2A86-FDDD-35B6-73E918A2E840}"/>
              </a:ext>
            </a:extLst>
          </p:cNvPr>
          <p:cNvSpPr>
            <a:spLocks noGrp="1"/>
          </p:cNvSpPr>
          <p:nvPr>
            <p:ph type="ctrTitle"/>
          </p:nvPr>
        </p:nvSpPr>
        <p:spPr>
          <a:xfrm>
            <a:off x="1580257" y="864911"/>
            <a:ext cx="9031484" cy="3467282"/>
          </a:xfrm>
        </p:spPr>
        <p:txBody>
          <a:bodyPr anchor="b">
            <a:normAutofit/>
          </a:bodyPr>
          <a:lstStyle/>
          <a:p>
            <a:r>
              <a:rPr lang="en-US" altLang="zh-CN" sz="8000"/>
              <a:t>Project update</a:t>
            </a:r>
            <a:br>
              <a:rPr lang="en-US" altLang="zh-CN" sz="8000"/>
            </a:br>
            <a:r>
              <a:rPr lang="en-US" altLang="zh-CN" sz="8000"/>
              <a:t>2026.1.31</a:t>
            </a:r>
            <a:endParaRPr lang="zh-CN" altLang="en-US" sz="8000"/>
          </a:p>
        </p:txBody>
      </p:sp>
      <p:sp>
        <p:nvSpPr>
          <p:cNvPr id="10" name="Freeform: Shape 9">
            <a:extLst>
              <a:ext uri="{FF2B5EF4-FFF2-40B4-BE49-F238E27FC236}">
                <a16:creationId xmlns:a16="http://schemas.microsoft.com/office/drawing/2014/main" id="{C65858E6-5C0F-4AAE-A1AC-29BA07FFEE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070707"/>
            <a:ext cx="12192000" cy="1787292"/>
          </a:xfrm>
          <a:custGeom>
            <a:avLst/>
            <a:gdLst>
              <a:gd name="connsiteX0" fmla="*/ 619389 w 12192000"/>
              <a:gd name="connsiteY0" fmla="*/ 0 h 1787292"/>
              <a:gd name="connsiteX1" fmla="*/ 687652 w 12192000"/>
              <a:gd name="connsiteY1" fmla="*/ 3175 h 1787292"/>
              <a:gd name="connsiteX2" fmla="*/ 747977 w 12192000"/>
              <a:gd name="connsiteY2" fmla="*/ 9525 h 1787292"/>
              <a:gd name="connsiteX3" fmla="*/ 800364 w 12192000"/>
              <a:gd name="connsiteY3" fmla="*/ 20637 h 1787292"/>
              <a:gd name="connsiteX4" fmla="*/ 846402 w 12192000"/>
              <a:gd name="connsiteY4" fmla="*/ 36512 h 1787292"/>
              <a:gd name="connsiteX5" fmla="*/ 887677 w 12192000"/>
              <a:gd name="connsiteY5" fmla="*/ 52387 h 1787292"/>
              <a:gd name="connsiteX6" fmla="*/ 924189 w 12192000"/>
              <a:gd name="connsiteY6" fmla="*/ 68262 h 1787292"/>
              <a:gd name="connsiteX7" fmla="*/ 962289 w 12192000"/>
              <a:gd name="connsiteY7" fmla="*/ 87312 h 1787292"/>
              <a:gd name="connsiteX8" fmla="*/ 1000389 w 12192000"/>
              <a:gd name="connsiteY8" fmla="*/ 106362 h 1787292"/>
              <a:gd name="connsiteX9" fmla="*/ 1036902 w 12192000"/>
              <a:gd name="connsiteY9" fmla="*/ 125412 h 1787292"/>
              <a:gd name="connsiteX10" fmla="*/ 1078177 w 12192000"/>
              <a:gd name="connsiteY10" fmla="*/ 141287 h 1787292"/>
              <a:gd name="connsiteX11" fmla="*/ 1124214 w 12192000"/>
              <a:gd name="connsiteY11" fmla="*/ 155575 h 1787292"/>
              <a:gd name="connsiteX12" fmla="*/ 1176602 w 12192000"/>
              <a:gd name="connsiteY12" fmla="*/ 166687 h 1787292"/>
              <a:gd name="connsiteX13" fmla="*/ 1236927 w 12192000"/>
              <a:gd name="connsiteY13" fmla="*/ 174625 h 1787292"/>
              <a:gd name="connsiteX14" fmla="*/ 1305189 w 12192000"/>
              <a:gd name="connsiteY14" fmla="*/ 176212 h 1787292"/>
              <a:gd name="connsiteX15" fmla="*/ 1373452 w 12192000"/>
              <a:gd name="connsiteY15" fmla="*/ 174625 h 1787292"/>
              <a:gd name="connsiteX16" fmla="*/ 1433777 w 12192000"/>
              <a:gd name="connsiteY16" fmla="*/ 166687 h 1787292"/>
              <a:gd name="connsiteX17" fmla="*/ 1486164 w 12192000"/>
              <a:gd name="connsiteY17" fmla="*/ 155575 h 1787292"/>
              <a:gd name="connsiteX18" fmla="*/ 1532202 w 12192000"/>
              <a:gd name="connsiteY18" fmla="*/ 141287 h 1787292"/>
              <a:gd name="connsiteX19" fmla="*/ 1573477 w 12192000"/>
              <a:gd name="connsiteY19" fmla="*/ 125412 h 1787292"/>
              <a:gd name="connsiteX20" fmla="*/ 1609989 w 12192000"/>
              <a:gd name="connsiteY20" fmla="*/ 106362 h 1787292"/>
              <a:gd name="connsiteX21" fmla="*/ 1648089 w 12192000"/>
              <a:gd name="connsiteY21" fmla="*/ 87312 h 1787292"/>
              <a:gd name="connsiteX22" fmla="*/ 1686189 w 12192000"/>
              <a:gd name="connsiteY22" fmla="*/ 68262 h 1787292"/>
              <a:gd name="connsiteX23" fmla="*/ 1722702 w 12192000"/>
              <a:gd name="connsiteY23" fmla="*/ 52387 h 1787292"/>
              <a:gd name="connsiteX24" fmla="*/ 1763977 w 12192000"/>
              <a:gd name="connsiteY24" fmla="*/ 36512 h 1787292"/>
              <a:gd name="connsiteX25" fmla="*/ 1810014 w 12192000"/>
              <a:gd name="connsiteY25" fmla="*/ 20637 h 1787292"/>
              <a:gd name="connsiteX26" fmla="*/ 1862402 w 12192000"/>
              <a:gd name="connsiteY26" fmla="*/ 9525 h 1787292"/>
              <a:gd name="connsiteX27" fmla="*/ 1922727 w 12192000"/>
              <a:gd name="connsiteY27" fmla="*/ 3175 h 1787292"/>
              <a:gd name="connsiteX28" fmla="*/ 1990989 w 12192000"/>
              <a:gd name="connsiteY28" fmla="*/ 0 h 1787292"/>
              <a:gd name="connsiteX29" fmla="*/ 2059252 w 12192000"/>
              <a:gd name="connsiteY29" fmla="*/ 3175 h 1787292"/>
              <a:gd name="connsiteX30" fmla="*/ 2119577 w 12192000"/>
              <a:gd name="connsiteY30" fmla="*/ 9525 h 1787292"/>
              <a:gd name="connsiteX31" fmla="*/ 2171964 w 12192000"/>
              <a:gd name="connsiteY31" fmla="*/ 20637 h 1787292"/>
              <a:gd name="connsiteX32" fmla="*/ 2218002 w 12192000"/>
              <a:gd name="connsiteY32" fmla="*/ 36512 h 1787292"/>
              <a:gd name="connsiteX33" fmla="*/ 2259277 w 12192000"/>
              <a:gd name="connsiteY33" fmla="*/ 52387 h 1787292"/>
              <a:gd name="connsiteX34" fmla="*/ 2295789 w 12192000"/>
              <a:gd name="connsiteY34" fmla="*/ 68262 h 1787292"/>
              <a:gd name="connsiteX35" fmla="*/ 2333889 w 12192000"/>
              <a:gd name="connsiteY35" fmla="*/ 87312 h 1787292"/>
              <a:gd name="connsiteX36" fmla="*/ 2371989 w 12192000"/>
              <a:gd name="connsiteY36" fmla="*/ 106362 h 1787292"/>
              <a:gd name="connsiteX37" fmla="*/ 2408502 w 12192000"/>
              <a:gd name="connsiteY37" fmla="*/ 125412 h 1787292"/>
              <a:gd name="connsiteX38" fmla="*/ 2449777 w 12192000"/>
              <a:gd name="connsiteY38" fmla="*/ 141287 h 1787292"/>
              <a:gd name="connsiteX39" fmla="*/ 2495814 w 12192000"/>
              <a:gd name="connsiteY39" fmla="*/ 155575 h 1787292"/>
              <a:gd name="connsiteX40" fmla="*/ 2548202 w 12192000"/>
              <a:gd name="connsiteY40" fmla="*/ 166687 h 1787292"/>
              <a:gd name="connsiteX41" fmla="*/ 2608527 w 12192000"/>
              <a:gd name="connsiteY41" fmla="*/ 174625 h 1787292"/>
              <a:gd name="connsiteX42" fmla="*/ 2676789 w 12192000"/>
              <a:gd name="connsiteY42" fmla="*/ 176212 h 1787292"/>
              <a:gd name="connsiteX43" fmla="*/ 2745052 w 12192000"/>
              <a:gd name="connsiteY43" fmla="*/ 174625 h 1787292"/>
              <a:gd name="connsiteX44" fmla="*/ 2805377 w 12192000"/>
              <a:gd name="connsiteY44" fmla="*/ 166687 h 1787292"/>
              <a:gd name="connsiteX45" fmla="*/ 2857764 w 12192000"/>
              <a:gd name="connsiteY45" fmla="*/ 155575 h 1787292"/>
              <a:gd name="connsiteX46" fmla="*/ 2903802 w 12192000"/>
              <a:gd name="connsiteY46" fmla="*/ 141287 h 1787292"/>
              <a:gd name="connsiteX47" fmla="*/ 2945077 w 12192000"/>
              <a:gd name="connsiteY47" fmla="*/ 125412 h 1787292"/>
              <a:gd name="connsiteX48" fmla="*/ 2981589 w 12192000"/>
              <a:gd name="connsiteY48" fmla="*/ 106362 h 1787292"/>
              <a:gd name="connsiteX49" fmla="*/ 3019689 w 12192000"/>
              <a:gd name="connsiteY49" fmla="*/ 87312 h 1787292"/>
              <a:gd name="connsiteX50" fmla="*/ 3057789 w 12192000"/>
              <a:gd name="connsiteY50" fmla="*/ 68262 h 1787292"/>
              <a:gd name="connsiteX51" fmla="*/ 3094302 w 12192000"/>
              <a:gd name="connsiteY51" fmla="*/ 52387 h 1787292"/>
              <a:gd name="connsiteX52" fmla="*/ 3135577 w 12192000"/>
              <a:gd name="connsiteY52" fmla="*/ 36512 h 1787292"/>
              <a:gd name="connsiteX53" fmla="*/ 3181614 w 12192000"/>
              <a:gd name="connsiteY53" fmla="*/ 20637 h 1787292"/>
              <a:gd name="connsiteX54" fmla="*/ 3234002 w 12192000"/>
              <a:gd name="connsiteY54" fmla="*/ 9525 h 1787292"/>
              <a:gd name="connsiteX55" fmla="*/ 3294327 w 12192000"/>
              <a:gd name="connsiteY55" fmla="*/ 3175 h 1787292"/>
              <a:gd name="connsiteX56" fmla="*/ 3361002 w 12192000"/>
              <a:gd name="connsiteY56" fmla="*/ 0 h 1787292"/>
              <a:gd name="connsiteX57" fmla="*/ 3430852 w 12192000"/>
              <a:gd name="connsiteY57" fmla="*/ 3175 h 1787292"/>
              <a:gd name="connsiteX58" fmla="*/ 3491177 w 12192000"/>
              <a:gd name="connsiteY58" fmla="*/ 9525 h 1787292"/>
              <a:gd name="connsiteX59" fmla="*/ 3543564 w 12192000"/>
              <a:gd name="connsiteY59" fmla="*/ 20637 h 1787292"/>
              <a:gd name="connsiteX60" fmla="*/ 3589602 w 12192000"/>
              <a:gd name="connsiteY60" fmla="*/ 36512 h 1787292"/>
              <a:gd name="connsiteX61" fmla="*/ 3630877 w 12192000"/>
              <a:gd name="connsiteY61" fmla="*/ 52387 h 1787292"/>
              <a:gd name="connsiteX62" fmla="*/ 3667389 w 12192000"/>
              <a:gd name="connsiteY62" fmla="*/ 68262 h 1787292"/>
              <a:gd name="connsiteX63" fmla="*/ 3705489 w 12192000"/>
              <a:gd name="connsiteY63" fmla="*/ 87312 h 1787292"/>
              <a:gd name="connsiteX64" fmla="*/ 3743589 w 12192000"/>
              <a:gd name="connsiteY64" fmla="*/ 106362 h 1787292"/>
              <a:gd name="connsiteX65" fmla="*/ 3780102 w 12192000"/>
              <a:gd name="connsiteY65" fmla="*/ 125412 h 1787292"/>
              <a:gd name="connsiteX66" fmla="*/ 3821377 w 12192000"/>
              <a:gd name="connsiteY66" fmla="*/ 141287 h 1787292"/>
              <a:gd name="connsiteX67" fmla="*/ 3867414 w 12192000"/>
              <a:gd name="connsiteY67" fmla="*/ 155575 h 1787292"/>
              <a:gd name="connsiteX68" fmla="*/ 3919802 w 12192000"/>
              <a:gd name="connsiteY68" fmla="*/ 166687 h 1787292"/>
              <a:gd name="connsiteX69" fmla="*/ 3980127 w 12192000"/>
              <a:gd name="connsiteY69" fmla="*/ 174625 h 1787292"/>
              <a:gd name="connsiteX70" fmla="*/ 4048389 w 12192000"/>
              <a:gd name="connsiteY70" fmla="*/ 176212 h 1787292"/>
              <a:gd name="connsiteX71" fmla="*/ 4116652 w 12192000"/>
              <a:gd name="connsiteY71" fmla="*/ 174625 h 1787292"/>
              <a:gd name="connsiteX72" fmla="*/ 4176977 w 12192000"/>
              <a:gd name="connsiteY72" fmla="*/ 166687 h 1787292"/>
              <a:gd name="connsiteX73" fmla="*/ 4229364 w 12192000"/>
              <a:gd name="connsiteY73" fmla="*/ 155575 h 1787292"/>
              <a:gd name="connsiteX74" fmla="*/ 4275402 w 12192000"/>
              <a:gd name="connsiteY74" fmla="*/ 141287 h 1787292"/>
              <a:gd name="connsiteX75" fmla="*/ 4316677 w 12192000"/>
              <a:gd name="connsiteY75" fmla="*/ 125412 h 1787292"/>
              <a:gd name="connsiteX76" fmla="*/ 4353189 w 12192000"/>
              <a:gd name="connsiteY76" fmla="*/ 106362 h 1787292"/>
              <a:gd name="connsiteX77" fmla="*/ 4429389 w 12192000"/>
              <a:gd name="connsiteY77" fmla="*/ 68262 h 1787292"/>
              <a:gd name="connsiteX78" fmla="*/ 4465902 w 12192000"/>
              <a:gd name="connsiteY78" fmla="*/ 52387 h 1787292"/>
              <a:gd name="connsiteX79" fmla="*/ 4507177 w 12192000"/>
              <a:gd name="connsiteY79" fmla="*/ 36512 h 1787292"/>
              <a:gd name="connsiteX80" fmla="*/ 4553214 w 12192000"/>
              <a:gd name="connsiteY80" fmla="*/ 20637 h 1787292"/>
              <a:gd name="connsiteX81" fmla="*/ 4605602 w 12192000"/>
              <a:gd name="connsiteY81" fmla="*/ 9525 h 1787292"/>
              <a:gd name="connsiteX82" fmla="*/ 4665928 w 12192000"/>
              <a:gd name="connsiteY82" fmla="*/ 3175 h 1787292"/>
              <a:gd name="connsiteX83" fmla="*/ 4734189 w 12192000"/>
              <a:gd name="connsiteY83" fmla="*/ 0 h 1787292"/>
              <a:gd name="connsiteX84" fmla="*/ 4802453 w 12192000"/>
              <a:gd name="connsiteY84" fmla="*/ 3175 h 1787292"/>
              <a:gd name="connsiteX85" fmla="*/ 4862777 w 12192000"/>
              <a:gd name="connsiteY85" fmla="*/ 9525 h 1787292"/>
              <a:gd name="connsiteX86" fmla="*/ 4915165 w 12192000"/>
              <a:gd name="connsiteY86" fmla="*/ 20637 h 1787292"/>
              <a:gd name="connsiteX87" fmla="*/ 4961201 w 12192000"/>
              <a:gd name="connsiteY87" fmla="*/ 36512 h 1787292"/>
              <a:gd name="connsiteX88" fmla="*/ 5002476 w 12192000"/>
              <a:gd name="connsiteY88" fmla="*/ 52387 h 1787292"/>
              <a:gd name="connsiteX89" fmla="*/ 5038989 w 12192000"/>
              <a:gd name="connsiteY89" fmla="*/ 68262 h 1787292"/>
              <a:gd name="connsiteX90" fmla="*/ 5077089 w 12192000"/>
              <a:gd name="connsiteY90" fmla="*/ 87312 h 1787292"/>
              <a:gd name="connsiteX91" fmla="*/ 5115189 w 12192000"/>
              <a:gd name="connsiteY91" fmla="*/ 106362 h 1787292"/>
              <a:gd name="connsiteX92" fmla="*/ 5151701 w 12192000"/>
              <a:gd name="connsiteY92" fmla="*/ 125412 h 1787292"/>
              <a:gd name="connsiteX93" fmla="*/ 5192976 w 12192000"/>
              <a:gd name="connsiteY93" fmla="*/ 141287 h 1787292"/>
              <a:gd name="connsiteX94" fmla="*/ 5239014 w 12192000"/>
              <a:gd name="connsiteY94" fmla="*/ 155575 h 1787292"/>
              <a:gd name="connsiteX95" fmla="*/ 5291401 w 12192000"/>
              <a:gd name="connsiteY95" fmla="*/ 166687 h 1787292"/>
              <a:gd name="connsiteX96" fmla="*/ 5351727 w 12192000"/>
              <a:gd name="connsiteY96" fmla="*/ 174625 h 1787292"/>
              <a:gd name="connsiteX97" fmla="*/ 5410199 w 12192000"/>
              <a:gd name="connsiteY97" fmla="*/ 175985 h 1787292"/>
              <a:gd name="connsiteX98" fmla="*/ 5468671 w 12192000"/>
              <a:gd name="connsiteY98" fmla="*/ 174625 h 1787292"/>
              <a:gd name="connsiteX99" fmla="*/ 5528996 w 12192000"/>
              <a:gd name="connsiteY99" fmla="*/ 166687 h 1787292"/>
              <a:gd name="connsiteX100" fmla="*/ 5581383 w 12192000"/>
              <a:gd name="connsiteY100" fmla="*/ 155575 h 1787292"/>
              <a:gd name="connsiteX101" fmla="*/ 5627421 w 12192000"/>
              <a:gd name="connsiteY101" fmla="*/ 141287 h 1787292"/>
              <a:gd name="connsiteX102" fmla="*/ 5668696 w 12192000"/>
              <a:gd name="connsiteY102" fmla="*/ 125412 h 1787292"/>
              <a:gd name="connsiteX103" fmla="*/ 5705209 w 12192000"/>
              <a:gd name="connsiteY103" fmla="*/ 106362 h 1787292"/>
              <a:gd name="connsiteX104" fmla="*/ 5743308 w 12192000"/>
              <a:gd name="connsiteY104" fmla="*/ 87312 h 1787292"/>
              <a:gd name="connsiteX105" fmla="*/ 5781408 w 12192000"/>
              <a:gd name="connsiteY105" fmla="*/ 68262 h 1787292"/>
              <a:gd name="connsiteX106" fmla="*/ 5817921 w 12192000"/>
              <a:gd name="connsiteY106" fmla="*/ 52387 h 1787292"/>
              <a:gd name="connsiteX107" fmla="*/ 5859196 w 12192000"/>
              <a:gd name="connsiteY107" fmla="*/ 36512 h 1787292"/>
              <a:gd name="connsiteX108" fmla="*/ 5905234 w 12192000"/>
              <a:gd name="connsiteY108" fmla="*/ 20637 h 1787292"/>
              <a:gd name="connsiteX109" fmla="*/ 5957621 w 12192000"/>
              <a:gd name="connsiteY109" fmla="*/ 9525 h 1787292"/>
              <a:gd name="connsiteX110" fmla="*/ 6017947 w 12192000"/>
              <a:gd name="connsiteY110" fmla="*/ 3175 h 1787292"/>
              <a:gd name="connsiteX111" fmla="*/ 6086208 w 12192000"/>
              <a:gd name="connsiteY111" fmla="*/ 0 h 1787292"/>
              <a:gd name="connsiteX112" fmla="*/ 6095999 w 12192000"/>
              <a:gd name="connsiteY112" fmla="*/ 455 h 1787292"/>
              <a:gd name="connsiteX113" fmla="*/ 6105789 w 12192000"/>
              <a:gd name="connsiteY113" fmla="*/ 0 h 1787292"/>
              <a:gd name="connsiteX114" fmla="*/ 6174052 w 12192000"/>
              <a:gd name="connsiteY114" fmla="*/ 3175 h 1787292"/>
              <a:gd name="connsiteX115" fmla="*/ 6234377 w 12192000"/>
              <a:gd name="connsiteY115" fmla="*/ 9525 h 1787292"/>
              <a:gd name="connsiteX116" fmla="*/ 6286764 w 12192000"/>
              <a:gd name="connsiteY116" fmla="*/ 20637 h 1787292"/>
              <a:gd name="connsiteX117" fmla="*/ 6332802 w 12192000"/>
              <a:gd name="connsiteY117" fmla="*/ 36512 h 1787292"/>
              <a:gd name="connsiteX118" fmla="*/ 6374077 w 12192000"/>
              <a:gd name="connsiteY118" fmla="*/ 52387 h 1787292"/>
              <a:gd name="connsiteX119" fmla="*/ 6410589 w 12192000"/>
              <a:gd name="connsiteY119" fmla="*/ 68262 h 1787292"/>
              <a:gd name="connsiteX120" fmla="*/ 6448689 w 12192000"/>
              <a:gd name="connsiteY120" fmla="*/ 87312 h 1787292"/>
              <a:gd name="connsiteX121" fmla="*/ 6486789 w 12192000"/>
              <a:gd name="connsiteY121" fmla="*/ 106362 h 1787292"/>
              <a:gd name="connsiteX122" fmla="*/ 6523302 w 12192000"/>
              <a:gd name="connsiteY122" fmla="*/ 125412 h 1787292"/>
              <a:gd name="connsiteX123" fmla="*/ 6564577 w 12192000"/>
              <a:gd name="connsiteY123" fmla="*/ 141287 h 1787292"/>
              <a:gd name="connsiteX124" fmla="*/ 6610614 w 12192000"/>
              <a:gd name="connsiteY124" fmla="*/ 155575 h 1787292"/>
              <a:gd name="connsiteX125" fmla="*/ 6663002 w 12192000"/>
              <a:gd name="connsiteY125" fmla="*/ 166687 h 1787292"/>
              <a:gd name="connsiteX126" fmla="*/ 6723327 w 12192000"/>
              <a:gd name="connsiteY126" fmla="*/ 174625 h 1787292"/>
              <a:gd name="connsiteX127" fmla="*/ 6781799 w 12192000"/>
              <a:gd name="connsiteY127" fmla="*/ 175985 h 1787292"/>
              <a:gd name="connsiteX128" fmla="*/ 6840271 w 12192000"/>
              <a:gd name="connsiteY128" fmla="*/ 174625 h 1787292"/>
              <a:gd name="connsiteX129" fmla="*/ 6900596 w 12192000"/>
              <a:gd name="connsiteY129" fmla="*/ 166687 h 1787292"/>
              <a:gd name="connsiteX130" fmla="*/ 6952983 w 12192000"/>
              <a:gd name="connsiteY130" fmla="*/ 155575 h 1787292"/>
              <a:gd name="connsiteX131" fmla="*/ 6999021 w 12192000"/>
              <a:gd name="connsiteY131" fmla="*/ 141287 h 1787292"/>
              <a:gd name="connsiteX132" fmla="*/ 7040296 w 12192000"/>
              <a:gd name="connsiteY132" fmla="*/ 125412 h 1787292"/>
              <a:gd name="connsiteX133" fmla="*/ 7076808 w 12192000"/>
              <a:gd name="connsiteY133" fmla="*/ 106362 h 1787292"/>
              <a:gd name="connsiteX134" fmla="*/ 7114908 w 12192000"/>
              <a:gd name="connsiteY134" fmla="*/ 87312 h 1787292"/>
              <a:gd name="connsiteX135" fmla="*/ 7153008 w 12192000"/>
              <a:gd name="connsiteY135" fmla="*/ 68262 h 1787292"/>
              <a:gd name="connsiteX136" fmla="*/ 7189521 w 12192000"/>
              <a:gd name="connsiteY136" fmla="*/ 52387 h 1787292"/>
              <a:gd name="connsiteX137" fmla="*/ 7230796 w 12192000"/>
              <a:gd name="connsiteY137" fmla="*/ 36512 h 1787292"/>
              <a:gd name="connsiteX138" fmla="*/ 7276833 w 12192000"/>
              <a:gd name="connsiteY138" fmla="*/ 20637 h 1787292"/>
              <a:gd name="connsiteX139" fmla="*/ 7329221 w 12192000"/>
              <a:gd name="connsiteY139" fmla="*/ 9525 h 1787292"/>
              <a:gd name="connsiteX140" fmla="*/ 7389546 w 12192000"/>
              <a:gd name="connsiteY140" fmla="*/ 3175 h 1787292"/>
              <a:gd name="connsiteX141" fmla="*/ 7457808 w 12192000"/>
              <a:gd name="connsiteY141" fmla="*/ 0 h 1787292"/>
              <a:gd name="connsiteX142" fmla="*/ 7526071 w 12192000"/>
              <a:gd name="connsiteY142" fmla="*/ 3175 h 1787292"/>
              <a:gd name="connsiteX143" fmla="*/ 7586396 w 12192000"/>
              <a:gd name="connsiteY143" fmla="*/ 9525 h 1787292"/>
              <a:gd name="connsiteX144" fmla="*/ 7638783 w 12192000"/>
              <a:gd name="connsiteY144" fmla="*/ 20637 h 1787292"/>
              <a:gd name="connsiteX145" fmla="*/ 7684821 w 12192000"/>
              <a:gd name="connsiteY145" fmla="*/ 36512 h 1787292"/>
              <a:gd name="connsiteX146" fmla="*/ 7726096 w 12192000"/>
              <a:gd name="connsiteY146" fmla="*/ 52387 h 1787292"/>
              <a:gd name="connsiteX147" fmla="*/ 7762608 w 12192000"/>
              <a:gd name="connsiteY147" fmla="*/ 68262 h 1787292"/>
              <a:gd name="connsiteX148" fmla="*/ 7800708 w 12192000"/>
              <a:gd name="connsiteY148" fmla="*/ 87312 h 1787292"/>
              <a:gd name="connsiteX149" fmla="*/ 7838808 w 12192000"/>
              <a:gd name="connsiteY149" fmla="*/ 106362 h 1787292"/>
              <a:gd name="connsiteX150" fmla="*/ 7875321 w 12192000"/>
              <a:gd name="connsiteY150" fmla="*/ 125412 h 1787292"/>
              <a:gd name="connsiteX151" fmla="*/ 7916596 w 12192000"/>
              <a:gd name="connsiteY151" fmla="*/ 141287 h 1787292"/>
              <a:gd name="connsiteX152" fmla="*/ 7962633 w 12192000"/>
              <a:gd name="connsiteY152" fmla="*/ 155575 h 1787292"/>
              <a:gd name="connsiteX153" fmla="*/ 8015021 w 12192000"/>
              <a:gd name="connsiteY153" fmla="*/ 166687 h 1787292"/>
              <a:gd name="connsiteX154" fmla="*/ 8075346 w 12192000"/>
              <a:gd name="connsiteY154" fmla="*/ 174625 h 1787292"/>
              <a:gd name="connsiteX155" fmla="*/ 8143608 w 12192000"/>
              <a:gd name="connsiteY155" fmla="*/ 176212 h 1787292"/>
              <a:gd name="connsiteX156" fmla="*/ 8211871 w 12192000"/>
              <a:gd name="connsiteY156" fmla="*/ 174625 h 1787292"/>
              <a:gd name="connsiteX157" fmla="*/ 8272196 w 12192000"/>
              <a:gd name="connsiteY157" fmla="*/ 166687 h 1787292"/>
              <a:gd name="connsiteX158" fmla="*/ 8324583 w 12192000"/>
              <a:gd name="connsiteY158" fmla="*/ 155575 h 1787292"/>
              <a:gd name="connsiteX159" fmla="*/ 8370621 w 12192000"/>
              <a:gd name="connsiteY159" fmla="*/ 141287 h 1787292"/>
              <a:gd name="connsiteX160" fmla="*/ 8411896 w 12192000"/>
              <a:gd name="connsiteY160" fmla="*/ 125412 h 1787292"/>
              <a:gd name="connsiteX161" fmla="*/ 8448408 w 12192000"/>
              <a:gd name="connsiteY161" fmla="*/ 106362 h 1787292"/>
              <a:gd name="connsiteX162" fmla="*/ 8486508 w 12192000"/>
              <a:gd name="connsiteY162" fmla="*/ 87312 h 1787292"/>
              <a:gd name="connsiteX163" fmla="*/ 8524608 w 12192000"/>
              <a:gd name="connsiteY163" fmla="*/ 68262 h 1787292"/>
              <a:gd name="connsiteX164" fmla="*/ 8561120 w 12192000"/>
              <a:gd name="connsiteY164" fmla="*/ 52387 h 1787292"/>
              <a:gd name="connsiteX165" fmla="*/ 8602396 w 12192000"/>
              <a:gd name="connsiteY165" fmla="*/ 36512 h 1787292"/>
              <a:gd name="connsiteX166" fmla="*/ 8648432 w 12192000"/>
              <a:gd name="connsiteY166" fmla="*/ 20637 h 1787292"/>
              <a:gd name="connsiteX167" fmla="*/ 8700820 w 12192000"/>
              <a:gd name="connsiteY167" fmla="*/ 9525 h 1787292"/>
              <a:gd name="connsiteX168" fmla="*/ 8761146 w 12192000"/>
              <a:gd name="connsiteY168" fmla="*/ 3175 h 1787292"/>
              <a:gd name="connsiteX169" fmla="*/ 8827820 w 12192000"/>
              <a:gd name="connsiteY169" fmla="*/ 0 h 1787292"/>
              <a:gd name="connsiteX170" fmla="*/ 8897670 w 12192000"/>
              <a:gd name="connsiteY170" fmla="*/ 3175 h 1787292"/>
              <a:gd name="connsiteX171" fmla="*/ 8957996 w 12192000"/>
              <a:gd name="connsiteY171" fmla="*/ 9525 h 1787292"/>
              <a:gd name="connsiteX172" fmla="*/ 9010382 w 12192000"/>
              <a:gd name="connsiteY172" fmla="*/ 20637 h 1787292"/>
              <a:gd name="connsiteX173" fmla="*/ 9056420 w 12192000"/>
              <a:gd name="connsiteY173" fmla="*/ 36512 h 1787292"/>
              <a:gd name="connsiteX174" fmla="*/ 9097696 w 12192000"/>
              <a:gd name="connsiteY174" fmla="*/ 52387 h 1787292"/>
              <a:gd name="connsiteX175" fmla="*/ 9134208 w 12192000"/>
              <a:gd name="connsiteY175" fmla="*/ 68262 h 1787292"/>
              <a:gd name="connsiteX176" fmla="*/ 9172308 w 12192000"/>
              <a:gd name="connsiteY176" fmla="*/ 87312 h 1787292"/>
              <a:gd name="connsiteX177" fmla="*/ 9210408 w 12192000"/>
              <a:gd name="connsiteY177" fmla="*/ 106362 h 1787292"/>
              <a:gd name="connsiteX178" fmla="*/ 9246920 w 12192000"/>
              <a:gd name="connsiteY178" fmla="*/ 125412 h 1787292"/>
              <a:gd name="connsiteX179" fmla="*/ 9288196 w 12192000"/>
              <a:gd name="connsiteY179" fmla="*/ 141287 h 1787292"/>
              <a:gd name="connsiteX180" fmla="*/ 9334232 w 12192000"/>
              <a:gd name="connsiteY180" fmla="*/ 155575 h 1787292"/>
              <a:gd name="connsiteX181" fmla="*/ 9386620 w 12192000"/>
              <a:gd name="connsiteY181" fmla="*/ 166687 h 1787292"/>
              <a:gd name="connsiteX182" fmla="*/ 9446946 w 12192000"/>
              <a:gd name="connsiteY182" fmla="*/ 174625 h 1787292"/>
              <a:gd name="connsiteX183" fmla="*/ 9515208 w 12192000"/>
              <a:gd name="connsiteY183" fmla="*/ 176212 h 1787292"/>
              <a:gd name="connsiteX184" fmla="*/ 9583470 w 12192000"/>
              <a:gd name="connsiteY184" fmla="*/ 174625 h 1787292"/>
              <a:gd name="connsiteX185" fmla="*/ 9643796 w 12192000"/>
              <a:gd name="connsiteY185" fmla="*/ 166687 h 1787292"/>
              <a:gd name="connsiteX186" fmla="*/ 9696182 w 12192000"/>
              <a:gd name="connsiteY186" fmla="*/ 155575 h 1787292"/>
              <a:gd name="connsiteX187" fmla="*/ 9742220 w 12192000"/>
              <a:gd name="connsiteY187" fmla="*/ 141287 h 1787292"/>
              <a:gd name="connsiteX188" fmla="*/ 9783496 w 12192000"/>
              <a:gd name="connsiteY188" fmla="*/ 125412 h 1787292"/>
              <a:gd name="connsiteX189" fmla="*/ 9820008 w 12192000"/>
              <a:gd name="connsiteY189" fmla="*/ 106362 h 1787292"/>
              <a:gd name="connsiteX190" fmla="*/ 9896208 w 12192000"/>
              <a:gd name="connsiteY190" fmla="*/ 68262 h 1787292"/>
              <a:gd name="connsiteX191" fmla="*/ 9932720 w 12192000"/>
              <a:gd name="connsiteY191" fmla="*/ 52387 h 1787292"/>
              <a:gd name="connsiteX192" fmla="*/ 9973996 w 12192000"/>
              <a:gd name="connsiteY192" fmla="*/ 36512 h 1787292"/>
              <a:gd name="connsiteX193" fmla="*/ 10020032 w 12192000"/>
              <a:gd name="connsiteY193" fmla="*/ 20637 h 1787292"/>
              <a:gd name="connsiteX194" fmla="*/ 10072420 w 12192000"/>
              <a:gd name="connsiteY194" fmla="*/ 9525 h 1787292"/>
              <a:gd name="connsiteX195" fmla="*/ 10132746 w 12192000"/>
              <a:gd name="connsiteY195" fmla="*/ 3175 h 1787292"/>
              <a:gd name="connsiteX196" fmla="*/ 10201008 w 12192000"/>
              <a:gd name="connsiteY196" fmla="*/ 0 h 1787292"/>
              <a:gd name="connsiteX197" fmla="*/ 10269270 w 12192000"/>
              <a:gd name="connsiteY197" fmla="*/ 3175 h 1787292"/>
              <a:gd name="connsiteX198" fmla="*/ 10329596 w 12192000"/>
              <a:gd name="connsiteY198" fmla="*/ 9525 h 1787292"/>
              <a:gd name="connsiteX199" fmla="*/ 10381982 w 12192000"/>
              <a:gd name="connsiteY199" fmla="*/ 20637 h 1787292"/>
              <a:gd name="connsiteX200" fmla="*/ 10428020 w 12192000"/>
              <a:gd name="connsiteY200" fmla="*/ 36512 h 1787292"/>
              <a:gd name="connsiteX201" fmla="*/ 10469296 w 12192000"/>
              <a:gd name="connsiteY201" fmla="*/ 52387 h 1787292"/>
              <a:gd name="connsiteX202" fmla="*/ 10505808 w 12192000"/>
              <a:gd name="connsiteY202" fmla="*/ 68262 h 1787292"/>
              <a:gd name="connsiteX203" fmla="*/ 10543908 w 12192000"/>
              <a:gd name="connsiteY203" fmla="*/ 87312 h 1787292"/>
              <a:gd name="connsiteX204" fmla="*/ 10582008 w 12192000"/>
              <a:gd name="connsiteY204" fmla="*/ 106362 h 1787292"/>
              <a:gd name="connsiteX205" fmla="*/ 10618520 w 12192000"/>
              <a:gd name="connsiteY205" fmla="*/ 125412 h 1787292"/>
              <a:gd name="connsiteX206" fmla="*/ 10659796 w 12192000"/>
              <a:gd name="connsiteY206" fmla="*/ 141287 h 1787292"/>
              <a:gd name="connsiteX207" fmla="*/ 10705832 w 12192000"/>
              <a:gd name="connsiteY207" fmla="*/ 155575 h 1787292"/>
              <a:gd name="connsiteX208" fmla="*/ 10758220 w 12192000"/>
              <a:gd name="connsiteY208" fmla="*/ 166687 h 1787292"/>
              <a:gd name="connsiteX209" fmla="*/ 10818546 w 12192000"/>
              <a:gd name="connsiteY209" fmla="*/ 174625 h 1787292"/>
              <a:gd name="connsiteX210" fmla="*/ 10886808 w 12192000"/>
              <a:gd name="connsiteY210" fmla="*/ 176212 h 1787292"/>
              <a:gd name="connsiteX211" fmla="*/ 10955070 w 12192000"/>
              <a:gd name="connsiteY211" fmla="*/ 174625 h 1787292"/>
              <a:gd name="connsiteX212" fmla="*/ 11015396 w 12192000"/>
              <a:gd name="connsiteY212" fmla="*/ 166687 h 1787292"/>
              <a:gd name="connsiteX213" fmla="*/ 11067782 w 12192000"/>
              <a:gd name="connsiteY213" fmla="*/ 155575 h 1787292"/>
              <a:gd name="connsiteX214" fmla="*/ 11113820 w 12192000"/>
              <a:gd name="connsiteY214" fmla="*/ 141287 h 1787292"/>
              <a:gd name="connsiteX215" fmla="*/ 11155096 w 12192000"/>
              <a:gd name="connsiteY215" fmla="*/ 125412 h 1787292"/>
              <a:gd name="connsiteX216" fmla="*/ 11191608 w 12192000"/>
              <a:gd name="connsiteY216" fmla="*/ 106362 h 1787292"/>
              <a:gd name="connsiteX217" fmla="*/ 11229708 w 12192000"/>
              <a:gd name="connsiteY217" fmla="*/ 87312 h 1787292"/>
              <a:gd name="connsiteX218" fmla="*/ 11267808 w 12192000"/>
              <a:gd name="connsiteY218" fmla="*/ 68262 h 1787292"/>
              <a:gd name="connsiteX219" fmla="*/ 11304320 w 12192000"/>
              <a:gd name="connsiteY219" fmla="*/ 52387 h 1787292"/>
              <a:gd name="connsiteX220" fmla="*/ 11345596 w 12192000"/>
              <a:gd name="connsiteY220" fmla="*/ 36512 h 1787292"/>
              <a:gd name="connsiteX221" fmla="*/ 11391632 w 12192000"/>
              <a:gd name="connsiteY221" fmla="*/ 20637 h 1787292"/>
              <a:gd name="connsiteX222" fmla="*/ 11444020 w 12192000"/>
              <a:gd name="connsiteY222" fmla="*/ 9525 h 1787292"/>
              <a:gd name="connsiteX223" fmla="*/ 11504346 w 12192000"/>
              <a:gd name="connsiteY223" fmla="*/ 3175 h 1787292"/>
              <a:gd name="connsiteX224" fmla="*/ 11572608 w 12192000"/>
              <a:gd name="connsiteY224" fmla="*/ 0 h 1787292"/>
              <a:gd name="connsiteX225" fmla="*/ 11640870 w 12192000"/>
              <a:gd name="connsiteY225" fmla="*/ 3175 h 1787292"/>
              <a:gd name="connsiteX226" fmla="*/ 11701196 w 12192000"/>
              <a:gd name="connsiteY226" fmla="*/ 9525 h 1787292"/>
              <a:gd name="connsiteX227" fmla="*/ 11753582 w 12192000"/>
              <a:gd name="connsiteY227" fmla="*/ 20637 h 1787292"/>
              <a:gd name="connsiteX228" fmla="*/ 11799620 w 12192000"/>
              <a:gd name="connsiteY228" fmla="*/ 36512 h 1787292"/>
              <a:gd name="connsiteX229" fmla="*/ 11840896 w 12192000"/>
              <a:gd name="connsiteY229" fmla="*/ 52387 h 1787292"/>
              <a:gd name="connsiteX230" fmla="*/ 11877408 w 12192000"/>
              <a:gd name="connsiteY230" fmla="*/ 68262 h 1787292"/>
              <a:gd name="connsiteX231" fmla="*/ 11915508 w 12192000"/>
              <a:gd name="connsiteY231" fmla="*/ 87312 h 1787292"/>
              <a:gd name="connsiteX232" fmla="*/ 11953608 w 12192000"/>
              <a:gd name="connsiteY232" fmla="*/ 106362 h 1787292"/>
              <a:gd name="connsiteX233" fmla="*/ 11990120 w 12192000"/>
              <a:gd name="connsiteY233" fmla="*/ 125412 h 1787292"/>
              <a:gd name="connsiteX234" fmla="*/ 12031396 w 12192000"/>
              <a:gd name="connsiteY234" fmla="*/ 141287 h 1787292"/>
              <a:gd name="connsiteX235" fmla="*/ 12077432 w 12192000"/>
              <a:gd name="connsiteY235" fmla="*/ 155575 h 1787292"/>
              <a:gd name="connsiteX236" fmla="*/ 12129820 w 12192000"/>
              <a:gd name="connsiteY236" fmla="*/ 166688 h 1787292"/>
              <a:gd name="connsiteX237" fmla="*/ 12190146 w 12192000"/>
              <a:gd name="connsiteY237" fmla="*/ 174625 h 1787292"/>
              <a:gd name="connsiteX238" fmla="*/ 12192000 w 12192000"/>
              <a:gd name="connsiteY238" fmla="*/ 174668 h 1787292"/>
              <a:gd name="connsiteX239" fmla="*/ 12192000 w 12192000"/>
              <a:gd name="connsiteY239" fmla="*/ 885826 h 1787292"/>
              <a:gd name="connsiteX240" fmla="*/ 12192000 w 12192000"/>
              <a:gd name="connsiteY240" fmla="*/ 1787292 h 1787292"/>
              <a:gd name="connsiteX241" fmla="*/ 0 w 12192000"/>
              <a:gd name="connsiteY241" fmla="*/ 1787292 h 1787292"/>
              <a:gd name="connsiteX242" fmla="*/ 0 w 12192000"/>
              <a:gd name="connsiteY242" fmla="*/ 885826 h 1787292"/>
              <a:gd name="connsiteX243" fmla="*/ 0 w 12192000"/>
              <a:gd name="connsiteY243" fmla="*/ 174668 h 1787292"/>
              <a:gd name="connsiteX244" fmla="*/ 1852 w 12192000"/>
              <a:gd name="connsiteY244" fmla="*/ 174625 h 1787292"/>
              <a:gd name="connsiteX245" fmla="*/ 62177 w 12192000"/>
              <a:gd name="connsiteY245" fmla="*/ 166687 h 1787292"/>
              <a:gd name="connsiteX246" fmla="*/ 114564 w 12192000"/>
              <a:gd name="connsiteY246" fmla="*/ 155575 h 1787292"/>
              <a:gd name="connsiteX247" fmla="*/ 160602 w 12192000"/>
              <a:gd name="connsiteY247" fmla="*/ 141287 h 1787292"/>
              <a:gd name="connsiteX248" fmla="*/ 201877 w 12192000"/>
              <a:gd name="connsiteY248" fmla="*/ 125412 h 1787292"/>
              <a:gd name="connsiteX249" fmla="*/ 238389 w 12192000"/>
              <a:gd name="connsiteY249" fmla="*/ 106362 h 1787292"/>
              <a:gd name="connsiteX250" fmla="*/ 276489 w 12192000"/>
              <a:gd name="connsiteY250" fmla="*/ 87312 h 1787292"/>
              <a:gd name="connsiteX251" fmla="*/ 314589 w 12192000"/>
              <a:gd name="connsiteY251" fmla="*/ 68262 h 1787292"/>
              <a:gd name="connsiteX252" fmla="*/ 351102 w 12192000"/>
              <a:gd name="connsiteY252" fmla="*/ 52387 h 1787292"/>
              <a:gd name="connsiteX253" fmla="*/ 392377 w 12192000"/>
              <a:gd name="connsiteY253" fmla="*/ 36512 h 1787292"/>
              <a:gd name="connsiteX254" fmla="*/ 438414 w 12192000"/>
              <a:gd name="connsiteY254" fmla="*/ 20637 h 1787292"/>
              <a:gd name="connsiteX255" fmla="*/ 490802 w 12192000"/>
              <a:gd name="connsiteY255" fmla="*/ 9525 h 1787292"/>
              <a:gd name="connsiteX256" fmla="*/ 551127 w 12192000"/>
              <a:gd name="connsiteY256" fmla="*/ 3175 h 178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2192000" h="1787292">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4" y="20637"/>
                </a:lnTo>
                <a:lnTo>
                  <a:pt x="4605602" y="9525"/>
                </a:lnTo>
                <a:lnTo>
                  <a:pt x="4665928" y="3175"/>
                </a:lnTo>
                <a:lnTo>
                  <a:pt x="4734189" y="0"/>
                </a:lnTo>
                <a:lnTo>
                  <a:pt x="4802453" y="3175"/>
                </a:lnTo>
                <a:lnTo>
                  <a:pt x="4862777" y="9525"/>
                </a:lnTo>
                <a:lnTo>
                  <a:pt x="4915165" y="20637"/>
                </a:lnTo>
                <a:lnTo>
                  <a:pt x="4961201" y="36512"/>
                </a:lnTo>
                <a:lnTo>
                  <a:pt x="5002476" y="52387"/>
                </a:lnTo>
                <a:lnTo>
                  <a:pt x="5038989" y="68262"/>
                </a:lnTo>
                <a:lnTo>
                  <a:pt x="5077089" y="87312"/>
                </a:lnTo>
                <a:lnTo>
                  <a:pt x="5115189" y="106362"/>
                </a:lnTo>
                <a:lnTo>
                  <a:pt x="5151701" y="125412"/>
                </a:lnTo>
                <a:lnTo>
                  <a:pt x="5192976"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09" y="106362"/>
                </a:lnTo>
                <a:lnTo>
                  <a:pt x="5743308" y="87312"/>
                </a:lnTo>
                <a:lnTo>
                  <a:pt x="5781408" y="68262"/>
                </a:lnTo>
                <a:lnTo>
                  <a:pt x="5817921" y="52387"/>
                </a:lnTo>
                <a:lnTo>
                  <a:pt x="5859196" y="36512"/>
                </a:lnTo>
                <a:lnTo>
                  <a:pt x="5905234" y="20637"/>
                </a:lnTo>
                <a:lnTo>
                  <a:pt x="5957621" y="9525"/>
                </a:lnTo>
                <a:lnTo>
                  <a:pt x="6017947" y="3175"/>
                </a:lnTo>
                <a:lnTo>
                  <a:pt x="6086208"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2000" y="174668"/>
                </a:lnTo>
                <a:lnTo>
                  <a:pt x="12192000" y="885826"/>
                </a:lnTo>
                <a:lnTo>
                  <a:pt x="12192000" y="1787292"/>
                </a:lnTo>
                <a:lnTo>
                  <a:pt x="0" y="1787292"/>
                </a:lnTo>
                <a:lnTo>
                  <a:pt x="0" y="885826"/>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副标题 2">
            <a:extLst>
              <a:ext uri="{FF2B5EF4-FFF2-40B4-BE49-F238E27FC236}">
                <a16:creationId xmlns:a16="http://schemas.microsoft.com/office/drawing/2014/main" id="{561C53DC-B02C-0486-F814-599C482B8FB6}"/>
              </a:ext>
            </a:extLst>
          </p:cNvPr>
          <p:cNvSpPr>
            <a:spLocks noGrp="1"/>
          </p:cNvSpPr>
          <p:nvPr>
            <p:ph type="subTitle" idx="1"/>
          </p:nvPr>
        </p:nvSpPr>
        <p:spPr>
          <a:xfrm>
            <a:off x="2073314" y="5493376"/>
            <a:ext cx="8045373" cy="742279"/>
          </a:xfrm>
        </p:spPr>
        <p:txBody>
          <a:bodyPr anchor="ctr">
            <a:normAutofit/>
          </a:bodyPr>
          <a:lstStyle/>
          <a:p>
            <a:r>
              <a:rPr lang="en-US" altLang="zh-CN" sz="1800">
                <a:solidFill>
                  <a:srgbClr val="2A1A00"/>
                </a:solidFill>
              </a:rPr>
              <a:t>Chang LIu</a:t>
            </a:r>
            <a:endParaRPr lang="zh-CN" altLang="en-US" sz="1800">
              <a:solidFill>
                <a:srgbClr val="2A1A00"/>
              </a:solidFill>
            </a:endParaRPr>
          </a:p>
        </p:txBody>
      </p:sp>
    </p:spTree>
    <p:extLst>
      <p:ext uri="{BB962C8B-B14F-4D97-AF65-F5344CB8AC3E}">
        <p14:creationId xmlns:p14="http://schemas.microsoft.com/office/powerpoint/2010/main" val="2329651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C8535-431B-BEB2-6959-5CEBABAC58FB}"/>
              </a:ext>
            </a:extLst>
          </p:cNvPr>
          <p:cNvSpPr>
            <a:spLocks noGrp="1"/>
          </p:cNvSpPr>
          <p:nvPr>
            <p:ph type="title"/>
          </p:nvPr>
        </p:nvSpPr>
        <p:spPr/>
        <p:txBody>
          <a:bodyPr/>
          <a:lstStyle/>
          <a:p>
            <a:r>
              <a:rPr lang="en-US" altLang="zh-CN" dirty="0"/>
              <a:t>Main change</a:t>
            </a:r>
            <a:endParaRPr lang="zh-CN" altLang="en-US" dirty="0"/>
          </a:p>
        </p:txBody>
      </p:sp>
      <p:sp>
        <p:nvSpPr>
          <p:cNvPr id="3" name="内容占位符 2">
            <a:extLst>
              <a:ext uri="{FF2B5EF4-FFF2-40B4-BE49-F238E27FC236}">
                <a16:creationId xmlns:a16="http://schemas.microsoft.com/office/drawing/2014/main" id="{D8BBFBAD-55DD-39E0-AC70-A264E0D17AC0}"/>
              </a:ext>
            </a:extLst>
          </p:cNvPr>
          <p:cNvSpPr>
            <a:spLocks noGrp="1"/>
          </p:cNvSpPr>
          <p:nvPr>
            <p:ph idx="1"/>
          </p:nvPr>
        </p:nvSpPr>
        <p:spPr>
          <a:xfrm>
            <a:off x="1200878" y="1943101"/>
            <a:ext cx="10178322" cy="4343399"/>
          </a:xfrm>
        </p:spPr>
        <p:txBody>
          <a:bodyPr>
            <a:normAutofit/>
          </a:bodyPr>
          <a:lstStyle/>
          <a:p>
            <a:r>
              <a:rPr lang="en-US" altLang="zh-CN" dirty="0"/>
              <a:t>Optimizing Data Preprocessing</a:t>
            </a:r>
          </a:p>
          <a:p>
            <a:pPr lvl="1"/>
            <a:r>
              <a:rPr lang="en-US" altLang="zh-CN" dirty="0"/>
              <a:t>New coastline source date update</a:t>
            </a:r>
          </a:p>
          <a:p>
            <a:pPr lvl="1"/>
            <a:r>
              <a:rPr lang="en-NZ" altLang="zh-CN" dirty="0"/>
              <a:t>Centring </a:t>
            </a:r>
            <a:r>
              <a:rPr lang="zh-CN" altLang="en-US" dirty="0"/>
              <a:t>→ </a:t>
            </a:r>
            <a:r>
              <a:rPr lang="en-US" altLang="zh-CN" dirty="0"/>
              <a:t>detrend </a:t>
            </a:r>
            <a:r>
              <a:rPr lang="zh-CN" altLang="en-US" dirty="0"/>
              <a:t>→ </a:t>
            </a:r>
            <a:r>
              <a:rPr lang="en-US" altLang="zh-CN" dirty="0"/>
              <a:t>average transects value </a:t>
            </a:r>
            <a:r>
              <a:rPr lang="zh-CN" altLang="en-US" dirty="0"/>
              <a:t>→ </a:t>
            </a:r>
            <a:r>
              <a:rPr lang="en-US" altLang="zh-CN" dirty="0"/>
              <a:t>Calculate mean for each coastline by month (</a:t>
            </a:r>
            <a:r>
              <a:rPr lang="en-NZ" altLang="zh-CN" dirty="0"/>
              <a:t>remove monthly climatology) </a:t>
            </a:r>
            <a:r>
              <a:rPr lang="zh-CN" altLang="en-US" dirty="0"/>
              <a:t>→ </a:t>
            </a:r>
            <a:r>
              <a:rPr lang="en-US" altLang="zh-CN" dirty="0"/>
              <a:t>Merge with SOI</a:t>
            </a:r>
          </a:p>
          <a:p>
            <a:pPr lvl="1"/>
            <a:r>
              <a:rPr lang="en-US" altLang="zh-CN" dirty="0"/>
              <a:t>Better cross-correlation results, Choosing the lag time</a:t>
            </a:r>
            <a:endParaRPr lang="en-NZ" altLang="zh-CN" dirty="0"/>
          </a:p>
          <a:p>
            <a:r>
              <a:rPr lang="en-US" altLang="zh-CN" dirty="0"/>
              <a:t>Wavelet analysis / K-means</a:t>
            </a:r>
          </a:p>
          <a:p>
            <a:pPr lvl="1"/>
            <a:r>
              <a:rPr lang="en-US" altLang="zh-CN" dirty="0"/>
              <a:t>Random linear noise interpolation</a:t>
            </a:r>
          </a:p>
          <a:p>
            <a:pPr lvl="1"/>
            <a:r>
              <a:rPr lang="en-US" altLang="zh-CN" dirty="0"/>
              <a:t>Z-score</a:t>
            </a:r>
          </a:p>
          <a:p>
            <a:r>
              <a:rPr lang="en-US" altLang="zh-CN" dirty="0"/>
              <a:t>Add new climate index</a:t>
            </a:r>
          </a:p>
          <a:p>
            <a:pPr lvl="1"/>
            <a:r>
              <a:rPr lang="en-NZ" altLang="zh-CN" dirty="0"/>
              <a:t>Pacific Decadal Oscillation(</a:t>
            </a:r>
            <a:r>
              <a:rPr lang="en-US" altLang="zh-CN" dirty="0" err="1"/>
              <a:t>PDO</a:t>
            </a:r>
            <a:r>
              <a:rPr lang="en-US" altLang="zh-CN" dirty="0"/>
              <a:t>), </a:t>
            </a:r>
            <a:r>
              <a:rPr lang="en-NZ" altLang="zh-CN" dirty="0"/>
              <a:t>Indian Ocean Dipole(</a:t>
            </a:r>
            <a:r>
              <a:rPr lang="en-US" altLang="zh-CN" dirty="0"/>
              <a:t>IOD)/ </a:t>
            </a:r>
            <a:r>
              <a:rPr lang="en-NZ" altLang="zh-CN" dirty="0"/>
              <a:t>Dipole Mode Index </a:t>
            </a:r>
            <a:r>
              <a:rPr lang="en-US" altLang="zh-CN" dirty="0"/>
              <a:t>(</a:t>
            </a:r>
            <a:r>
              <a:rPr lang="en-US" altLang="zh-CN" dirty="0" err="1"/>
              <a:t>DMI</a:t>
            </a:r>
            <a:r>
              <a:rPr lang="en-US" altLang="zh-CN" dirty="0"/>
              <a:t>), </a:t>
            </a:r>
            <a:r>
              <a:rPr lang="en-NZ" altLang="zh-CN" dirty="0"/>
              <a:t>Southern Annular Mode (</a:t>
            </a:r>
            <a:r>
              <a:rPr lang="en-US" altLang="zh-CN" dirty="0"/>
              <a:t>SAM), </a:t>
            </a:r>
            <a:r>
              <a:rPr lang="en-US" altLang="zh-CN" dirty="0" err="1"/>
              <a:t>ZW3</a:t>
            </a:r>
            <a:r>
              <a:rPr lang="en-US" altLang="zh-CN" dirty="0"/>
              <a:t>(</a:t>
            </a:r>
            <a:r>
              <a:rPr lang="en-NZ" altLang="zh-CN" dirty="0"/>
              <a:t>Zonal Wave 3</a:t>
            </a:r>
            <a:r>
              <a:rPr lang="en-US" altLang="zh-CN" dirty="0"/>
              <a:t>)</a:t>
            </a:r>
          </a:p>
          <a:p>
            <a:pPr lvl="1"/>
            <a:endParaRPr lang="en-US" altLang="zh-CN" dirty="0"/>
          </a:p>
        </p:txBody>
      </p:sp>
    </p:spTree>
    <p:extLst>
      <p:ext uri="{BB962C8B-B14F-4D97-AF65-F5344CB8AC3E}">
        <p14:creationId xmlns:p14="http://schemas.microsoft.com/office/powerpoint/2010/main" val="2482175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8AD482-27A4-454E-8A3A-84F73CBDA7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2422E2-F15A-43AE-98F1-7210710B0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792E7B08-A282-FF89-3FDD-34AB7C6D0395}"/>
              </a:ext>
            </a:extLst>
          </p:cNvPr>
          <p:cNvSpPr>
            <a:spLocks noGrp="1"/>
          </p:cNvSpPr>
          <p:nvPr>
            <p:ph type="title"/>
          </p:nvPr>
        </p:nvSpPr>
        <p:spPr>
          <a:xfrm>
            <a:off x="1114425" y="266700"/>
            <a:ext cx="2657475" cy="2590800"/>
          </a:xfrm>
        </p:spPr>
        <p:txBody>
          <a:bodyPr anchor="ctr">
            <a:normAutofit/>
          </a:bodyPr>
          <a:lstStyle/>
          <a:p>
            <a:r>
              <a:rPr lang="en-US" altLang="zh-CN" sz="3600" dirty="0"/>
              <a:t>Optimizing Data Preprocessing</a:t>
            </a:r>
            <a:br>
              <a:rPr lang="en-US" altLang="zh-CN" sz="3600" dirty="0"/>
            </a:br>
            <a:endParaRPr lang="zh-CN" altLang="en-US" sz="3600" dirty="0"/>
          </a:p>
        </p:txBody>
      </p:sp>
      <p:sp>
        <p:nvSpPr>
          <p:cNvPr id="12" name="Freeform 6">
            <a:extLst>
              <a:ext uri="{FF2B5EF4-FFF2-40B4-BE49-F238E27FC236}">
                <a16:creationId xmlns:a16="http://schemas.microsoft.com/office/drawing/2014/main" id="{BDC8164B-5FC0-4CBD-B7AE-0CB8780FF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endParaRPr lang="zh-CN" altLang="en-US"/>
          </a:p>
        </p:txBody>
      </p:sp>
      <p:graphicFrame>
        <p:nvGraphicFramePr>
          <p:cNvPr id="5" name="内容占位符 4">
            <a:extLst>
              <a:ext uri="{FF2B5EF4-FFF2-40B4-BE49-F238E27FC236}">
                <a16:creationId xmlns:a16="http://schemas.microsoft.com/office/drawing/2014/main" id="{E2A648A4-F3EA-1FFB-A968-E87D1FDA0072}"/>
              </a:ext>
            </a:extLst>
          </p:cNvPr>
          <p:cNvGraphicFramePr>
            <a:graphicFrameLocks noGrp="1"/>
          </p:cNvGraphicFramePr>
          <p:nvPr>
            <p:ph idx="1"/>
            <p:extLst>
              <p:ext uri="{D42A27DB-BD31-4B8C-83A1-F6EECF244321}">
                <p14:modId xmlns:p14="http://schemas.microsoft.com/office/powerpoint/2010/main" val="2312930652"/>
              </p:ext>
            </p:extLst>
          </p:nvPr>
        </p:nvGraphicFramePr>
        <p:xfrm>
          <a:off x="5111750" y="133350"/>
          <a:ext cx="1250950" cy="65912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50F6FD2F-2313-0DF9-84DF-887F20C7D6E2}"/>
              </a:ext>
            </a:extLst>
          </p:cNvPr>
          <p:cNvSpPr txBox="1"/>
          <p:nvPr/>
        </p:nvSpPr>
        <p:spPr>
          <a:xfrm>
            <a:off x="1134160" y="2413336"/>
            <a:ext cx="3076575" cy="1754326"/>
          </a:xfrm>
          <a:prstGeom prst="rect">
            <a:avLst/>
          </a:prstGeom>
          <a:noFill/>
        </p:spPr>
        <p:txBody>
          <a:bodyPr wrap="square" rtlCol="0">
            <a:spAutoFit/>
          </a:bodyPr>
          <a:lstStyle/>
          <a:p>
            <a:r>
              <a:rPr lang="en-US" altLang="zh-CN" dirty="0"/>
              <a:t>Coastline change data: </a:t>
            </a:r>
          </a:p>
          <a:p>
            <a:endParaRPr lang="en-US" altLang="zh-CN" dirty="0"/>
          </a:p>
          <a:p>
            <a:r>
              <a:rPr lang="en-US" altLang="zh-CN" dirty="0"/>
              <a:t>Transect time series tidally corrected smoothed</a:t>
            </a:r>
          </a:p>
          <a:p>
            <a:endParaRPr lang="en-US" altLang="zh-CN" dirty="0"/>
          </a:p>
          <a:p>
            <a:r>
              <a:rPr lang="en-US" altLang="zh-CN" dirty="0"/>
              <a:t>For example:  </a:t>
            </a:r>
            <a:r>
              <a:rPr lang="en-US" altLang="zh-CN" dirty="0" err="1"/>
              <a:t>nzd0002</a:t>
            </a:r>
            <a:endParaRPr lang="zh-CN" altLang="en-US" dirty="0"/>
          </a:p>
        </p:txBody>
      </p:sp>
      <p:pic>
        <p:nvPicPr>
          <p:cNvPr id="11" name="图片 10" descr="图表&#10;&#10;AI 生成的内容可能不正确。">
            <a:extLst>
              <a:ext uri="{FF2B5EF4-FFF2-40B4-BE49-F238E27FC236}">
                <a16:creationId xmlns:a16="http://schemas.microsoft.com/office/drawing/2014/main" id="{146E56A9-F8A9-CF46-E722-B0433B1349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57701" y="92185"/>
            <a:ext cx="3558203" cy="2212866"/>
          </a:xfrm>
          <a:prstGeom prst="rect">
            <a:avLst/>
          </a:prstGeom>
        </p:spPr>
      </p:pic>
      <p:pic>
        <p:nvPicPr>
          <p:cNvPr id="14" name="图片 13" descr="图表&#10;&#10;AI 生成的内容可能不正确。">
            <a:extLst>
              <a:ext uri="{FF2B5EF4-FFF2-40B4-BE49-F238E27FC236}">
                <a16:creationId xmlns:a16="http://schemas.microsoft.com/office/drawing/2014/main" id="{62F0DA51-D10F-D2DD-7C13-EB0EB9DCEE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57701" y="2514020"/>
            <a:ext cx="3558203" cy="2013480"/>
          </a:xfrm>
          <a:prstGeom prst="rect">
            <a:avLst/>
          </a:prstGeom>
        </p:spPr>
      </p:pic>
      <p:pic>
        <p:nvPicPr>
          <p:cNvPr id="16" name="图片 15" descr="图表&#10;&#10;AI 生成的内容可能不正确。">
            <a:extLst>
              <a:ext uri="{FF2B5EF4-FFF2-40B4-BE49-F238E27FC236}">
                <a16:creationId xmlns:a16="http://schemas.microsoft.com/office/drawing/2014/main" id="{53B90CC1-7A94-F94C-FE92-B47F30A73F1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44023" y="4731882"/>
            <a:ext cx="3571882" cy="2021222"/>
          </a:xfrm>
          <a:prstGeom prst="rect">
            <a:avLst/>
          </a:prstGeom>
        </p:spPr>
      </p:pic>
      <p:sp>
        <p:nvSpPr>
          <p:cNvPr id="17" name="文本框 16">
            <a:extLst>
              <a:ext uri="{FF2B5EF4-FFF2-40B4-BE49-F238E27FC236}">
                <a16:creationId xmlns:a16="http://schemas.microsoft.com/office/drawing/2014/main" id="{C6BB108A-49BC-017A-A00F-EF9D71356808}"/>
              </a:ext>
            </a:extLst>
          </p:cNvPr>
          <p:cNvSpPr txBox="1"/>
          <p:nvPr/>
        </p:nvSpPr>
        <p:spPr>
          <a:xfrm>
            <a:off x="10456093" y="1809098"/>
            <a:ext cx="1695718" cy="1208476"/>
          </a:xfrm>
          <a:prstGeom prst="rect">
            <a:avLst/>
          </a:prstGeom>
          <a:noFill/>
        </p:spPr>
        <p:txBody>
          <a:bodyPr wrap="square" rtlCol="0">
            <a:spAutoFit/>
          </a:bodyPr>
          <a:lstStyle/>
          <a:p>
            <a:r>
              <a:rPr lang="en-US" altLang="zh-CN" dirty="0"/>
              <a:t>Subtract the long-term over full period (2000-2025)</a:t>
            </a:r>
            <a:endParaRPr lang="zh-CN" altLang="en-US" dirty="0"/>
          </a:p>
        </p:txBody>
      </p:sp>
      <p:sp>
        <p:nvSpPr>
          <p:cNvPr id="18" name="文本框 17">
            <a:extLst>
              <a:ext uri="{FF2B5EF4-FFF2-40B4-BE49-F238E27FC236}">
                <a16:creationId xmlns:a16="http://schemas.microsoft.com/office/drawing/2014/main" id="{1900454E-840C-C2CE-2695-E0B304B6D319}"/>
              </a:ext>
            </a:extLst>
          </p:cNvPr>
          <p:cNvSpPr txBox="1"/>
          <p:nvPr/>
        </p:nvSpPr>
        <p:spPr>
          <a:xfrm>
            <a:off x="10496282" y="4304526"/>
            <a:ext cx="1695718" cy="646331"/>
          </a:xfrm>
          <a:prstGeom prst="rect">
            <a:avLst/>
          </a:prstGeom>
          <a:noFill/>
        </p:spPr>
        <p:txBody>
          <a:bodyPr wrap="square" rtlCol="0">
            <a:spAutoFit/>
          </a:bodyPr>
          <a:lstStyle/>
          <a:p>
            <a:r>
              <a:rPr lang="en-US" altLang="zh-CN" dirty="0"/>
              <a:t>Subtract the trend by year</a:t>
            </a:r>
            <a:endParaRPr lang="zh-CN" altLang="en-US" dirty="0"/>
          </a:p>
        </p:txBody>
      </p:sp>
    </p:spTree>
    <p:extLst>
      <p:ext uri="{BB962C8B-B14F-4D97-AF65-F5344CB8AC3E}">
        <p14:creationId xmlns:p14="http://schemas.microsoft.com/office/powerpoint/2010/main" val="4217607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1461EA9-D0BE-90B6-F528-48FCB4122E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E0B5CC1-B330-5F1B-E72C-F67F28821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747915B1-5A3C-72FA-CCCC-D92FD3BF5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8A00A7EB-8326-E065-47FA-D9DAED67A994}"/>
              </a:ext>
            </a:extLst>
          </p:cNvPr>
          <p:cNvSpPr>
            <a:spLocks noGrp="1"/>
          </p:cNvSpPr>
          <p:nvPr>
            <p:ph type="title"/>
          </p:nvPr>
        </p:nvSpPr>
        <p:spPr>
          <a:xfrm>
            <a:off x="1114425" y="266700"/>
            <a:ext cx="2657475" cy="2590800"/>
          </a:xfrm>
        </p:spPr>
        <p:txBody>
          <a:bodyPr anchor="ctr">
            <a:normAutofit/>
          </a:bodyPr>
          <a:lstStyle/>
          <a:p>
            <a:r>
              <a:rPr lang="en-US" altLang="zh-CN" sz="3600" dirty="0"/>
              <a:t>Optimizing Data Preprocessing</a:t>
            </a:r>
            <a:br>
              <a:rPr lang="en-US" altLang="zh-CN" sz="3600" dirty="0"/>
            </a:br>
            <a:endParaRPr lang="zh-CN" altLang="en-US" sz="3600" dirty="0"/>
          </a:p>
        </p:txBody>
      </p:sp>
      <p:sp>
        <p:nvSpPr>
          <p:cNvPr id="12" name="Freeform 6">
            <a:extLst>
              <a:ext uri="{FF2B5EF4-FFF2-40B4-BE49-F238E27FC236}">
                <a16:creationId xmlns:a16="http://schemas.microsoft.com/office/drawing/2014/main" id="{1DE88110-DA4C-06FE-2440-71F0A2FF4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DF2D4EA1-9079-B9D3-0B59-A53D52B07F04}"/>
              </a:ext>
            </a:extLst>
          </p:cNvPr>
          <p:cNvGraphicFramePr>
            <a:graphicFrameLocks noGrp="1"/>
          </p:cNvGraphicFramePr>
          <p:nvPr>
            <p:ph idx="1"/>
            <p:extLst>
              <p:ext uri="{D42A27DB-BD31-4B8C-83A1-F6EECF244321}">
                <p14:modId xmlns:p14="http://schemas.microsoft.com/office/powerpoint/2010/main" val="881900083"/>
              </p:ext>
            </p:extLst>
          </p:nvPr>
        </p:nvGraphicFramePr>
        <p:xfrm>
          <a:off x="5111750" y="740535"/>
          <a:ext cx="1250950" cy="5984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6AE85B16-CBCD-AEE9-9B58-77A8EF739F62}"/>
              </a:ext>
            </a:extLst>
          </p:cNvPr>
          <p:cNvSpPr txBox="1"/>
          <p:nvPr/>
        </p:nvSpPr>
        <p:spPr>
          <a:xfrm>
            <a:off x="1114425" y="2371716"/>
            <a:ext cx="3076575" cy="175432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Coastline change data: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Transect time series tidally corrected smoothed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solidFill>
                <a:prstClr val="black"/>
              </a:solidFill>
              <a:latin typeface="Gill Sans MT" panose="020B0502020104020203"/>
              <a:ea typeface="华文中宋" panose="02010600040101010101" pitchFamily="2" charset="-122"/>
            </a:endParaRPr>
          </a:p>
          <a:p>
            <a:r>
              <a:rPr lang="en-US" altLang="zh-CN" dirty="0"/>
              <a:t>For example: </a:t>
            </a:r>
            <a:r>
              <a:rPr lang="en-US" altLang="zh-CN" dirty="0" err="1"/>
              <a:t>nzd0002</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pic>
        <p:nvPicPr>
          <p:cNvPr id="6" name="图片 5" descr="图表&#10;&#10;AI 生成的内容可能不正确。">
            <a:extLst>
              <a:ext uri="{FF2B5EF4-FFF2-40B4-BE49-F238E27FC236}">
                <a16:creationId xmlns:a16="http://schemas.microsoft.com/office/drawing/2014/main" id="{C8037400-BCA3-49CC-96F7-C05F5EA874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88296" y="103957"/>
            <a:ext cx="3806919" cy="2023293"/>
          </a:xfrm>
          <a:prstGeom prst="rect">
            <a:avLst/>
          </a:prstGeom>
        </p:spPr>
      </p:pic>
      <p:pic>
        <p:nvPicPr>
          <p:cNvPr id="9" name="图片 8" descr="图表, 折线图&#10;&#10;AI 生成的内容可能不正确。">
            <a:extLst>
              <a:ext uri="{FF2B5EF4-FFF2-40B4-BE49-F238E27FC236}">
                <a16:creationId xmlns:a16="http://schemas.microsoft.com/office/drawing/2014/main" id="{A47DB0DD-5E16-57A2-3677-90E5723EA1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0059" y="4158005"/>
            <a:ext cx="3540941" cy="2298700"/>
          </a:xfrm>
          <a:prstGeom prst="rect">
            <a:avLst/>
          </a:prstGeom>
        </p:spPr>
      </p:pic>
      <p:pic>
        <p:nvPicPr>
          <p:cNvPr id="13" name="图片 12" descr="图片包含 图表&#10;&#10;AI 生成的内容可能不正确。">
            <a:extLst>
              <a:ext uri="{FF2B5EF4-FFF2-40B4-BE49-F238E27FC236}">
                <a16:creationId xmlns:a16="http://schemas.microsoft.com/office/drawing/2014/main" id="{AC9426B3-E8A7-EFCD-2116-0754F4B27E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88296" y="2217993"/>
            <a:ext cx="3806920" cy="2274631"/>
          </a:xfrm>
          <a:prstGeom prst="rect">
            <a:avLst/>
          </a:prstGeom>
        </p:spPr>
      </p:pic>
      <p:pic>
        <p:nvPicPr>
          <p:cNvPr id="17" name="图片 16" descr="图形用户界面, 图表&#10;&#10;AI 生成的内容可能不正确。">
            <a:extLst>
              <a:ext uri="{FF2B5EF4-FFF2-40B4-BE49-F238E27FC236}">
                <a16:creationId xmlns:a16="http://schemas.microsoft.com/office/drawing/2014/main" id="{2E77A24D-26B6-0EB5-2BFA-28D31E47B7E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688296" y="4583367"/>
            <a:ext cx="3806920" cy="2127251"/>
          </a:xfrm>
          <a:prstGeom prst="rect">
            <a:avLst/>
          </a:prstGeom>
        </p:spPr>
      </p:pic>
      <p:grpSp>
        <p:nvGrpSpPr>
          <p:cNvPr id="18" name="组合 17">
            <a:extLst>
              <a:ext uri="{FF2B5EF4-FFF2-40B4-BE49-F238E27FC236}">
                <a16:creationId xmlns:a16="http://schemas.microsoft.com/office/drawing/2014/main" id="{33E6B912-05E2-0E8E-A21D-D522CDC400D3}"/>
              </a:ext>
            </a:extLst>
          </p:cNvPr>
          <p:cNvGrpSpPr/>
          <p:nvPr/>
        </p:nvGrpSpPr>
        <p:grpSpPr>
          <a:xfrm>
            <a:off x="5345893" y="61300"/>
            <a:ext cx="741521" cy="617935"/>
            <a:chOff x="254713" y="1750813"/>
            <a:chExt cx="741521" cy="617935"/>
          </a:xfrm>
        </p:grpSpPr>
        <p:sp>
          <p:nvSpPr>
            <p:cNvPr id="19" name="箭头: 右 18">
              <a:extLst>
                <a:ext uri="{FF2B5EF4-FFF2-40B4-BE49-F238E27FC236}">
                  <a16:creationId xmlns:a16="http://schemas.microsoft.com/office/drawing/2014/main" id="{83986335-6DFB-69C9-5929-D0E79AA04C87}"/>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20" name="箭头: 右 4">
              <a:extLst>
                <a:ext uri="{FF2B5EF4-FFF2-40B4-BE49-F238E27FC236}">
                  <a16:creationId xmlns:a16="http://schemas.microsoft.com/office/drawing/2014/main" id="{1225E2FB-376E-4AA3-79EE-E49879EB41EB}"/>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p:txBody>
        </p:sp>
      </p:grpSp>
      <p:sp>
        <p:nvSpPr>
          <p:cNvPr id="21" name="文本框 20">
            <a:extLst>
              <a:ext uri="{FF2B5EF4-FFF2-40B4-BE49-F238E27FC236}">
                <a16:creationId xmlns:a16="http://schemas.microsoft.com/office/drawing/2014/main" id="{EEF698AE-C03C-31CD-093E-5B1424176464}"/>
              </a:ext>
            </a:extLst>
          </p:cNvPr>
          <p:cNvSpPr txBox="1"/>
          <p:nvPr/>
        </p:nvSpPr>
        <p:spPr>
          <a:xfrm>
            <a:off x="10604686" y="619410"/>
            <a:ext cx="1623804" cy="923330"/>
          </a:xfrm>
          <a:prstGeom prst="rect">
            <a:avLst/>
          </a:prstGeom>
          <a:noFill/>
        </p:spPr>
        <p:txBody>
          <a:bodyPr wrap="square" rtlCol="0">
            <a:spAutoFit/>
          </a:bodyPr>
          <a:lstStyle/>
          <a:p>
            <a:r>
              <a:rPr lang="en-US" altLang="zh-CN" dirty="0"/>
              <a:t>Average all transects for each coastline</a:t>
            </a:r>
            <a:endParaRPr lang="zh-CN" altLang="en-US" dirty="0"/>
          </a:p>
        </p:txBody>
      </p:sp>
      <p:sp>
        <p:nvSpPr>
          <p:cNvPr id="22" name="文本框 21">
            <a:extLst>
              <a:ext uri="{FF2B5EF4-FFF2-40B4-BE49-F238E27FC236}">
                <a16:creationId xmlns:a16="http://schemas.microsoft.com/office/drawing/2014/main" id="{18CF40EA-E3AF-744F-5F30-441081B8AE17}"/>
              </a:ext>
            </a:extLst>
          </p:cNvPr>
          <p:cNvSpPr txBox="1"/>
          <p:nvPr/>
        </p:nvSpPr>
        <p:spPr>
          <a:xfrm>
            <a:off x="10723493" y="2782669"/>
            <a:ext cx="1386190" cy="646331"/>
          </a:xfrm>
          <a:prstGeom prst="rect">
            <a:avLst/>
          </a:prstGeom>
          <a:noFill/>
        </p:spPr>
        <p:txBody>
          <a:bodyPr wrap="square" rtlCol="0">
            <a:spAutoFit/>
          </a:bodyPr>
          <a:lstStyle/>
          <a:p>
            <a:r>
              <a:rPr lang="en-US" altLang="zh-CN" dirty="0"/>
              <a:t>Get monthly data</a:t>
            </a:r>
            <a:endParaRPr lang="zh-CN" altLang="en-US" dirty="0"/>
          </a:p>
        </p:txBody>
      </p:sp>
      <p:sp>
        <p:nvSpPr>
          <p:cNvPr id="25" name="文本框 24">
            <a:extLst>
              <a:ext uri="{FF2B5EF4-FFF2-40B4-BE49-F238E27FC236}">
                <a16:creationId xmlns:a16="http://schemas.microsoft.com/office/drawing/2014/main" id="{A5417E63-80DE-6F27-50D9-7BAF17867E1F}"/>
              </a:ext>
            </a:extLst>
          </p:cNvPr>
          <p:cNvSpPr txBox="1"/>
          <p:nvPr/>
        </p:nvSpPr>
        <p:spPr>
          <a:xfrm>
            <a:off x="10563902" y="4583367"/>
            <a:ext cx="1709663" cy="1754326"/>
          </a:xfrm>
          <a:prstGeom prst="rect">
            <a:avLst/>
          </a:prstGeom>
          <a:noFill/>
        </p:spPr>
        <p:txBody>
          <a:bodyPr wrap="square">
            <a:spAutoFit/>
          </a:bodyPr>
          <a:lstStyle/>
          <a:p>
            <a:r>
              <a:rPr lang="en-US" altLang="zh-CN" dirty="0"/>
              <a:t>no longer perform the climatology anomaly (de-</a:t>
            </a:r>
            <a:r>
              <a:rPr lang="en-US" altLang="zh-CN" dirty="0" err="1"/>
              <a:t>seasonalization</a:t>
            </a:r>
            <a:r>
              <a:rPr lang="en-US" altLang="zh-CN" dirty="0"/>
              <a:t>) step</a:t>
            </a:r>
            <a:endParaRPr lang="zh-CN" altLang="en-US" dirty="0"/>
          </a:p>
        </p:txBody>
      </p:sp>
      <p:sp>
        <p:nvSpPr>
          <p:cNvPr id="26" name="文本框 25">
            <a:extLst>
              <a:ext uri="{FF2B5EF4-FFF2-40B4-BE49-F238E27FC236}">
                <a16:creationId xmlns:a16="http://schemas.microsoft.com/office/drawing/2014/main" id="{C4A2DF0B-33A5-C5BA-CFC0-ADCBBEB717A6}"/>
              </a:ext>
            </a:extLst>
          </p:cNvPr>
          <p:cNvSpPr txBox="1"/>
          <p:nvPr/>
        </p:nvSpPr>
        <p:spPr>
          <a:xfrm>
            <a:off x="495618" y="6456705"/>
            <a:ext cx="3895087" cy="369332"/>
          </a:xfrm>
          <a:prstGeom prst="rect">
            <a:avLst/>
          </a:prstGeom>
          <a:noFill/>
        </p:spPr>
        <p:txBody>
          <a:bodyPr wrap="square" rtlCol="0">
            <a:spAutoFit/>
          </a:bodyPr>
          <a:lstStyle/>
          <a:p>
            <a:r>
              <a:rPr lang="en-US" altLang="zh-CN" dirty="0"/>
              <a:t>three transects for </a:t>
            </a:r>
            <a:r>
              <a:rPr lang="en-US" altLang="zh-CN" dirty="0" err="1"/>
              <a:t>nzd0002</a:t>
            </a:r>
            <a:r>
              <a:rPr lang="en-US" altLang="zh-CN" dirty="0"/>
              <a:t> coastline</a:t>
            </a:r>
            <a:endParaRPr lang="zh-CN" altLang="en-US" dirty="0"/>
          </a:p>
        </p:txBody>
      </p:sp>
    </p:spTree>
    <p:extLst>
      <p:ext uri="{BB962C8B-B14F-4D97-AF65-F5344CB8AC3E}">
        <p14:creationId xmlns:p14="http://schemas.microsoft.com/office/powerpoint/2010/main" val="3810688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96C4CF1-E150-34DE-F1AA-991E18B230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A42CAC-B603-5E9D-1D11-FF01CC6FA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3B1B3AD9-98C2-B01E-E398-D8C7ED7C9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3D6AA732-6741-CF56-E6B4-3511C632A148}"/>
              </a:ext>
            </a:extLst>
          </p:cNvPr>
          <p:cNvSpPr>
            <a:spLocks noGrp="1"/>
          </p:cNvSpPr>
          <p:nvPr>
            <p:ph type="title"/>
          </p:nvPr>
        </p:nvSpPr>
        <p:spPr>
          <a:xfrm>
            <a:off x="1114425" y="266700"/>
            <a:ext cx="2962275" cy="2095500"/>
          </a:xfrm>
        </p:spPr>
        <p:txBody>
          <a:bodyPr anchor="ctr">
            <a:normAutofit/>
          </a:bodyPr>
          <a:lstStyle/>
          <a:p>
            <a:r>
              <a:rPr lang="en-US" altLang="zh-CN" sz="3600" dirty="0"/>
              <a:t>Cross-Correlation</a:t>
            </a:r>
            <a:br>
              <a:rPr lang="en-US" altLang="zh-CN" sz="3600" dirty="0"/>
            </a:br>
            <a:endParaRPr lang="zh-CN" altLang="en-US" sz="3600" dirty="0"/>
          </a:p>
        </p:txBody>
      </p:sp>
      <p:sp>
        <p:nvSpPr>
          <p:cNvPr id="12" name="Freeform 6">
            <a:extLst>
              <a:ext uri="{FF2B5EF4-FFF2-40B4-BE49-F238E27FC236}">
                <a16:creationId xmlns:a16="http://schemas.microsoft.com/office/drawing/2014/main" id="{6A930483-CFB8-5CE2-DF3C-0834590B5A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673569E0-ED06-D1D4-7317-966076B71877}"/>
              </a:ext>
            </a:extLst>
          </p:cNvPr>
          <p:cNvGraphicFramePr>
            <a:graphicFrameLocks noGrp="1"/>
          </p:cNvGraphicFramePr>
          <p:nvPr>
            <p:ph idx="1"/>
            <p:extLst>
              <p:ext uri="{D42A27DB-BD31-4B8C-83A1-F6EECF244321}">
                <p14:modId xmlns:p14="http://schemas.microsoft.com/office/powerpoint/2010/main" val="4250660493"/>
              </p:ext>
            </p:extLst>
          </p:nvPr>
        </p:nvGraphicFramePr>
        <p:xfrm>
          <a:off x="5111750" y="884636"/>
          <a:ext cx="1195307" cy="24509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EBDA56F6-9A4B-13A6-50C0-2DC6698D2337}"/>
              </a:ext>
            </a:extLst>
          </p:cNvPr>
          <p:cNvSpPr txBox="1"/>
          <p:nvPr/>
        </p:nvSpPr>
        <p:spPr>
          <a:xfrm>
            <a:off x="6597650" y="133350"/>
            <a:ext cx="5537199" cy="2952027"/>
          </a:xfrm>
          <a:prstGeom prst="rect">
            <a:avLst/>
          </a:prstGeom>
          <a:noFill/>
        </p:spPr>
        <p:txBody>
          <a:bodyPr wrap="square" rtlCol="0">
            <a:spAutoFit/>
          </a:bodyPr>
          <a:lstStyle/>
          <a:p>
            <a:pPr lvl="0">
              <a:lnSpc>
                <a:spcPct val="150000"/>
              </a:lnSpc>
            </a:pPr>
            <a:r>
              <a:rPr lang="en-US" altLang="zh-CN" dirty="0"/>
              <a:t>This enhancement relative to non-lagged correlation is due to the time that </a:t>
            </a:r>
            <a:r>
              <a:rPr lang="en-US" altLang="zh-CN" dirty="0" err="1"/>
              <a:t>teleconnected</a:t>
            </a:r>
            <a:r>
              <a:rPr lang="en-US" altLang="zh-CN" dirty="0"/>
              <a:t> phenomena take to respond to the warming and cooling of the Indian and Pacific Oceans’ tropical waters. An example of this delayed response is the warming in the tropical Indian Ocean caused by the ENSO-related fluctuations, which takes approximately 3–6 months to occur</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sp>
        <p:nvSpPr>
          <p:cNvPr id="3" name="文本框 2">
            <a:extLst>
              <a:ext uri="{FF2B5EF4-FFF2-40B4-BE49-F238E27FC236}">
                <a16:creationId xmlns:a16="http://schemas.microsoft.com/office/drawing/2014/main" id="{9A6B76E9-746A-79FF-5C81-6B96A851D679}"/>
              </a:ext>
            </a:extLst>
          </p:cNvPr>
          <p:cNvSpPr txBox="1"/>
          <p:nvPr/>
        </p:nvSpPr>
        <p:spPr>
          <a:xfrm>
            <a:off x="1009650" y="2724150"/>
            <a:ext cx="3340100" cy="1705532"/>
          </a:xfrm>
          <a:prstGeom prst="rect">
            <a:avLst/>
          </a:prstGeom>
          <a:noFill/>
        </p:spPr>
        <p:txBody>
          <a:bodyPr wrap="square" rtlCol="0">
            <a:spAutoFit/>
          </a:bodyPr>
          <a:lstStyle/>
          <a:p>
            <a:pPr>
              <a:lnSpc>
                <a:spcPct val="150000"/>
              </a:lnSpc>
              <a:spcAft>
                <a:spcPts val="600"/>
              </a:spcAft>
            </a:pPr>
            <a:r>
              <a:rPr lang="en-US" altLang="zh-CN" dirty="0"/>
              <a:t>Reference:</a:t>
            </a:r>
            <a:br>
              <a:rPr lang="en-US" altLang="zh-CN" dirty="0"/>
            </a:br>
            <a:r>
              <a:rPr lang="en-US" altLang="zh-CN" dirty="0"/>
              <a:t>Storm wave clustering around New Zealand and its connection to climatic patterns</a:t>
            </a:r>
            <a:endParaRPr lang="zh-CN" altLang="en-US" dirty="0"/>
          </a:p>
        </p:txBody>
      </p:sp>
      <p:pic>
        <p:nvPicPr>
          <p:cNvPr id="7" name="图片 6" descr="图示&#10;&#10;AI 生成的内容可能不正确。">
            <a:extLst>
              <a:ext uri="{FF2B5EF4-FFF2-40B4-BE49-F238E27FC236}">
                <a16:creationId xmlns:a16="http://schemas.microsoft.com/office/drawing/2014/main" id="{D24A108C-F43B-489F-4CE1-0BEB2E62C4A2}"/>
              </a:ext>
            </a:extLst>
          </p:cNvPr>
          <p:cNvPicPr>
            <a:picLocks noChangeAspect="1"/>
          </p:cNvPicPr>
          <p:nvPr/>
        </p:nvPicPr>
        <p:blipFill>
          <a:blip r:embed="rId7"/>
          <a:stretch>
            <a:fillRect/>
          </a:stretch>
        </p:blipFill>
        <p:spPr>
          <a:xfrm>
            <a:off x="7705406" y="3149599"/>
            <a:ext cx="2861652" cy="3575050"/>
          </a:xfrm>
          <a:prstGeom prst="rect">
            <a:avLst/>
          </a:prstGeom>
        </p:spPr>
      </p:pic>
      <p:grpSp>
        <p:nvGrpSpPr>
          <p:cNvPr id="9" name="组合 8">
            <a:extLst>
              <a:ext uri="{FF2B5EF4-FFF2-40B4-BE49-F238E27FC236}">
                <a16:creationId xmlns:a16="http://schemas.microsoft.com/office/drawing/2014/main" id="{889489A3-FEEB-A427-A664-1F62A80E5EE8}"/>
              </a:ext>
            </a:extLst>
          </p:cNvPr>
          <p:cNvGrpSpPr/>
          <p:nvPr/>
        </p:nvGrpSpPr>
        <p:grpSpPr>
          <a:xfrm>
            <a:off x="5292486" y="133350"/>
            <a:ext cx="741521" cy="617935"/>
            <a:chOff x="254713" y="1750813"/>
            <a:chExt cx="741521" cy="617935"/>
          </a:xfrm>
        </p:grpSpPr>
        <p:sp>
          <p:nvSpPr>
            <p:cNvPr id="11" name="箭头: 右 10">
              <a:extLst>
                <a:ext uri="{FF2B5EF4-FFF2-40B4-BE49-F238E27FC236}">
                  <a16:creationId xmlns:a16="http://schemas.microsoft.com/office/drawing/2014/main" id="{6D4B6823-73F7-D611-890B-66B4B3842E51}"/>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13" name="箭头: 右 4">
              <a:extLst>
                <a:ext uri="{FF2B5EF4-FFF2-40B4-BE49-F238E27FC236}">
                  <a16:creationId xmlns:a16="http://schemas.microsoft.com/office/drawing/2014/main" id="{8AFD9A31-C80B-D8F5-7F62-8635903F909F}"/>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p:txBody>
        </p:sp>
      </p:grpSp>
    </p:spTree>
    <p:extLst>
      <p:ext uri="{BB962C8B-B14F-4D97-AF65-F5344CB8AC3E}">
        <p14:creationId xmlns:p14="http://schemas.microsoft.com/office/powerpoint/2010/main" val="1580080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49C5E6D-4C1A-88F9-D15F-47A2CF7B2E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8863D5-3FA7-7D01-1359-590E5276BB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AC2FCAA7-1A2A-AFE4-5F28-159B41747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BA336E59-676C-3255-C8EC-3C914C7AB766}"/>
              </a:ext>
            </a:extLst>
          </p:cNvPr>
          <p:cNvSpPr>
            <a:spLocks noGrp="1"/>
          </p:cNvSpPr>
          <p:nvPr>
            <p:ph type="title"/>
          </p:nvPr>
        </p:nvSpPr>
        <p:spPr>
          <a:xfrm>
            <a:off x="1114425" y="266700"/>
            <a:ext cx="2962275" cy="2095500"/>
          </a:xfrm>
        </p:spPr>
        <p:txBody>
          <a:bodyPr anchor="ctr">
            <a:normAutofit/>
          </a:bodyPr>
          <a:lstStyle/>
          <a:p>
            <a:r>
              <a:rPr lang="en-US" altLang="zh-CN" sz="3600" dirty="0"/>
              <a:t>Cross-Correlation</a:t>
            </a:r>
            <a:br>
              <a:rPr lang="en-US" altLang="zh-CN" sz="3600" dirty="0"/>
            </a:br>
            <a:endParaRPr lang="zh-CN" altLang="en-US" sz="3600" dirty="0"/>
          </a:p>
        </p:txBody>
      </p:sp>
      <p:sp>
        <p:nvSpPr>
          <p:cNvPr id="12" name="Freeform 6">
            <a:extLst>
              <a:ext uri="{FF2B5EF4-FFF2-40B4-BE49-F238E27FC236}">
                <a16:creationId xmlns:a16="http://schemas.microsoft.com/office/drawing/2014/main" id="{8AA594B4-F706-36C0-45D1-58444D5B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CD9A047D-3B59-BCDE-6843-2D1E46AA801A}"/>
              </a:ext>
            </a:extLst>
          </p:cNvPr>
          <p:cNvGraphicFramePr>
            <a:graphicFrameLocks noGrp="1"/>
          </p:cNvGraphicFramePr>
          <p:nvPr>
            <p:ph idx="1"/>
            <p:extLst>
              <p:ext uri="{D42A27DB-BD31-4B8C-83A1-F6EECF244321}">
                <p14:modId xmlns:p14="http://schemas.microsoft.com/office/powerpoint/2010/main" val="1076264700"/>
              </p:ext>
            </p:extLst>
          </p:nvPr>
        </p:nvGraphicFramePr>
        <p:xfrm>
          <a:off x="5111750" y="884636"/>
          <a:ext cx="1195307" cy="2106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DF3EA7E3-C71F-4351-328D-4D337CC3F7E1}"/>
              </a:ext>
            </a:extLst>
          </p:cNvPr>
          <p:cNvSpPr txBox="1"/>
          <p:nvPr/>
        </p:nvSpPr>
        <p:spPr>
          <a:xfrm>
            <a:off x="6547546" y="958850"/>
            <a:ext cx="5537199" cy="170553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Time lag: [2,6]</a:t>
            </a:r>
          </a:p>
          <a:p>
            <a:pPr marL="0" marR="0" lvl="0" indent="0" algn="l" defTabSz="457200" rtl="0" eaLnBrk="1" fontAlgn="auto" latinLnBrk="0" hangingPunct="1">
              <a:lnSpc>
                <a:spcPct val="150000"/>
              </a:lnSpc>
              <a:spcBef>
                <a:spcPts val="0"/>
              </a:spcBef>
              <a:spcAft>
                <a:spcPts val="0"/>
              </a:spcAft>
              <a:buClrTx/>
              <a:buSzTx/>
              <a:buFontTx/>
              <a:buNone/>
              <a:tabLst/>
              <a:defRPr/>
            </a:pPr>
            <a:r>
              <a:rPr lang="en-US" altLang="zh-CN" dirty="0">
                <a:solidFill>
                  <a:prstClr val="black"/>
                </a:solidFill>
                <a:latin typeface="Gill Sans MT" panose="020B0502020104020203"/>
                <a:ea typeface="华文中宋" panose="02010600040101010101" pitchFamily="2" charset="-122"/>
              </a:rPr>
              <a:t>X: monthly coastal line</a:t>
            </a:r>
          </a:p>
          <a:p>
            <a:pPr marL="0" marR="0" lvl="0" indent="0" algn="l" defTabSz="457200" rtl="0" eaLnBrk="1" fontAlgn="auto" latinLnBrk="0" hangingPunct="1">
              <a:lnSpc>
                <a:spcPct val="150000"/>
              </a:lnSpc>
              <a:spcBef>
                <a:spcPts val="0"/>
              </a:spcBef>
              <a:spcAft>
                <a:spcPts val="0"/>
              </a:spcAft>
              <a:buClrTx/>
              <a:buSzTx/>
              <a:buFontTx/>
              <a:buNone/>
              <a:tabLst/>
              <a:defRPr/>
            </a:pPr>
            <a:r>
              <a:rPr lang="en-US" altLang="zh-CN" dirty="0">
                <a:solidFill>
                  <a:prstClr val="black"/>
                </a:solidFill>
                <a:latin typeface="Gill Sans MT" panose="020B0502020104020203"/>
                <a:ea typeface="华文中宋" panose="02010600040101010101" pitchFamily="2" charset="-122"/>
              </a:rPr>
              <a:t>Y: smoothed soi value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Time period: 2000-2025/ 2010-2014(La </a:t>
            </a:r>
            <a:r>
              <a:rPr kumimoji="0" lang="en-US" altLang="zh-CN" sz="18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nina</a:t>
            </a: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sp>
        <p:nvSpPr>
          <p:cNvPr id="3" name="文本框 2">
            <a:extLst>
              <a:ext uri="{FF2B5EF4-FFF2-40B4-BE49-F238E27FC236}">
                <a16:creationId xmlns:a16="http://schemas.microsoft.com/office/drawing/2014/main" id="{398E0944-E6DC-DF67-7188-372AF082E198}"/>
              </a:ext>
            </a:extLst>
          </p:cNvPr>
          <p:cNvSpPr txBox="1"/>
          <p:nvPr/>
        </p:nvSpPr>
        <p:spPr>
          <a:xfrm>
            <a:off x="1009650" y="2724150"/>
            <a:ext cx="3340100" cy="170553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Reference:</a:t>
            </a:r>
            <a:b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b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Storm wave clustering around New Zealand and its connection to climatic patterns</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nvGrpSpPr>
          <p:cNvPr id="9" name="组合 8">
            <a:extLst>
              <a:ext uri="{FF2B5EF4-FFF2-40B4-BE49-F238E27FC236}">
                <a16:creationId xmlns:a16="http://schemas.microsoft.com/office/drawing/2014/main" id="{2C908C6C-0D67-A55F-439F-4D1A28D55780}"/>
              </a:ext>
            </a:extLst>
          </p:cNvPr>
          <p:cNvGrpSpPr/>
          <p:nvPr/>
        </p:nvGrpSpPr>
        <p:grpSpPr>
          <a:xfrm>
            <a:off x="5292486" y="133350"/>
            <a:ext cx="741521" cy="617935"/>
            <a:chOff x="254713" y="1750813"/>
            <a:chExt cx="741521" cy="617935"/>
          </a:xfrm>
        </p:grpSpPr>
        <p:sp>
          <p:nvSpPr>
            <p:cNvPr id="11" name="箭头: 右 10">
              <a:extLst>
                <a:ext uri="{FF2B5EF4-FFF2-40B4-BE49-F238E27FC236}">
                  <a16:creationId xmlns:a16="http://schemas.microsoft.com/office/drawing/2014/main" id="{37BF8930-C290-E024-D303-113FC9B04588}"/>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13" name="箭头: 右 4">
              <a:extLst>
                <a:ext uri="{FF2B5EF4-FFF2-40B4-BE49-F238E27FC236}">
                  <a16:creationId xmlns:a16="http://schemas.microsoft.com/office/drawing/2014/main" id="{204C7930-B058-38D8-553A-B6ED41D6D7E8}"/>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grpSp>
      <p:grpSp>
        <p:nvGrpSpPr>
          <p:cNvPr id="16" name="组合 15">
            <a:extLst>
              <a:ext uri="{FF2B5EF4-FFF2-40B4-BE49-F238E27FC236}">
                <a16:creationId xmlns:a16="http://schemas.microsoft.com/office/drawing/2014/main" id="{83270062-B4FB-1D4E-ED2C-D08E43552AFD}"/>
              </a:ext>
            </a:extLst>
          </p:cNvPr>
          <p:cNvGrpSpPr/>
          <p:nvPr/>
        </p:nvGrpSpPr>
        <p:grpSpPr>
          <a:xfrm>
            <a:off x="4816604" y="3218295"/>
            <a:ext cx="7268141" cy="3412259"/>
            <a:chOff x="4816604" y="3250727"/>
            <a:chExt cx="7268141" cy="3412259"/>
          </a:xfrm>
        </p:grpSpPr>
        <p:pic>
          <p:nvPicPr>
            <p:cNvPr id="14" name="图片 13" descr="电脑萤幕画面&#10;&#10;AI 生成的内容可能不正确。">
              <a:extLst>
                <a:ext uri="{FF2B5EF4-FFF2-40B4-BE49-F238E27FC236}">
                  <a16:creationId xmlns:a16="http://schemas.microsoft.com/office/drawing/2014/main" id="{125A383B-5E00-B862-8C6C-B76D260C94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16604" y="3250727"/>
              <a:ext cx="7268141" cy="3020928"/>
            </a:xfrm>
            <a:prstGeom prst="rect">
              <a:avLst/>
            </a:prstGeom>
          </p:spPr>
        </p:pic>
        <p:sp>
          <p:nvSpPr>
            <p:cNvPr id="15" name="文本框 14">
              <a:extLst>
                <a:ext uri="{FF2B5EF4-FFF2-40B4-BE49-F238E27FC236}">
                  <a16:creationId xmlns:a16="http://schemas.microsoft.com/office/drawing/2014/main" id="{F803C4F1-D2F7-3BE8-9424-599872A6396D}"/>
                </a:ext>
              </a:extLst>
            </p:cNvPr>
            <p:cNvSpPr txBox="1"/>
            <p:nvPr/>
          </p:nvSpPr>
          <p:spPr>
            <a:xfrm>
              <a:off x="7854204" y="6203950"/>
              <a:ext cx="1404096" cy="45903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2000-2025</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spTree>
    <p:extLst>
      <p:ext uri="{BB962C8B-B14F-4D97-AF65-F5344CB8AC3E}">
        <p14:creationId xmlns:p14="http://schemas.microsoft.com/office/powerpoint/2010/main" val="1013927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0F0F0E-A760-5C60-66AA-94A1F06E54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AC4BBD4-00C8-B3B7-8534-B0BE30BDE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3A69AEBC-221D-B4B9-B58B-67BED0A290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186EEEBC-D698-5024-68D4-CC3398481194}"/>
              </a:ext>
            </a:extLst>
          </p:cNvPr>
          <p:cNvSpPr>
            <a:spLocks noGrp="1"/>
          </p:cNvSpPr>
          <p:nvPr>
            <p:ph type="title"/>
          </p:nvPr>
        </p:nvSpPr>
        <p:spPr>
          <a:xfrm>
            <a:off x="1114425" y="266700"/>
            <a:ext cx="2962275" cy="2095500"/>
          </a:xfrm>
        </p:spPr>
        <p:txBody>
          <a:bodyPr anchor="ctr">
            <a:normAutofit/>
          </a:bodyPr>
          <a:lstStyle/>
          <a:p>
            <a:r>
              <a:rPr lang="en-US" altLang="zh-CN" sz="3600" dirty="0"/>
              <a:t>Cross-Correlation</a:t>
            </a:r>
            <a:br>
              <a:rPr lang="en-US" altLang="zh-CN" sz="3600" dirty="0"/>
            </a:br>
            <a:endParaRPr lang="zh-CN" altLang="en-US" sz="3600" dirty="0"/>
          </a:p>
        </p:txBody>
      </p:sp>
      <p:sp>
        <p:nvSpPr>
          <p:cNvPr id="12" name="Freeform 6">
            <a:extLst>
              <a:ext uri="{FF2B5EF4-FFF2-40B4-BE49-F238E27FC236}">
                <a16:creationId xmlns:a16="http://schemas.microsoft.com/office/drawing/2014/main" id="{41F9F28E-4C18-5B31-C149-8780661C8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E2ABD286-A1FB-1AD5-B311-EA52196034C7}"/>
              </a:ext>
            </a:extLst>
          </p:cNvPr>
          <p:cNvGraphicFramePr>
            <a:graphicFrameLocks noGrp="1"/>
          </p:cNvGraphicFramePr>
          <p:nvPr>
            <p:ph idx="1"/>
            <p:extLst>
              <p:ext uri="{D42A27DB-BD31-4B8C-83A1-F6EECF244321}">
                <p14:modId xmlns:p14="http://schemas.microsoft.com/office/powerpoint/2010/main" val="2956428334"/>
              </p:ext>
            </p:extLst>
          </p:nvPr>
        </p:nvGraphicFramePr>
        <p:xfrm>
          <a:off x="6022222" y="821498"/>
          <a:ext cx="1182806" cy="986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2">
            <a:extLst>
              <a:ext uri="{FF2B5EF4-FFF2-40B4-BE49-F238E27FC236}">
                <a16:creationId xmlns:a16="http://schemas.microsoft.com/office/drawing/2014/main" id="{DEBB8796-074A-4D0E-C793-3CC63883D6CC}"/>
              </a:ext>
            </a:extLst>
          </p:cNvPr>
          <p:cNvSpPr txBox="1"/>
          <p:nvPr/>
        </p:nvSpPr>
        <p:spPr>
          <a:xfrm>
            <a:off x="1009650" y="2724150"/>
            <a:ext cx="3340100" cy="170553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Reference:</a:t>
            </a:r>
            <a:b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b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Storm wave clustering around New Zealand and its connection to climatic patterns</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nvGrpSpPr>
          <p:cNvPr id="9" name="组合 8">
            <a:extLst>
              <a:ext uri="{FF2B5EF4-FFF2-40B4-BE49-F238E27FC236}">
                <a16:creationId xmlns:a16="http://schemas.microsoft.com/office/drawing/2014/main" id="{CE2B066E-AE4E-F9B8-78D1-88F5AA63C85A}"/>
              </a:ext>
            </a:extLst>
          </p:cNvPr>
          <p:cNvGrpSpPr/>
          <p:nvPr/>
        </p:nvGrpSpPr>
        <p:grpSpPr>
          <a:xfrm>
            <a:off x="6284893" y="120650"/>
            <a:ext cx="657464" cy="567651"/>
            <a:chOff x="254713" y="1750813"/>
            <a:chExt cx="741521" cy="617935"/>
          </a:xfrm>
        </p:grpSpPr>
        <p:sp>
          <p:nvSpPr>
            <p:cNvPr id="11" name="箭头: 右 10">
              <a:extLst>
                <a:ext uri="{FF2B5EF4-FFF2-40B4-BE49-F238E27FC236}">
                  <a16:creationId xmlns:a16="http://schemas.microsoft.com/office/drawing/2014/main" id="{762CF18F-8262-58CB-572C-3D66973EF658}"/>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13" name="箭头: 右 4">
              <a:extLst>
                <a:ext uri="{FF2B5EF4-FFF2-40B4-BE49-F238E27FC236}">
                  <a16:creationId xmlns:a16="http://schemas.microsoft.com/office/drawing/2014/main" id="{6B2474D0-A356-1B8C-0B74-2BB1429147F3}"/>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grpSp>
      <p:grpSp>
        <p:nvGrpSpPr>
          <p:cNvPr id="16" name="组合 15">
            <a:extLst>
              <a:ext uri="{FF2B5EF4-FFF2-40B4-BE49-F238E27FC236}">
                <a16:creationId xmlns:a16="http://schemas.microsoft.com/office/drawing/2014/main" id="{B347FD59-F0AF-18C8-98C7-61BAD0BAFC01}"/>
              </a:ext>
            </a:extLst>
          </p:cNvPr>
          <p:cNvGrpSpPr/>
          <p:nvPr/>
        </p:nvGrpSpPr>
        <p:grpSpPr>
          <a:xfrm>
            <a:off x="9828707" y="101782"/>
            <a:ext cx="657464" cy="617935"/>
            <a:chOff x="254713" y="1750813"/>
            <a:chExt cx="741521" cy="617935"/>
          </a:xfrm>
        </p:grpSpPr>
        <p:sp>
          <p:nvSpPr>
            <p:cNvPr id="17" name="箭头: 右 16">
              <a:extLst>
                <a:ext uri="{FF2B5EF4-FFF2-40B4-BE49-F238E27FC236}">
                  <a16:creationId xmlns:a16="http://schemas.microsoft.com/office/drawing/2014/main" id="{66B5762B-AD85-D839-9E11-464E117451DB}"/>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18" name="箭头: 右 4">
              <a:extLst>
                <a:ext uri="{FF2B5EF4-FFF2-40B4-BE49-F238E27FC236}">
                  <a16:creationId xmlns:a16="http://schemas.microsoft.com/office/drawing/2014/main" id="{26622DE9-9826-D797-CA5C-6038B4E049C2}"/>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grpSp>
      <p:grpSp>
        <p:nvGrpSpPr>
          <p:cNvPr id="19" name="组合 18">
            <a:extLst>
              <a:ext uri="{FF2B5EF4-FFF2-40B4-BE49-F238E27FC236}">
                <a16:creationId xmlns:a16="http://schemas.microsoft.com/office/drawing/2014/main" id="{704BDF72-AD99-7965-4895-62AFC77D36C2}"/>
              </a:ext>
            </a:extLst>
          </p:cNvPr>
          <p:cNvGrpSpPr/>
          <p:nvPr/>
        </p:nvGrpSpPr>
        <p:grpSpPr>
          <a:xfrm>
            <a:off x="9566037" y="821498"/>
            <a:ext cx="1182805" cy="985904"/>
            <a:chOff x="0" y="0"/>
            <a:chExt cx="1182805" cy="985904"/>
          </a:xfrm>
        </p:grpSpPr>
        <p:sp>
          <p:nvSpPr>
            <p:cNvPr id="20" name="矩形: 圆角 19">
              <a:extLst>
                <a:ext uri="{FF2B5EF4-FFF2-40B4-BE49-F238E27FC236}">
                  <a16:creationId xmlns:a16="http://schemas.microsoft.com/office/drawing/2014/main" id="{7622632B-A3B7-2195-AC0B-CFB21552181D}"/>
                </a:ext>
              </a:extLst>
            </p:cNvPr>
            <p:cNvSpPr/>
            <p:nvPr/>
          </p:nvSpPr>
          <p:spPr>
            <a:xfrm>
              <a:off x="0" y="0"/>
              <a:ext cx="1182805" cy="98590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1" name="矩形: 圆角 4">
              <a:extLst>
                <a:ext uri="{FF2B5EF4-FFF2-40B4-BE49-F238E27FC236}">
                  <a16:creationId xmlns:a16="http://schemas.microsoft.com/office/drawing/2014/main" id="{3BE65788-C9B5-2611-EA7D-7FE8DA9B6FCF}"/>
                </a:ext>
              </a:extLst>
            </p:cNvPr>
            <p:cNvSpPr txBox="1"/>
            <p:nvPr/>
          </p:nvSpPr>
          <p:spPr>
            <a:xfrm>
              <a:off x="28876" y="28876"/>
              <a:ext cx="1125053" cy="9281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solidFill>
                    <a:prstClr val="white"/>
                  </a:solidFill>
                  <a:latin typeface="Gill Sans MT" panose="020B0502020104020203"/>
                  <a:ea typeface="华文中宋" panose="02010600040101010101" pitchFamily="2" charset="-122"/>
                  <a:cs typeface="+mn-cs"/>
                </a:rPr>
                <a:t>K-means</a:t>
              </a:r>
              <a:endParaRPr lang="zh-CN" altLang="en-US" sz="1700" kern="1200" dirty="0">
                <a:solidFill>
                  <a:prstClr val="white"/>
                </a:solidFill>
                <a:latin typeface="Gill Sans MT" panose="020B0502020104020203"/>
                <a:ea typeface="华文中宋" panose="02010600040101010101" pitchFamily="2" charset="-122"/>
                <a:cs typeface="+mn-cs"/>
              </a:endParaRPr>
            </a:p>
          </p:txBody>
        </p:sp>
      </p:grpSp>
    </p:spTree>
    <p:extLst>
      <p:ext uri="{BB962C8B-B14F-4D97-AF65-F5344CB8AC3E}">
        <p14:creationId xmlns:p14="http://schemas.microsoft.com/office/powerpoint/2010/main" val="2222073997"/>
      </p:ext>
    </p:extLst>
  </p:cSld>
  <p:clrMapOvr>
    <a:masterClrMapping/>
  </p:clrMapOvr>
</p:sld>
</file>

<file path=ppt/theme/theme1.xml><?xml version="1.0" encoding="utf-8"?>
<a:theme xmlns:a="http://schemas.openxmlformats.org/drawingml/2006/main" name="徽章">
  <a:themeElements>
    <a:clrScheme name="徽章">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徽章">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徽章">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
  <TotalTime>197</TotalTime>
  <Words>315</Words>
  <Application>Microsoft Office PowerPoint</Application>
  <PresentationFormat>宽屏</PresentationFormat>
  <Paragraphs>53</Paragraphs>
  <Slides>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Arial</vt:lpstr>
      <vt:lpstr>Gill Sans MT</vt:lpstr>
      <vt:lpstr>Impact</vt:lpstr>
      <vt:lpstr>徽章</vt:lpstr>
      <vt:lpstr>Project update 2026.1.31</vt:lpstr>
      <vt:lpstr>Main change</vt:lpstr>
      <vt:lpstr>Optimizing Data Preprocessing </vt:lpstr>
      <vt:lpstr>Optimizing Data Preprocessing </vt:lpstr>
      <vt:lpstr>Cross-Correlation </vt:lpstr>
      <vt:lpstr>Cross-Correlation </vt:lpstr>
      <vt:lpstr>Cross-Correlation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Chang Liu</dc:creator>
  <cp:lastModifiedBy>Chang Liu</cp:lastModifiedBy>
  <cp:revision>1</cp:revision>
  <dcterms:created xsi:type="dcterms:W3CDTF">2026-01-30T23:00:11Z</dcterms:created>
  <dcterms:modified xsi:type="dcterms:W3CDTF">2026-01-31T02:17:16Z</dcterms:modified>
</cp:coreProperties>
</file>