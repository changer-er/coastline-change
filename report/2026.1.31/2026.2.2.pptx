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61" r:id="rId5"/>
    <p:sldId id="262" r:id="rId6"/>
    <p:sldId id="263" r:id="rId7"/>
    <p:sldId id="265" r:id="rId8"/>
    <p:sldId id="264"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Raw</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38ADDFBE-ABEC-4E38-82F8-6DBBF02391A6}">
      <dgm:prSet phldrT="[文本]"/>
      <dgm:spPr/>
      <dgm:t>
        <a:bodyPr/>
        <a:lstStyle/>
        <a:p>
          <a:r>
            <a:rPr lang="en-US" altLang="zh-CN" dirty="0"/>
            <a:t>detrend</a:t>
          </a:r>
          <a:endParaRPr lang="zh-CN" altLang="en-US" dirty="0"/>
        </a:p>
      </dgm:t>
    </dgm:pt>
    <dgm:pt modelId="{3F1710E2-BAE8-4F1B-ABE2-78AF4C366C1C}" type="parTrans" cxnId="{BD2E3739-8A04-47AA-9995-D4DE87B8E6B1}">
      <dgm:prSet/>
      <dgm:spPr/>
      <dgm:t>
        <a:bodyPr/>
        <a:lstStyle/>
        <a:p>
          <a:endParaRPr lang="zh-CN" altLang="en-US"/>
        </a:p>
      </dgm:t>
    </dgm:pt>
    <dgm:pt modelId="{02715F00-CC8E-46D5-937D-5F3B32124E4A}" type="sibTrans" cxnId="{BD2E3739-8A04-47AA-9995-D4DE87B8E6B1}">
      <dgm:prSet/>
      <dgm:spPr/>
      <dgm:t>
        <a:bodyPr/>
        <a:lstStyle/>
        <a:p>
          <a:endParaRPr lang="zh-CN" altLang="en-US"/>
        </a:p>
      </dgm:t>
    </dgm:pt>
    <dgm:pt modelId="{2C01D7DC-2A03-4F54-95B5-70F2D135D3DE}">
      <dgm:prSet/>
      <dgm:spPr/>
      <dgm:t>
        <a:bodyPr/>
        <a:lstStyle/>
        <a:p>
          <a:r>
            <a:rPr lang="en-NZ" altLang="zh-CN" dirty="0"/>
            <a:t>Centring</a:t>
          </a:r>
          <a:endParaRPr lang="zh-CN" altLang="en-US" dirty="0"/>
        </a:p>
      </dgm:t>
    </dgm:pt>
    <dgm:pt modelId="{F99ECEBD-B6DE-487A-B95F-44D8A6EBFDD2}" type="parTrans" cxnId="{DEC46AE4-D634-4B13-BC63-1C936C00FA85}">
      <dgm:prSet/>
      <dgm:spPr/>
      <dgm:t>
        <a:bodyPr/>
        <a:lstStyle/>
        <a:p>
          <a:endParaRPr lang="zh-CN" altLang="en-US"/>
        </a:p>
      </dgm:t>
    </dgm:pt>
    <dgm:pt modelId="{5CB45267-91C6-4D1F-AC53-1E48F037013B}" type="sibTrans" cxnId="{DEC46AE4-D634-4B13-BC63-1C936C00FA85}">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3" custLinFactNeighborY="771">
        <dgm:presLayoutVars>
          <dgm:bulletEnabled val="1"/>
        </dgm:presLayoutVars>
      </dgm:prSet>
      <dgm:spPr/>
    </dgm:pt>
    <dgm:pt modelId="{09C9038B-B660-46E2-B486-E66C7FD2D17E}" type="pres">
      <dgm:prSet presAssocID="{91F3EABB-6CD2-4970-95B1-EF9A54C1BF6D}" presName="sibTrans" presStyleLbl="sibTrans2D1" presStyleIdx="0" presStyleCnt="2"/>
      <dgm:spPr/>
    </dgm:pt>
    <dgm:pt modelId="{C035693B-A4DB-49B9-843D-6CBE02E7D6E2}" type="pres">
      <dgm:prSet presAssocID="{91F3EABB-6CD2-4970-95B1-EF9A54C1BF6D}" presName="connectorText" presStyleLbl="sibTrans2D1" presStyleIdx="0" presStyleCnt="2"/>
      <dgm:spPr/>
    </dgm:pt>
    <dgm:pt modelId="{73D6BB4F-4D0E-4F0D-9D8E-026A8463C75D}" type="pres">
      <dgm:prSet presAssocID="{2C01D7DC-2A03-4F54-95B5-70F2D135D3DE}" presName="node" presStyleLbl="node1" presStyleIdx="1" presStyleCnt="3">
        <dgm:presLayoutVars>
          <dgm:bulletEnabled val="1"/>
        </dgm:presLayoutVars>
      </dgm:prSet>
      <dgm:spPr/>
    </dgm:pt>
    <dgm:pt modelId="{52C3659D-424B-480A-8E3F-877C6E7A3E57}" type="pres">
      <dgm:prSet presAssocID="{5CB45267-91C6-4D1F-AC53-1E48F037013B}" presName="sibTrans" presStyleLbl="sibTrans2D1" presStyleIdx="1" presStyleCnt="2"/>
      <dgm:spPr/>
    </dgm:pt>
    <dgm:pt modelId="{B5EAD845-87F6-4193-8F82-8E142AF8ECE6}" type="pres">
      <dgm:prSet presAssocID="{5CB45267-91C6-4D1F-AC53-1E48F037013B}" presName="connectorText" presStyleLbl="sibTrans2D1" presStyleIdx="1" presStyleCnt="2"/>
      <dgm:spPr/>
    </dgm:pt>
    <dgm:pt modelId="{C206A823-6696-41D0-9096-8A3313B635C8}" type="pres">
      <dgm:prSet presAssocID="{38ADDFBE-ABEC-4E38-82F8-6DBBF02391A6}" presName="node" presStyleLbl="node1" presStyleIdx="2" presStyleCnt="3">
        <dgm:presLayoutVars>
          <dgm:bulletEnabled val="1"/>
        </dgm:presLayoutVars>
      </dgm:prSet>
      <dgm:spPr/>
    </dgm:pt>
  </dgm:ptLst>
  <dgm:cxnLst>
    <dgm:cxn modelId="{A55D8C10-CDBE-43F9-BDD6-A13717FCFF8C}" type="presOf" srcId="{38ADDFBE-ABEC-4E38-82F8-6DBBF02391A6}" destId="{C206A823-6696-41D0-9096-8A3313B635C8}" srcOrd="0" destOrd="0" presId="urn:microsoft.com/office/officeart/2005/8/layout/process2"/>
    <dgm:cxn modelId="{E5398923-F1ED-445E-A7CB-4DAC00879040}" type="presOf" srcId="{5CB45267-91C6-4D1F-AC53-1E48F037013B}" destId="{B5EAD845-87F6-4193-8F82-8E142AF8ECE6}" srcOrd="1" destOrd="0" presId="urn:microsoft.com/office/officeart/2005/8/layout/process2"/>
    <dgm:cxn modelId="{F046122D-E784-4511-8372-31C75F790AB2}" type="presOf" srcId="{2C01D7DC-2A03-4F54-95B5-70F2D135D3DE}" destId="{73D6BB4F-4D0E-4F0D-9D8E-026A8463C75D}" srcOrd="0" destOrd="0" presId="urn:microsoft.com/office/officeart/2005/8/layout/process2"/>
    <dgm:cxn modelId="{BD2E3739-8A04-47AA-9995-D4DE87B8E6B1}" srcId="{DAA0BAEC-B78B-4A8D-9BFB-A835B75EFC7A}" destId="{38ADDFBE-ABEC-4E38-82F8-6DBBF02391A6}" srcOrd="2" destOrd="0" parTransId="{3F1710E2-BAE8-4F1B-ABE2-78AF4C366C1C}" sibTransId="{02715F00-CC8E-46D5-937D-5F3B32124E4A}"/>
    <dgm:cxn modelId="{B0957E5C-2D85-40AB-9DCB-0370C79813FF}" type="presOf" srcId="{91F3EABB-6CD2-4970-95B1-EF9A54C1BF6D}" destId="{09C9038B-B660-46E2-B486-E66C7FD2D17E}" srcOrd="0" destOrd="0" presId="urn:microsoft.com/office/officeart/2005/8/layout/process2"/>
    <dgm:cxn modelId="{28887F6D-D9D9-4F90-82C8-203C8E08A210}" type="presOf" srcId="{91F3EABB-6CD2-4970-95B1-EF9A54C1BF6D}" destId="{C035693B-A4DB-49B9-843D-6CBE02E7D6E2}" srcOrd="1" destOrd="0" presId="urn:microsoft.com/office/officeart/2005/8/layout/process2"/>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0B2A0490-9F5B-424A-B01D-A4BB088AC42B}" type="presOf" srcId="{5CB45267-91C6-4D1F-AC53-1E48F037013B}" destId="{52C3659D-424B-480A-8E3F-877C6E7A3E57}"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EC46AE4-D634-4B13-BC63-1C936C00FA85}" srcId="{DAA0BAEC-B78B-4A8D-9BFB-A835B75EFC7A}" destId="{2C01D7DC-2A03-4F54-95B5-70F2D135D3DE}" srcOrd="1" destOrd="0" parTransId="{F99ECEBD-B6DE-487A-B95F-44D8A6EBFDD2}" sibTransId="{5CB45267-91C6-4D1F-AC53-1E48F037013B}"/>
    <dgm:cxn modelId="{D68E8E80-32E0-4421-9E7E-CDB2228E4473}" type="presParOf" srcId="{BEF35219-2B87-446E-B231-DBA5BBFA8883}" destId="{20AFE87E-8194-454B-813D-88A0B5ADCAD1}" srcOrd="0" destOrd="0" presId="urn:microsoft.com/office/officeart/2005/8/layout/process2"/>
    <dgm:cxn modelId="{8DB158FA-14E6-465E-81C4-F14E4BDB43D3}" type="presParOf" srcId="{BEF35219-2B87-446E-B231-DBA5BBFA8883}" destId="{09C9038B-B660-46E2-B486-E66C7FD2D17E}" srcOrd="1" destOrd="0" presId="urn:microsoft.com/office/officeart/2005/8/layout/process2"/>
    <dgm:cxn modelId="{FBC21B43-ED79-4BAF-97C2-F1364CE7B463}" type="presParOf" srcId="{09C9038B-B660-46E2-B486-E66C7FD2D17E}" destId="{C035693B-A4DB-49B9-843D-6CBE02E7D6E2}" srcOrd="0" destOrd="0" presId="urn:microsoft.com/office/officeart/2005/8/layout/process2"/>
    <dgm:cxn modelId="{66FA8E36-3357-404C-A2EA-D7A3AD1DB1E3}" type="presParOf" srcId="{BEF35219-2B87-446E-B231-DBA5BBFA8883}" destId="{73D6BB4F-4D0E-4F0D-9D8E-026A8463C75D}" srcOrd="2" destOrd="0" presId="urn:microsoft.com/office/officeart/2005/8/layout/process2"/>
    <dgm:cxn modelId="{4A16124B-83B4-4640-8543-2F05ADD090CA}" type="presParOf" srcId="{BEF35219-2B87-446E-B231-DBA5BBFA8883}" destId="{52C3659D-424B-480A-8E3F-877C6E7A3E57}" srcOrd="3" destOrd="0" presId="urn:microsoft.com/office/officeart/2005/8/layout/process2"/>
    <dgm:cxn modelId="{7D905C9D-DB77-47B9-8A22-0A5688DC2E48}" type="presParOf" srcId="{52C3659D-424B-480A-8E3F-877C6E7A3E57}" destId="{B5EAD845-87F6-4193-8F82-8E142AF8ECE6}" srcOrd="0" destOrd="0" presId="urn:microsoft.com/office/officeart/2005/8/layout/process2"/>
    <dgm:cxn modelId="{FF8B6FFF-8EC5-4896-A360-047647F6DDE2}" type="presParOf" srcId="{BEF35219-2B87-446E-B231-DBA5BBFA8883}" destId="{C206A823-6696-41D0-9096-8A3313B635C8}"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Average</a:t>
          </a:r>
        </a:p>
        <a:p>
          <a:r>
            <a:rPr lang="en-US" altLang="zh-CN" dirty="0"/>
            <a:t>transects </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38ADDFBE-ABEC-4E38-82F8-6DBBF02391A6}">
      <dgm:prSet phldrT="[文本]"/>
      <dgm:spPr/>
      <dgm:t>
        <a:bodyPr/>
        <a:lstStyle/>
        <a:p>
          <a:r>
            <a:rPr lang="en-US" altLang="zh-CN" dirty="0"/>
            <a:t>Merge</a:t>
          </a:r>
          <a:endParaRPr lang="zh-CN" altLang="en-US" dirty="0"/>
        </a:p>
      </dgm:t>
    </dgm:pt>
    <dgm:pt modelId="{3F1710E2-BAE8-4F1B-ABE2-78AF4C366C1C}" type="parTrans" cxnId="{BD2E3739-8A04-47AA-9995-D4DE87B8E6B1}">
      <dgm:prSet/>
      <dgm:spPr/>
      <dgm:t>
        <a:bodyPr/>
        <a:lstStyle/>
        <a:p>
          <a:endParaRPr lang="zh-CN" altLang="en-US"/>
        </a:p>
      </dgm:t>
    </dgm:pt>
    <dgm:pt modelId="{02715F00-CC8E-46D5-937D-5F3B32124E4A}" type="sibTrans" cxnId="{BD2E3739-8A04-47AA-9995-D4DE87B8E6B1}">
      <dgm:prSet/>
      <dgm:spPr/>
      <dgm:t>
        <a:bodyPr/>
        <a:lstStyle/>
        <a:p>
          <a:endParaRPr lang="zh-CN" altLang="en-US"/>
        </a:p>
      </dgm:t>
    </dgm:pt>
    <dgm:pt modelId="{2C01D7DC-2A03-4F54-95B5-70F2D135D3DE}">
      <dgm:prSet/>
      <dgm:spPr/>
      <dgm:t>
        <a:bodyPr/>
        <a:lstStyle/>
        <a:p>
          <a:r>
            <a:rPr lang="en-NZ" altLang="zh-CN" dirty="0"/>
            <a:t>Mean by month</a:t>
          </a:r>
          <a:endParaRPr lang="zh-CN" altLang="en-US" dirty="0"/>
        </a:p>
      </dgm:t>
    </dgm:pt>
    <dgm:pt modelId="{F99ECEBD-B6DE-487A-B95F-44D8A6EBFDD2}" type="parTrans" cxnId="{DEC46AE4-D634-4B13-BC63-1C936C00FA85}">
      <dgm:prSet/>
      <dgm:spPr/>
      <dgm:t>
        <a:bodyPr/>
        <a:lstStyle/>
        <a:p>
          <a:endParaRPr lang="zh-CN" altLang="en-US"/>
        </a:p>
      </dgm:t>
    </dgm:pt>
    <dgm:pt modelId="{5CB45267-91C6-4D1F-AC53-1E48F037013B}" type="sibTrans" cxnId="{DEC46AE4-D634-4B13-BC63-1C936C00FA85}">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3" custLinFactNeighborX="-21320" custLinFactNeighborY="-1541">
        <dgm:presLayoutVars>
          <dgm:bulletEnabled val="1"/>
        </dgm:presLayoutVars>
      </dgm:prSet>
      <dgm:spPr/>
    </dgm:pt>
    <dgm:pt modelId="{09C9038B-B660-46E2-B486-E66C7FD2D17E}" type="pres">
      <dgm:prSet presAssocID="{91F3EABB-6CD2-4970-95B1-EF9A54C1BF6D}" presName="sibTrans" presStyleLbl="sibTrans2D1" presStyleIdx="0" presStyleCnt="2"/>
      <dgm:spPr/>
    </dgm:pt>
    <dgm:pt modelId="{C035693B-A4DB-49B9-843D-6CBE02E7D6E2}" type="pres">
      <dgm:prSet presAssocID="{91F3EABB-6CD2-4970-95B1-EF9A54C1BF6D}" presName="connectorText" presStyleLbl="sibTrans2D1" presStyleIdx="0" presStyleCnt="2"/>
      <dgm:spPr/>
    </dgm:pt>
    <dgm:pt modelId="{73D6BB4F-4D0E-4F0D-9D8E-026A8463C75D}" type="pres">
      <dgm:prSet presAssocID="{2C01D7DC-2A03-4F54-95B5-70F2D135D3DE}" presName="node" presStyleLbl="node1" presStyleIdx="1" presStyleCnt="3">
        <dgm:presLayoutVars>
          <dgm:bulletEnabled val="1"/>
        </dgm:presLayoutVars>
      </dgm:prSet>
      <dgm:spPr/>
    </dgm:pt>
    <dgm:pt modelId="{52C3659D-424B-480A-8E3F-877C6E7A3E57}" type="pres">
      <dgm:prSet presAssocID="{5CB45267-91C6-4D1F-AC53-1E48F037013B}" presName="sibTrans" presStyleLbl="sibTrans2D1" presStyleIdx="1" presStyleCnt="2"/>
      <dgm:spPr/>
    </dgm:pt>
    <dgm:pt modelId="{B5EAD845-87F6-4193-8F82-8E142AF8ECE6}" type="pres">
      <dgm:prSet presAssocID="{5CB45267-91C6-4D1F-AC53-1E48F037013B}" presName="connectorText" presStyleLbl="sibTrans2D1" presStyleIdx="1" presStyleCnt="2"/>
      <dgm:spPr/>
    </dgm:pt>
    <dgm:pt modelId="{C206A823-6696-41D0-9096-8A3313B635C8}" type="pres">
      <dgm:prSet presAssocID="{38ADDFBE-ABEC-4E38-82F8-6DBBF02391A6}" presName="node" presStyleLbl="node1" presStyleIdx="2" presStyleCnt="3">
        <dgm:presLayoutVars>
          <dgm:bulletEnabled val="1"/>
        </dgm:presLayoutVars>
      </dgm:prSet>
      <dgm:spPr/>
    </dgm:pt>
  </dgm:ptLst>
  <dgm:cxnLst>
    <dgm:cxn modelId="{A55D8C10-CDBE-43F9-BDD6-A13717FCFF8C}" type="presOf" srcId="{38ADDFBE-ABEC-4E38-82F8-6DBBF02391A6}" destId="{C206A823-6696-41D0-9096-8A3313B635C8}" srcOrd="0" destOrd="0" presId="urn:microsoft.com/office/officeart/2005/8/layout/process2"/>
    <dgm:cxn modelId="{E5398923-F1ED-445E-A7CB-4DAC00879040}" type="presOf" srcId="{5CB45267-91C6-4D1F-AC53-1E48F037013B}" destId="{B5EAD845-87F6-4193-8F82-8E142AF8ECE6}" srcOrd="1" destOrd="0" presId="urn:microsoft.com/office/officeart/2005/8/layout/process2"/>
    <dgm:cxn modelId="{F046122D-E784-4511-8372-31C75F790AB2}" type="presOf" srcId="{2C01D7DC-2A03-4F54-95B5-70F2D135D3DE}" destId="{73D6BB4F-4D0E-4F0D-9D8E-026A8463C75D}" srcOrd="0" destOrd="0" presId="urn:microsoft.com/office/officeart/2005/8/layout/process2"/>
    <dgm:cxn modelId="{BD2E3739-8A04-47AA-9995-D4DE87B8E6B1}" srcId="{DAA0BAEC-B78B-4A8D-9BFB-A835B75EFC7A}" destId="{38ADDFBE-ABEC-4E38-82F8-6DBBF02391A6}" srcOrd="2" destOrd="0" parTransId="{3F1710E2-BAE8-4F1B-ABE2-78AF4C366C1C}" sibTransId="{02715F00-CC8E-46D5-937D-5F3B32124E4A}"/>
    <dgm:cxn modelId="{B0957E5C-2D85-40AB-9DCB-0370C79813FF}" type="presOf" srcId="{91F3EABB-6CD2-4970-95B1-EF9A54C1BF6D}" destId="{09C9038B-B660-46E2-B486-E66C7FD2D17E}" srcOrd="0" destOrd="0" presId="urn:microsoft.com/office/officeart/2005/8/layout/process2"/>
    <dgm:cxn modelId="{28887F6D-D9D9-4F90-82C8-203C8E08A210}" type="presOf" srcId="{91F3EABB-6CD2-4970-95B1-EF9A54C1BF6D}" destId="{C035693B-A4DB-49B9-843D-6CBE02E7D6E2}" srcOrd="1" destOrd="0" presId="urn:microsoft.com/office/officeart/2005/8/layout/process2"/>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0B2A0490-9F5B-424A-B01D-A4BB088AC42B}" type="presOf" srcId="{5CB45267-91C6-4D1F-AC53-1E48F037013B}" destId="{52C3659D-424B-480A-8E3F-877C6E7A3E57}"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EC46AE4-D634-4B13-BC63-1C936C00FA85}" srcId="{DAA0BAEC-B78B-4A8D-9BFB-A835B75EFC7A}" destId="{2C01D7DC-2A03-4F54-95B5-70F2D135D3DE}" srcOrd="1" destOrd="0" parTransId="{F99ECEBD-B6DE-487A-B95F-44D8A6EBFDD2}" sibTransId="{5CB45267-91C6-4D1F-AC53-1E48F037013B}"/>
    <dgm:cxn modelId="{D68E8E80-32E0-4421-9E7E-CDB2228E4473}" type="presParOf" srcId="{BEF35219-2B87-446E-B231-DBA5BBFA8883}" destId="{20AFE87E-8194-454B-813D-88A0B5ADCAD1}" srcOrd="0" destOrd="0" presId="urn:microsoft.com/office/officeart/2005/8/layout/process2"/>
    <dgm:cxn modelId="{8DB158FA-14E6-465E-81C4-F14E4BDB43D3}" type="presParOf" srcId="{BEF35219-2B87-446E-B231-DBA5BBFA8883}" destId="{09C9038B-B660-46E2-B486-E66C7FD2D17E}" srcOrd="1" destOrd="0" presId="urn:microsoft.com/office/officeart/2005/8/layout/process2"/>
    <dgm:cxn modelId="{FBC21B43-ED79-4BAF-97C2-F1364CE7B463}" type="presParOf" srcId="{09C9038B-B660-46E2-B486-E66C7FD2D17E}" destId="{C035693B-A4DB-49B9-843D-6CBE02E7D6E2}" srcOrd="0" destOrd="0" presId="urn:microsoft.com/office/officeart/2005/8/layout/process2"/>
    <dgm:cxn modelId="{66FA8E36-3357-404C-A2EA-D7A3AD1DB1E3}" type="presParOf" srcId="{BEF35219-2B87-446E-B231-DBA5BBFA8883}" destId="{73D6BB4F-4D0E-4F0D-9D8E-026A8463C75D}" srcOrd="2" destOrd="0" presId="urn:microsoft.com/office/officeart/2005/8/layout/process2"/>
    <dgm:cxn modelId="{4A16124B-83B4-4640-8543-2F05ADD090CA}" type="presParOf" srcId="{BEF35219-2B87-446E-B231-DBA5BBFA8883}" destId="{52C3659D-424B-480A-8E3F-877C6E7A3E57}" srcOrd="3" destOrd="0" presId="urn:microsoft.com/office/officeart/2005/8/layout/process2"/>
    <dgm:cxn modelId="{7D905C9D-DB77-47B9-8A22-0A5688DC2E48}" type="presParOf" srcId="{52C3659D-424B-480A-8E3F-877C6E7A3E57}" destId="{B5EAD845-87F6-4193-8F82-8E142AF8ECE6}" srcOrd="0" destOrd="0" presId="urn:microsoft.com/office/officeart/2005/8/layout/process2"/>
    <dgm:cxn modelId="{FF8B6FFF-8EC5-4896-A360-047647F6DDE2}" type="presParOf" srcId="{BEF35219-2B87-446E-B231-DBA5BBFA8883}" destId="{C206A823-6696-41D0-9096-8A3313B635C8}"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Cross-correlation</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1" custLinFactNeighborX="-4297" custLinFactNeighborY="-36623">
        <dgm:presLayoutVars>
          <dgm:bulletEnabled val="1"/>
        </dgm:presLayoutVars>
      </dgm:prSet>
      <dgm:spPr/>
    </dgm:pt>
  </dgm:ptLst>
  <dgm:cxnLst>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68E8E80-32E0-4421-9E7E-CDB2228E4473}" type="presParOf" srcId="{BEF35219-2B87-446E-B231-DBA5BBFA8883}" destId="{20AFE87E-8194-454B-813D-88A0B5ADCAD1}" srcOrd="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Cross-correlation</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1" custLinFactNeighborX="-4297" custLinFactNeighborY="-36623">
        <dgm:presLayoutVars>
          <dgm:bulletEnabled val="1"/>
        </dgm:presLayoutVars>
      </dgm:prSet>
      <dgm:spPr/>
    </dgm:pt>
  </dgm:ptLst>
  <dgm:cxnLst>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68E8E80-32E0-4421-9E7E-CDB2228E4473}" type="presParOf" srcId="{BEF35219-2B87-446E-B231-DBA5BBFA8883}" destId="{20AFE87E-8194-454B-813D-88A0B5ADCAD1}" srcOrd="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dgm:spPr/>
      <dgm:t>
        <a:bodyPr/>
        <a:lstStyle/>
        <a:p>
          <a:r>
            <a:rPr lang="en-US" altLang="zh-CN" dirty="0"/>
            <a:t>Cross-correlation</a:t>
          </a:r>
          <a:endParaRPr lang="zh-CN" altLang="en-US" dirty="0"/>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1" custLinFactNeighborX="-4297" custLinFactNeighborY="-36623">
        <dgm:presLayoutVars>
          <dgm:bulletEnabled val="1"/>
        </dgm:presLayoutVars>
      </dgm:prSet>
      <dgm:spPr/>
    </dgm:pt>
  </dgm:ptLst>
  <dgm:cxnLst>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68E8E80-32E0-4421-9E7E-CDB2228E4473}" type="presParOf" srcId="{BEF35219-2B87-446E-B231-DBA5BBFA8883}" destId="{20AFE87E-8194-454B-813D-88A0B5ADCAD1}" srcOrd="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A0BAEC-B78B-4A8D-9BFB-A835B75EFC7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84E0CBFF-6ACB-42A8-B537-6E9C9DBD6220}">
      <dgm:prSet phldrT="[文本]" phldr="0" custT="1"/>
      <dgm:spPr/>
      <dgm:t>
        <a:bodyPr/>
        <a:lstStyle/>
        <a:p>
          <a:r>
            <a:rPr lang="en-US" altLang="zh-CN" sz="1700" kern="1200" dirty="0">
              <a:solidFill>
                <a:prstClr val="white"/>
              </a:solidFill>
              <a:latin typeface="Gill Sans MT" panose="020B0502020104020203"/>
              <a:ea typeface="华文中宋" panose="02010600040101010101" pitchFamily="2" charset="-122"/>
              <a:cs typeface="+mn-cs"/>
            </a:rPr>
            <a:t>Wavelet</a:t>
          </a:r>
        </a:p>
        <a:p>
          <a:r>
            <a:rPr lang="en-US" altLang="zh-CN" sz="1700" kern="1200" dirty="0">
              <a:solidFill>
                <a:prstClr val="white"/>
              </a:solidFill>
              <a:latin typeface="Gill Sans MT" panose="020B0502020104020203"/>
              <a:ea typeface="华文中宋" panose="02010600040101010101" pitchFamily="2" charset="-122"/>
              <a:cs typeface="+mn-cs"/>
            </a:rPr>
            <a:t>Analysis </a:t>
          </a:r>
          <a:r>
            <a:rPr lang="zh-CN" altLang="en-US" sz="1700" kern="1200" dirty="0">
              <a:solidFill>
                <a:prstClr val="white"/>
              </a:solidFill>
              <a:latin typeface="Gill Sans MT" panose="020B0502020104020203"/>
              <a:ea typeface="华文中宋" panose="02010600040101010101" pitchFamily="2" charset="-122"/>
              <a:cs typeface="+mn-cs"/>
            </a:rPr>
            <a:t>（</a:t>
          </a:r>
          <a:r>
            <a:rPr lang="en-US" altLang="zh-CN" sz="1700" kern="1200" dirty="0">
              <a:solidFill>
                <a:prstClr val="white"/>
              </a:solidFill>
              <a:latin typeface="Gill Sans MT" panose="020B0502020104020203"/>
              <a:ea typeface="华文中宋" panose="02010600040101010101" pitchFamily="2" charset="-122"/>
              <a:cs typeface="+mn-cs"/>
            </a:rPr>
            <a:t>R</a:t>
          </a:r>
          <a:r>
            <a:rPr lang="zh-CN" altLang="en-US" sz="1700" kern="1200" dirty="0">
              <a:solidFill>
                <a:prstClr val="white"/>
              </a:solidFill>
              <a:latin typeface="Gill Sans MT" panose="020B0502020104020203"/>
              <a:ea typeface="华文中宋" panose="02010600040101010101" pitchFamily="2" charset="-122"/>
              <a:cs typeface="+mn-cs"/>
            </a:rPr>
            <a:t>）</a:t>
          </a:r>
        </a:p>
      </dgm:t>
    </dgm:pt>
    <dgm:pt modelId="{FD874097-6C75-4504-8C1E-09C6DDAA6524}" type="parTrans" cxnId="{C1641F52-E8FB-4C97-AC9D-18C234BD7BBC}">
      <dgm:prSet/>
      <dgm:spPr/>
      <dgm:t>
        <a:bodyPr/>
        <a:lstStyle/>
        <a:p>
          <a:endParaRPr lang="zh-CN" altLang="en-US"/>
        </a:p>
      </dgm:t>
    </dgm:pt>
    <dgm:pt modelId="{91F3EABB-6CD2-4970-95B1-EF9A54C1BF6D}" type="sibTrans" cxnId="{C1641F52-E8FB-4C97-AC9D-18C234BD7BBC}">
      <dgm:prSet/>
      <dgm:spPr/>
      <dgm:t>
        <a:bodyPr/>
        <a:lstStyle/>
        <a:p>
          <a:endParaRPr lang="zh-CN" altLang="en-US"/>
        </a:p>
      </dgm:t>
    </dgm:pt>
    <dgm:pt modelId="{BEF35219-2B87-446E-B231-DBA5BBFA8883}" type="pres">
      <dgm:prSet presAssocID="{DAA0BAEC-B78B-4A8D-9BFB-A835B75EFC7A}" presName="linearFlow" presStyleCnt="0">
        <dgm:presLayoutVars>
          <dgm:resizeHandles val="exact"/>
        </dgm:presLayoutVars>
      </dgm:prSet>
      <dgm:spPr/>
    </dgm:pt>
    <dgm:pt modelId="{20AFE87E-8194-454B-813D-88A0B5ADCAD1}" type="pres">
      <dgm:prSet presAssocID="{84E0CBFF-6ACB-42A8-B537-6E9C9DBD6220}" presName="node" presStyleLbl="node1" presStyleIdx="0" presStyleCnt="1" custLinFactNeighborX="-8850" custLinFactNeighborY="-481">
        <dgm:presLayoutVars>
          <dgm:bulletEnabled val="1"/>
        </dgm:presLayoutVars>
      </dgm:prSet>
      <dgm:spPr/>
    </dgm:pt>
  </dgm:ptLst>
  <dgm:cxnLst>
    <dgm:cxn modelId="{C1641F52-E8FB-4C97-AC9D-18C234BD7BBC}" srcId="{DAA0BAEC-B78B-4A8D-9BFB-A835B75EFC7A}" destId="{84E0CBFF-6ACB-42A8-B537-6E9C9DBD6220}" srcOrd="0" destOrd="0" parTransId="{FD874097-6C75-4504-8C1E-09C6DDAA6524}" sibTransId="{91F3EABB-6CD2-4970-95B1-EF9A54C1BF6D}"/>
    <dgm:cxn modelId="{36D52A52-D82F-4F69-A2D1-CA0D5A7EF4C3}" type="presOf" srcId="{DAA0BAEC-B78B-4A8D-9BFB-A835B75EFC7A}" destId="{BEF35219-2B87-446E-B231-DBA5BBFA8883}" srcOrd="0" destOrd="0" presId="urn:microsoft.com/office/officeart/2005/8/layout/process2"/>
    <dgm:cxn modelId="{E29E6FD8-2360-4BA4-AE12-C936A4AE8E03}" type="presOf" srcId="{84E0CBFF-6ACB-42A8-B537-6E9C9DBD6220}" destId="{20AFE87E-8194-454B-813D-88A0B5ADCAD1}" srcOrd="0" destOrd="0" presId="urn:microsoft.com/office/officeart/2005/8/layout/process2"/>
    <dgm:cxn modelId="{D68E8E80-32E0-4421-9E7E-CDB2228E4473}" type="presParOf" srcId="{BEF35219-2B87-446E-B231-DBA5BBFA8883}" destId="{20AFE87E-8194-454B-813D-88A0B5ADCAD1}" srcOrd="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EB9D324-04CA-4E40-8D6D-15AF08D89C0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1E0E567E-DE84-4BE5-B547-ADDA8E115B3C}">
      <dgm:prSet/>
      <dgm:spPr/>
      <dgm:t>
        <a:bodyPr/>
        <a:lstStyle/>
        <a:p>
          <a:r>
            <a:rPr lang="en-NZ" dirty="0"/>
            <a:t>SOI (Southern Oscillation Index)</a:t>
          </a:r>
          <a:r>
            <a:rPr lang="zh-CN" dirty="0"/>
            <a:t>：</a:t>
          </a:r>
          <a:endParaRPr lang="en-US" altLang="zh-CN" dirty="0"/>
        </a:p>
        <a:p>
          <a:r>
            <a:rPr lang="en-NZ" dirty="0"/>
            <a:t>the sea-level pressure difference between Tahiti and Darwin to track </a:t>
          </a:r>
          <a:r>
            <a:rPr lang="en-NZ" dirty="0" err="1"/>
            <a:t>ENSO’s</a:t>
          </a:r>
          <a:r>
            <a:rPr lang="en-NZ" dirty="0"/>
            <a:t> atmospheric state—negative values typically indicate El Niño and positive values indicate La Niña. </a:t>
          </a:r>
          <a:r>
            <a:rPr lang="en-US" dirty="0"/>
            <a:t>Eastern Pacific pressure. Western Pacific pressure (</a:t>
          </a:r>
          <a:r>
            <a:rPr lang="en-US" dirty="0" err="1"/>
            <a:t>Restandardized</a:t>
          </a:r>
          <a:r>
            <a:rPr lang="en-US" dirty="0"/>
            <a:t>)</a:t>
          </a:r>
          <a:endParaRPr lang="zh-CN" dirty="0"/>
        </a:p>
      </dgm:t>
    </dgm:pt>
    <dgm:pt modelId="{2F514B20-B5A2-47B4-BA5C-B906D739FD27}" type="parTrans" cxnId="{D75D3A73-29F5-439F-B2C6-712536DDD000}">
      <dgm:prSet/>
      <dgm:spPr/>
      <dgm:t>
        <a:bodyPr/>
        <a:lstStyle/>
        <a:p>
          <a:endParaRPr lang="zh-CN" altLang="en-US"/>
        </a:p>
      </dgm:t>
    </dgm:pt>
    <dgm:pt modelId="{C2EB800A-3285-48F9-94C9-45401B6DF883}" type="sibTrans" cxnId="{D75D3A73-29F5-439F-B2C6-712536DDD000}">
      <dgm:prSet/>
      <dgm:spPr/>
      <dgm:t>
        <a:bodyPr/>
        <a:lstStyle/>
        <a:p>
          <a:endParaRPr lang="zh-CN" altLang="en-US"/>
        </a:p>
      </dgm:t>
    </dgm:pt>
    <dgm:pt modelId="{7435FA4F-4464-4500-BB68-86F8CB2FB752}">
      <dgm:prSet/>
      <dgm:spPr/>
      <dgm:t>
        <a:bodyPr/>
        <a:lstStyle/>
        <a:p>
          <a:r>
            <a:rPr lang="en-NZ" dirty="0" err="1"/>
            <a:t>PDO</a:t>
          </a:r>
          <a:r>
            <a:rPr lang="en-NZ" dirty="0"/>
            <a:t> (Pacific Decadal Oscillation): </a:t>
          </a:r>
        </a:p>
        <a:p>
          <a:r>
            <a:rPr lang="en-US" dirty="0"/>
            <a:t>A decadal-scale “warm vs. cool” sea-surface temperature pattern in the North Pacific that shifts climate and rainfall patterns.</a:t>
          </a:r>
          <a:endParaRPr lang="zh-CN" dirty="0"/>
        </a:p>
      </dgm:t>
    </dgm:pt>
    <dgm:pt modelId="{289AE2CD-A2FA-4552-B657-37EA050311F4}" type="parTrans" cxnId="{52DF94AB-7C91-47A9-A3D7-CEED717DC1B9}">
      <dgm:prSet/>
      <dgm:spPr/>
      <dgm:t>
        <a:bodyPr/>
        <a:lstStyle/>
        <a:p>
          <a:endParaRPr lang="zh-CN" altLang="en-US"/>
        </a:p>
      </dgm:t>
    </dgm:pt>
    <dgm:pt modelId="{2547641D-58CF-46BC-8DDA-B32E33283719}" type="sibTrans" cxnId="{52DF94AB-7C91-47A9-A3D7-CEED717DC1B9}">
      <dgm:prSet/>
      <dgm:spPr/>
      <dgm:t>
        <a:bodyPr/>
        <a:lstStyle/>
        <a:p>
          <a:endParaRPr lang="zh-CN" altLang="en-US"/>
        </a:p>
      </dgm:t>
    </dgm:pt>
    <dgm:pt modelId="{61BBF0E7-5BD9-44A1-90AB-1801C7896893}">
      <dgm:prSet/>
      <dgm:spPr/>
      <dgm:t>
        <a:bodyPr/>
        <a:lstStyle/>
        <a:p>
          <a:r>
            <a:rPr lang="en-NZ" dirty="0"/>
            <a:t>IOD/</a:t>
          </a:r>
          <a:r>
            <a:rPr lang="en-NZ" dirty="0" err="1"/>
            <a:t>DMI</a:t>
          </a:r>
          <a:r>
            <a:rPr lang="en-NZ" dirty="0"/>
            <a:t> (Indian Ocean Dipole):</a:t>
          </a:r>
          <a:r>
            <a:rPr lang="en-US" dirty="0"/>
            <a:t> </a:t>
          </a:r>
        </a:p>
        <a:p>
          <a:r>
            <a:rPr lang="en-US" dirty="0"/>
            <a:t>Measures the west–east sea-surface temperature contrast in the Indian Ocean (quantified by </a:t>
          </a:r>
          <a:r>
            <a:rPr lang="en-US" dirty="0" err="1"/>
            <a:t>DMI</a:t>
          </a:r>
          <a:r>
            <a:rPr lang="en-US" dirty="0"/>
            <a:t>), shaping monsoon strength and rainfall. SST′(Western Indian Ocean) − SST</a:t>
          </a:r>
          <a:r>
            <a:rPr lang="zh-CN" dirty="0"/>
            <a:t>′</a:t>
          </a:r>
          <a:r>
            <a:rPr lang="en-US" dirty="0"/>
            <a:t>(Southeastern/Eastern Indian Ocean)</a:t>
          </a:r>
          <a:endParaRPr lang="zh-CN" dirty="0"/>
        </a:p>
      </dgm:t>
    </dgm:pt>
    <dgm:pt modelId="{D1AF94EA-410E-483B-BACF-87FF7BA30CA6}" type="parTrans" cxnId="{80E2C9BE-4544-4393-AEEF-E5033555E6C2}">
      <dgm:prSet/>
      <dgm:spPr/>
      <dgm:t>
        <a:bodyPr/>
        <a:lstStyle/>
        <a:p>
          <a:endParaRPr lang="zh-CN" altLang="en-US"/>
        </a:p>
      </dgm:t>
    </dgm:pt>
    <dgm:pt modelId="{5AAD4C3F-4390-410B-835C-619D3C89D462}" type="sibTrans" cxnId="{80E2C9BE-4544-4393-AEEF-E5033555E6C2}">
      <dgm:prSet/>
      <dgm:spPr/>
      <dgm:t>
        <a:bodyPr/>
        <a:lstStyle/>
        <a:p>
          <a:endParaRPr lang="zh-CN" altLang="en-US"/>
        </a:p>
      </dgm:t>
    </dgm:pt>
    <dgm:pt modelId="{FA64CFA0-2B1C-4502-9F90-7953482B8728}">
      <dgm:prSet/>
      <dgm:spPr/>
      <dgm:t>
        <a:bodyPr/>
        <a:lstStyle/>
        <a:p>
          <a:r>
            <a:rPr lang="en-NZ" dirty="0"/>
            <a:t>SAM (Southern Annular Mode): </a:t>
          </a:r>
        </a:p>
        <a:p>
          <a:r>
            <a:rPr lang="en-US" dirty="0"/>
            <a:t>Tracks how the Southern Hemisphere westerly wind belt strengthens and shifts north–south, affecting storm tracks and weather/ocean conditions.</a:t>
          </a:r>
          <a:endParaRPr lang="zh-CN" dirty="0"/>
        </a:p>
      </dgm:t>
    </dgm:pt>
    <dgm:pt modelId="{B6EB38EB-DE14-448A-B82C-5561A6D6BDDF}" type="parTrans" cxnId="{9555240F-4198-4DD6-9276-BA0E189F4987}">
      <dgm:prSet/>
      <dgm:spPr/>
      <dgm:t>
        <a:bodyPr/>
        <a:lstStyle/>
        <a:p>
          <a:endParaRPr lang="zh-CN" altLang="en-US"/>
        </a:p>
      </dgm:t>
    </dgm:pt>
    <dgm:pt modelId="{8A72BF91-6F09-4632-9972-D66D40B8674E}" type="sibTrans" cxnId="{9555240F-4198-4DD6-9276-BA0E189F4987}">
      <dgm:prSet/>
      <dgm:spPr/>
      <dgm:t>
        <a:bodyPr/>
        <a:lstStyle/>
        <a:p>
          <a:endParaRPr lang="zh-CN" altLang="en-US"/>
        </a:p>
      </dgm:t>
    </dgm:pt>
    <dgm:pt modelId="{95EBCACE-A965-44AF-9C75-1805987AC2BC}">
      <dgm:prSet/>
      <dgm:spPr/>
      <dgm:t>
        <a:bodyPr/>
        <a:lstStyle/>
        <a:p>
          <a:r>
            <a:rPr lang="en-NZ" dirty="0" err="1"/>
            <a:t>ZW3</a:t>
          </a:r>
          <a:r>
            <a:rPr lang="en-NZ" dirty="0"/>
            <a:t> (Zonal Wave 3): </a:t>
          </a:r>
        </a:p>
        <a:p>
          <a:r>
            <a:rPr lang="en-US" dirty="0"/>
            <a:t>A Southern Ocean/Antarctic circulation pattern with three repeating ridges and troughs around the hemisphere, influencing winds and regional climate.</a:t>
          </a:r>
          <a:endParaRPr lang="zh-CN" dirty="0"/>
        </a:p>
      </dgm:t>
    </dgm:pt>
    <dgm:pt modelId="{FCE50D78-5F6F-44BE-89C6-0FF04FEF12FB}" type="parTrans" cxnId="{E2CC24CB-6060-4FD1-BAD0-5245B6B8019D}">
      <dgm:prSet/>
      <dgm:spPr/>
      <dgm:t>
        <a:bodyPr/>
        <a:lstStyle/>
        <a:p>
          <a:endParaRPr lang="zh-CN" altLang="en-US"/>
        </a:p>
      </dgm:t>
    </dgm:pt>
    <dgm:pt modelId="{587E2AA6-067C-4BDB-AF62-86EF5AF6A08B}" type="sibTrans" cxnId="{E2CC24CB-6060-4FD1-BAD0-5245B6B8019D}">
      <dgm:prSet/>
      <dgm:spPr/>
      <dgm:t>
        <a:bodyPr/>
        <a:lstStyle/>
        <a:p>
          <a:endParaRPr lang="zh-CN" altLang="en-US"/>
        </a:p>
      </dgm:t>
    </dgm:pt>
    <dgm:pt modelId="{BC4E535D-2516-4C2B-AE0D-A9415CFD5397}" type="pres">
      <dgm:prSet presAssocID="{0EB9D324-04CA-4E40-8D6D-15AF08D89C0E}" presName="linear" presStyleCnt="0">
        <dgm:presLayoutVars>
          <dgm:animLvl val="lvl"/>
          <dgm:resizeHandles val="exact"/>
        </dgm:presLayoutVars>
      </dgm:prSet>
      <dgm:spPr/>
    </dgm:pt>
    <dgm:pt modelId="{422E3FAC-B373-46CC-8A06-33E08A6D0942}" type="pres">
      <dgm:prSet presAssocID="{1E0E567E-DE84-4BE5-B547-ADDA8E115B3C}" presName="parentText" presStyleLbl="node1" presStyleIdx="0" presStyleCnt="5">
        <dgm:presLayoutVars>
          <dgm:chMax val="0"/>
          <dgm:bulletEnabled val="1"/>
        </dgm:presLayoutVars>
      </dgm:prSet>
      <dgm:spPr/>
    </dgm:pt>
    <dgm:pt modelId="{877FF273-171F-4F4B-95EE-FA10911CAEB9}" type="pres">
      <dgm:prSet presAssocID="{C2EB800A-3285-48F9-94C9-45401B6DF883}" presName="spacer" presStyleCnt="0"/>
      <dgm:spPr/>
    </dgm:pt>
    <dgm:pt modelId="{DD3DDB68-F9DC-4BDE-8A5E-8450870C2869}" type="pres">
      <dgm:prSet presAssocID="{7435FA4F-4464-4500-BB68-86F8CB2FB752}" presName="parentText" presStyleLbl="node1" presStyleIdx="1" presStyleCnt="5">
        <dgm:presLayoutVars>
          <dgm:chMax val="0"/>
          <dgm:bulletEnabled val="1"/>
        </dgm:presLayoutVars>
      </dgm:prSet>
      <dgm:spPr/>
    </dgm:pt>
    <dgm:pt modelId="{124C7B0C-3C2B-42F8-8868-C9F4695DBB5C}" type="pres">
      <dgm:prSet presAssocID="{2547641D-58CF-46BC-8DDA-B32E33283719}" presName="spacer" presStyleCnt="0"/>
      <dgm:spPr/>
    </dgm:pt>
    <dgm:pt modelId="{4A9715E7-7FC1-467F-9099-73F8DC7E7B32}" type="pres">
      <dgm:prSet presAssocID="{61BBF0E7-5BD9-44A1-90AB-1801C7896893}" presName="parentText" presStyleLbl="node1" presStyleIdx="2" presStyleCnt="5">
        <dgm:presLayoutVars>
          <dgm:chMax val="0"/>
          <dgm:bulletEnabled val="1"/>
        </dgm:presLayoutVars>
      </dgm:prSet>
      <dgm:spPr/>
    </dgm:pt>
    <dgm:pt modelId="{EF13756B-C9E1-4D4C-8F46-C173832DC1B8}" type="pres">
      <dgm:prSet presAssocID="{5AAD4C3F-4390-410B-835C-619D3C89D462}" presName="spacer" presStyleCnt="0"/>
      <dgm:spPr/>
    </dgm:pt>
    <dgm:pt modelId="{7EA8EEA4-1479-4F2F-A63B-49A72D93E47B}" type="pres">
      <dgm:prSet presAssocID="{FA64CFA0-2B1C-4502-9F90-7953482B8728}" presName="parentText" presStyleLbl="node1" presStyleIdx="3" presStyleCnt="5">
        <dgm:presLayoutVars>
          <dgm:chMax val="0"/>
          <dgm:bulletEnabled val="1"/>
        </dgm:presLayoutVars>
      </dgm:prSet>
      <dgm:spPr/>
    </dgm:pt>
    <dgm:pt modelId="{3E737562-9C9B-45A3-92A9-1C2FC5C06C68}" type="pres">
      <dgm:prSet presAssocID="{8A72BF91-6F09-4632-9972-D66D40B8674E}" presName="spacer" presStyleCnt="0"/>
      <dgm:spPr/>
    </dgm:pt>
    <dgm:pt modelId="{528F97A3-CF0A-422F-BBA1-48C7D090E8E2}" type="pres">
      <dgm:prSet presAssocID="{95EBCACE-A965-44AF-9C75-1805987AC2BC}" presName="parentText" presStyleLbl="node1" presStyleIdx="4" presStyleCnt="5">
        <dgm:presLayoutVars>
          <dgm:chMax val="0"/>
          <dgm:bulletEnabled val="1"/>
        </dgm:presLayoutVars>
      </dgm:prSet>
      <dgm:spPr/>
    </dgm:pt>
  </dgm:ptLst>
  <dgm:cxnLst>
    <dgm:cxn modelId="{9555240F-4198-4DD6-9276-BA0E189F4987}" srcId="{0EB9D324-04CA-4E40-8D6D-15AF08D89C0E}" destId="{FA64CFA0-2B1C-4502-9F90-7953482B8728}" srcOrd="3" destOrd="0" parTransId="{B6EB38EB-DE14-448A-B82C-5561A6D6BDDF}" sibTransId="{8A72BF91-6F09-4632-9972-D66D40B8674E}"/>
    <dgm:cxn modelId="{1484BD61-3957-4852-BFB3-1BBABFD94667}" type="presOf" srcId="{FA64CFA0-2B1C-4502-9F90-7953482B8728}" destId="{7EA8EEA4-1479-4F2F-A63B-49A72D93E47B}" srcOrd="0" destOrd="0" presId="urn:microsoft.com/office/officeart/2005/8/layout/vList2"/>
    <dgm:cxn modelId="{D75D3A73-29F5-439F-B2C6-712536DDD000}" srcId="{0EB9D324-04CA-4E40-8D6D-15AF08D89C0E}" destId="{1E0E567E-DE84-4BE5-B547-ADDA8E115B3C}" srcOrd="0" destOrd="0" parTransId="{2F514B20-B5A2-47B4-BA5C-B906D739FD27}" sibTransId="{C2EB800A-3285-48F9-94C9-45401B6DF883}"/>
    <dgm:cxn modelId="{E549ECA5-1FD5-4939-8029-7C7BA4C2203F}" type="presOf" srcId="{0EB9D324-04CA-4E40-8D6D-15AF08D89C0E}" destId="{BC4E535D-2516-4C2B-AE0D-A9415CFD5397}" srcOrd="0" destOrd="0" presId="urn:microsoft.com/office/officeart/2005/8/layout/vList2"/>
    <dgm:cxn modelId="{52DF94AB-7C91-47A9-A3D7-CEED717DC1B9}" srcId="{0EB9D324-04CA-4E40-8D6D-15AF08D89C0E}" destId="{7435FA4F-4464-4500-BB68-86F8CB2FB752}" srcOrd="1" destOrd="0" parTransId="{289AE2CD-A2FA-4552-B657-37EA050311F4}" sibTransId="{2547641D-58CF-46BC-8DDA-B32E33283719}"/>
    <dgm:cxn modelId="{7CFA24B6-D20A-4061-939E-4EBF1DC297FA}" type="presOf" srcId="{61BBF0E7-5BD9-44A1-90AB-1801C7896893}" destId="{4A9715E7-7FC1-467F-9099-73F8DC7E7B32}" srcOrd="0" destOrd="0" presId="urn:microsoft.com/office/officeart/2005/8/layout/vList2"/>
    <dgm:cxn modelId="{80E2C9BE-4544-4393-AEEF-E5033555E6C2}" srcId="{0EB9D324-04CA-4E40-8D6D-15AF08D89C0E}" destId="{61BBF0E7-5BD9-44A1-90AB-1801C7896893}" srcOrd="2" destOrd="0" parTransId="{D1AF94EA-410E-483B-BACF-87FF7BA30CA6}" sibTransId="{5AAD4C3F-4390-410B-835C-619D3C89D462}"/>
    <dgm:cxn modelId="{E6AECFC8-B793-4D91-B87C-1F1B557467B3}" type="presOf" srcId="{1E0E567E-DE84-4BE5-B547-ADDA8E115B3C}" destId="{422E3FAC-B373-46CC-8A06-33E08A6D0942}" srcOrd="0" destOrd="0" presId="urn:microsoft.com/office/officeart/2005/8/layout/vList2"/>
    <dgm:cxn modelId="{E2CC24CB-6060-4FD1-BAD0-5245B6B8019D}" srcId="{0EB9D324-04CA-4E40-8D6D-15AF08D89C0E}" destId="{95EBCACE-A965-44AF-9C75-1805987AC2BC}" srcOrd="4" destOrd="0" parTransId="{FCE50D78-5F6F-44BE-89C6-0FF04FEF12FB}" sibTransId="{587E2AA6-067C-4BDB-AF62-86EF5AF6A08B}"/>
    <dgm:cxn modelId="{A5BC4FD2-7D5E-48EF-A895-90583A444D39}" type="presOf" srcId="{7435FA4F-4464-4500-BB68-86F8CB2FB752}" destId="{DD3DDB68-F9DC-4BDE-8A5E-8450870C2869}" srcOrd="0" destOrd="0" presId="urn:microsoft.com/office/officeart/2005/8/layout/vList2"/>
    <dgm:cxn modelId="{2B253DFC-E1BF-4F9F-829D-72E996747E0E}" type="presOf" srcId="{95EBCACE-A965-44AF-9C75-1805987AC2BC}" destId="{528F97A3-CF0A-422F-BBA1-48C7D090E8E2}" srcOrd="0" destOrd="0" presId="urn:microsoft.com/office/officeart/2005/8/layout/vList2"/>
    <dgm:cxn modelId="{618FB739-AF25-4A11-A5FB-282863C62CC8}" type="presParOf" srcId="{BC4E535D-2516-4C2B-AE0D-A9415CFD5397}" destId="{422E3FAC-B373-46CC-8A06-33E08A6D0942}" srcOrd="0" destOrd="0" presId="urn:microsoft.com/office/officeart/2005/8/layout/vList2"/>
    <dgm:cxn modelId="{82793740-FA1B-4E7C-8D68-6433A639E137}" type="presParOf" srcId="{BC4E535D-2516-4C2B-AE0D-A9415CFD5397}" destId="{877FF273-171F-4F4B-95EE-FA10911CAEB9}" srcOrd="1" destOrd="0" presId="urn:microsoft.com/office/officeart/2005/8/layout/vList2"/>
    <dgm:cxn modelId="{3DB2AE95-7752-4235-9D0B-6CCC62B4B643}" type="presParOf" srcId="{BC4E535D-2516-4C2B-AE0D-A9415CFD5397}" destId="{DD3DDB68-F9DC-4BDE-8A5E-8450870C2869}" srcOrd="2" destOrd="0" presId="urn:microsoft.com/office/officeart/2005/8/layout/vList2"/>
    <dgm:cxn modelId="{F9B770EB-007D-4440-84D9-E93B3323742E}" type="presParOf" srcId="{BC4E535D-2516-4C2B-AE0D-A9415CFD5397}" destId="{124C7B0C-3C2B-42F8-8868-C9F4695DBB5C}" srcOrd="3" destOrd="0" presId="urn:microsoft.com/office/officeart/2005/8/layout/vList2"/>
    <dgm:cxn modelId="{342D2C16-F06F-4DC2-A54D-C63EB8C321D3}" type="presParOf" srcId="{BC4E535D-2516-4C2B-AE0D-A9415CFD5397}" destId="{4A9715E7-7FC1-467F-9099-73F8DC7E7B32}" srcOrd="4" destOrd="0" presId="urn:microsoft.com/office/officeart/2005/8/layout/vList2"/>
    <dgm:cxn modelId="{56FA0355-21B1-45DE-8CA3-01F16CEA3B3A}" type="presParOf" srcId="{BC4E535D-2516-4C2B-AE0D-A9415CFD5397}" destId="{EF13756B-C9E1-4D4C-8F46-C173832DC1B8}" srcOrd="5" destOrd="0" presId="urn:microsoft.com/office/officeart/2005/8/layout/vList2"/>
    <dgm:cxn modelId="{CC4F45E1-CF93-4FDC-8C54-C59D2AF2C2CA}" type="presParOf" srcId="{BC4E535D-2516-4C2B-AE0D-A9415CFD5397}" destId="{7EA8EEA4-1479-4F2F-A63B-49A72D93E47B}" srcOrd="6" destOrd="0" presId="urn:microsoft.com/office/officeart/2005/8/layout/vList2"/>
    <dgm:cxn modelId="{A8EC4478-AE3E-4E6D-B28F-AB7FB5AB12B9}" type="presParOf" srcId="{BC4E535D-2516-4C2B-AE0D-A9415CFD5397}" destId="{3E737562-9C9B-45A3-92A9-1C2FC5C06C68}" srcOrd="7" destOrd="0" presId="urn:microsoft.com/office/officeart/2005/8/layout/vList2"/>
    <dgm:cxn modelId="{1A37D710-E09C-411F-B4E1-EAF907FE5D1B}" type="presParOf" srcId="{BC4E535D-2516-4C2B-AE0D-A9415CFD5397}" destId="{528F97A3-CF0A-422F-BBA1-48C7D090E8E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6352"/>
          <a:ext cx="1250950" cy="164782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Raw</a:t>
          </a:r>
          <a:endParaRPr lang="zh-CN" altLang="en-US" sz="2200" kern="1200" dirty="0"/>
        </a:p>
      </dsp:txBody>
      <dsp:txXfrm>
        <a:off x="36639" y="42991"/>
        <a:ext cx="1177672" cy="1574546"/>
      </dsp:txXfrm>
    </dsp:sp>
    <dsp:sp modelId="{09C9038B-B660-46E2-B486-E66C7FD2D17E}">
      <dsp:nvSpPr>
        <dsp:cNvPr id="0" name=""/>
        <dsp:cNvSpPr/>
      </dsp:nvSpPr>
      <dsp:spPr>
        <a:xfrm rot="5400000">
          <a:off x="318889" y="1692196"/>
          <a:ext cx="613170" cy="7415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5400000">
        <a:off x="403018" y="1756372"/>
        <a:ext cx="444913" cy="429219"/>
      </dsp:txXfrm>
    </dsp:sp>
    <dsp:sp modelId="{73D6BB4F-4D0E-4F0D-9D8E-026A8463C75D}">
      <dsp:nvSpPr>
        <dsp:cNvPr id="0" name=""/>
        <dsp:cNvSpPr/>
      </dsp:nvSpPr>
      <dsp:spPr>
        <a:xfrm>
          <a:off x="0" y="2471737"/>
          <a:ext cx="1250950" cy="164782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NZ" altLang="zh-CN" sz="2200" kern="1200" dirty="0"/>
            <a:t>Centring</a:t>
          </a:r>
          <a:endParaRPr lang="zh-CN" altLang="en-US" sz="2200" kern="1200" dirty="0"/>
        </a:p>
      </dsp:txBody>
      <dsp:txXfrm>
        <a:off x="36639" y="2508376"/>
        <a:ext cx="1177672" cy="1574546"/>
      </dsp:txXfrm>
    </dsp:sp>
    <dsp:sp modelId="{52C3659D-424B-480A-8E3F-877C6E7A3E57}">
      <dsp:nvSpPr>
        <dsp:cNvPr id="0" name=""/>
        <dsp:cNvSpPr/>
      </dsp:nvSpPr>
      <dsp:spPr>
        <a:xfrm rot="5400000">
          <a:off x="316507" y="4160757"/>
          <a:ext cx="617934" cy="7415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5400000">
        <a:off x="403018" y="4222550"/>
        <a:ext cx="444913" cy="432554"/>
      </dsp:txXfrm>
    </dsp:sp>
    <dsp:sp modelId="{C206A823-6696-41D0-9096-8A3313B635C8}">
      <dsp:nvSpPr>
        <dsp:cNvPr id="0" name=""/>
        <dsp:cNvSpPr/>
      </dsp:nvSpPr>
      <dsp:spPr>
        <a:xfrm>
          <a:off x="0" y="4943474"/>
          <a:ext cx="1250950" cy="164782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detrend</a:t>
          </a:r>
          <a:endParaRPr lang="zh-CN" altLang="en-US" sz="2200" kern="1200" dirty="0"/>
        </a:p>
      </dsp:txBody>
      <dsp:txXfrm>
        <a:off x="36639" y="4980113"/>
        <a:ext cx="1177672" cy="15745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250950" cy="1496028"/>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altLang="zh-CN" sz="2100" kern="1200" dirty="0"/>
            <a:t>Average</a:t>
          </a:r>
        </a:p>
        <a:p>
          <a:pPr marL="0" lvl="0" indent="0" algn="ctr" defTabSz="933450">
            <a:lnSpc>
              <a:spcPct val="90000"/>
            </a:lnSpc>
            <a:spcBef>
              <a:spcPct val="0"/>
            </a:spcBef>
            <a:spcAft>
              <a:spcPct val="35000"/>
            </a:spcAft>
            <a:buNone/>
          </a:pPr>
          <a:r>
            <a:rPr lang="en-US" altLang="zh-CN" sz="2100" kern="1200" dirty="0"/>
            <a:t>transects </a:t>
          </a:r>
          <a:endParaRPr lang="zh-CN" altLang="en-US" sz="2100" kern="1200" dirty="0"/>
        </a:p>
      </dsp:txBody>
      <dsp:txXfrm>
        <a:off x="36639" y="36639"/>
        <a:ext cx="1177672" cy="1422750"/>
      </dsp:txXfrm>
    </dsp:sp>
    <dsp:sp modelId="{09C9038B-B660-46E2-B486-E66C7FD2D17E}">
      <dsp:nvSpPr>
        <dsp:cNvPr id="0" name=""/>
        <dsp:cNvSpPr/>
      </dsp:nvSpPr>
      <dsp:spPr>
        <a:xfrm rot="5400000">
          <a:off x="344969" y="1533429"/>
          <a:ext cx="561010" cy="6732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5400000">
        <a:off x="423511" y="1589530"/>
        <a:ext cx="403928" cy="392707"/>
      </dsp:txXfrm>
    </dsp:sp>
    <dsp:sp modelId="{73D6BB4F-4D0E-4F0D-9D8E-026A8463C75D}">
      <dsp:nvSpPr>
        <dsp:cNvPr id="0" name=""/>
        <dsp:cNvSpPr/>
      </dsp:nvSpPr>
      <dsp:spPr>
        <a:xfrm>
          <a:off x="0" y="2244042"/>
          <a:ext cx="1250950" cy="1496028"/>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NZ" altLang="zh-CN" sz="2100" kern="1200" dirty="0"/>
            <a:t>Mean by month</a:t>
          </a:r>
          <a:endParaRPr lang="zh-CN" altLang="en-US" sz="2100" kern="1200" dirty="0"/>
        </a:p>
      </dsp:txBody>
      <dsp:txXfrm>
        <a:off x="36639" y="2280681"/>
        <a:ext cx="1177672" cy="1422750"/>
      </dsp:txXfrm>
    </dsp:sp>
    <dsp:sp modelId="{52C3659D-424B-480A-8E3F-877C6E7A3E57}">
      <dsp:nvSpPr>
        <dsp:cNvPr id="0" name=""/>
        <dsp:cNvSpPr/>
      </dsp:nvSpPr>
      <dsp:spPr>
        <a:xfrm rot="5400000">
          <a:off x="344969" y="3777471"/>
          <a:ext cx="561010" cy="6732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5400000">
        <a:off x="423511" y="3833572"/>
        <a:ext cx="403928" cy="392707"/>
      </dsp:txXfrm>
    </dsp:sp>
    <dsp:sp modelId="{C206A823-6696-41D0-9096-8A3313B635C8}">
      <dsp:nvSpPr>
        <dsp:cNvPr id="0" name=""/>
        <dsp:cNvSpPr/>
      </dsp:nvSpPr>
      <dsp:spPr>
        <a:xfrm>
          <a:off x="0" y="4488085"/>
          <a:ext cx="1250950" cy="1496028"/>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altLang="zh-CN" sz="2100" kern="1200" dirty="0"/>
            <a:t>Merge</a:t>
          </a:r>
          <a:endParaRPr lang="zh-CN" altLang="en-US" sz="2100" kern="1200" dirty="0"/>
        </a:p>
      </dsp:txBody>
      <dsp:txXfrm>
        <a:off x="36639" y="4524724"/>
        <a:ext cx="1177672" cy="14227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195307" cy="2448598"/>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Cross-correlation</a:t>
          </a:r>
          <a:endParaRPr lang="zh-CN" altLang="en-US" sz="1700" kern="1200" dirty="0"/>
        </a:p>
      </dsp:txBody>
      <dsp:txXfrm>
        <a:off x="35009" y="35009"/>
        <a:ext cx="1125289" cy="23785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195307" cy="2104157"/>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Cross-correlation</a:t>
          </a:r>
          <a:endParaRPr lang="zh-CN" altLang="en-US" sz="1700" kern="1200" dirty="0"/>
        </a:p>
      </dsp:txBody>
      <dsp:txXfrm>
        <a:off x="35009" y="35009"/>
        <a:ext cx="1125289" cy="20341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195307" cy="2104157"/>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Cross-correlation</a:t>
          </a:r>
          <a:endParaRPr lang="zh-CN" altLang="en-US" sz="1700" kern="1200" dirty="0"/>
        </a:p>
      </dsp:txBody>
      <dsp:txXfrm>
        <a:off x="35009" y="35009"/>
        <a:ext cx="1125289" cy="20341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FE87E-8194-454B-813D-88A0B5ADCAD1}">
      <dsp:nvSpPr>
        <dsp:cNvPr id="0" name=""/>
        <dsp:cNvSpPr/>
      </dsp:nvSpPr>
      <dsp:spPr>
        <a:xfrm>
          <a:off x="0" y="0"/>
          <a:ext cx="1182805" cy="113319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solidFill>
                <a:prstClr val="white"/>
              </a:solidFill>
              <a:latin typeface="Gill Sans MT" panose="020B0502020104020203"/>
              <a:ea typeface="华文中宋" panose="02010600040101010101" pitchFamily="2" charset="-122"/>
              <a:cs typeface="+mn-cs"/>
            </a:rPr>
            <a:t>Wavelet</a:t>
          </a:r>
        </a:p>
        <a:p>
          <a:pPr marL="0" lvl="0" indent="0" algn="ctr" defTabSz="755650">
            <a:lnSpc>
              <a:spcPct val="90000"/>
            </a:lnSpc>
            <a:spcBef>
              <a:spcPct val="0"/>
            </a:spcBef>
            <a:spcAft>
              <a:spcPct val="35000"/>
            </a:spcAft>
            <a:buNone/>
          </a:pPr>
          <a:r>
            <a:rPr lang="en-US" altLang="zh-CN" sz="1700" kern="1200" dirty="0">
              <a:solidFill>
                <a:prstClr val="white"/>
              </a:solidFill>
              <a:latin typeface="Gill Sans MT" panose="020B0502020104020203"/>
              <a:ea typeface="华文中宋" panose="02010600040101010101" pitchFamily="2" charset="-122"/>
              <a:cs typeface="+mn-cs"/>
            </a:rPr>
            <a:t>Analysis </a:t>
          </a:r>
          <a:r>
            <a:rPr lang="zh-CN" altLang="en-US" sz="1700" kern="1200" dirty="0">
              <a:solidFill>
                <a:prstClr val="white"/>
              </a:solidFill>
              <a:latin typeface="Gill Sans MT" panose="020B0502020104020203"/>
              <a:ea typeface="华文中宋" panose="02010600040101010101" pitchFamily="2" charset="-122"/>
              <a:cs typeface="+mn-cs"/>
            </a:rPr>
            <a:t>（</a:t>
          </a:r>
          <a:r>
            <a:rPr lang="en-US" altLang="zh-CN" sz="1700" kern="1200" dirty="0">
              <a:solidFill>
                <a:prstClr val="white"/>
              </a:solidFill>
              <a:latin typeface="Gill Sans MT" panose="020B0502020104020203"/>
              <a:ea typeface="华文中宋" panose="02010600040101010101" pitchFamily="2" charset="-122"/>
              <a:cs typeface="+mn-cs"/>
            </a:rPr>
            <a:t>R</a:t>
          </a:r>
          <a:r>
            <a:rPr lang="zh-CN" altLang="en-US" sz="1700" kern="1200" dirty="0">
              <a:solidFill>
                <a:prstClr val="white"/>
              </a:solidFill>
              <a:latin typeface="Gill Sans MT" panose="020B0502020104020203"/>
              <a:ea typeface="华文中宋" panose="02010600040101010101" pitchFamily="2" charset="-122"/>
              <a:cs typeface="+mn-cs"/>
            </a:rPr>
            <a:t>）</a:t>
          </a:r>
        </a:p>
      </dsp:txBody>
      <dsp:txXfrm>
        <a:off x="33190" y="33190"/>
        <a:ext cx="1116425" cy="10668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2E3FAC-B373-46CC-8A06-33E08A6D0942}">
      <dsp:nvSpPr>
        <dsp:cNvPr id="0" name=""/>
        <dsp:cNvSpPr/>
      </dsp:nvSpPr>
      <dsp:spPr>
        <a:xfrm>
          <a:off x="0" y="190570"/>
          <a:ext cx="6769100" cy="1034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NZ" sz="1300" kern="1200" dirty="0"/>
            <a:t>SOI (Southern Oscillation Index)</a:t>
          </a:r>
          <a:r>
            <a:rPr lang="zh-CN" sz="1300" kern="1200" dirty="0"/>
            <a:t>：</a:t>
          </a:r>
          <a:endParaRPr lang="en-US" altLang="zh-CN" sz="1300" kern="1200" dirty="0"/>
        </a:p>
        <a:p>
          <a:pPr marL="0" lvl="0" indent="0" algn="l" defTabSz="577850">
            <a:lnSpc>
              <a:spcPct val="90000"/>
            </a:lnSpc>
            <a:spcBef>
              <a:spcPct val="0"/>
            </a:spcBef>
            <a:spcAft>
              <a:spcPct val="35000"/>
            </a:spcAft>
            <a:buNone/>
          </a:pPr>
          <a:r>
            <a:rPr lang="en-NZ" sz="1300" kern="1200" dirty="0"/>
            <a:t>the sea-level pressure difference between Tahiti and Darwin to track </a:t>
          </a:r>
          <a:r>
            <a:rPr lang="en-NZ" sz="1300" kern="1200" dirty="0" err="1"/>
            <a:t>ENSO’s</a:t>
          </a:r>
          <a:r>
            <a:rPr lang="en-NZ" sz="1300" kern="1200" dirty="0"/>
            <a:t> atmospheric state—negative values typically indicate El Niño and positive values indicate La Niña. </a:t>
          </a:r>
          <a:r>
            <a:rPr lang="en-US" sz="1300" kern="1200" dirty="0"/>
            <a:t>Eastern Pacific pressure. Western Pacific pressure (</a:t>
          </a:r>
          <a:r>
            <a:rPr lang="en-US" sz="1300" kern="1200" dirty="0" err="1"/>
            <a:t>Restandardized</a:t>
          </a:r>
          <a:r>
            <a:rPr lang="en-US" sz="1300" kern="1200" dirty="0"/>
            <a:t>)</a:t>
          </a:r>
          <a:endParaRPr lang="zh-CN" sz="1300" kern="1200" dirty="0"/>
        </a:p>
      </dsp:txBody>
      <dsp:txXfrm>
        <a:off x="50489" y="241059"/>
        <a:ext cx="6668122" cy="933302"/>
      </dsp:txXfrm>
    </dsp:sp>
    <dsp:sp modelId="{DD3DDB68-F9DC-4BDE-8A5E-8450870C2869}">
      <dsp:nvSpPr>
        <dsp:cNvPr id="0" name=""/>
        <dsp:cNvSpPr/>
      </dsp:nvSpPr>
      <dsp:spPr>
        <a:xfrm>
          <a:off x="0" y="1262290"/>
          <a:ext cx="6769100" cy="1034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NZ" sz="1300" kern="1200" dirty="0" err="1"/>
            <a:t>PDO</a:t>
          </a:r>
          <a:r>
            <a:rPr lang="en-NZ" sz="1300" kern="1200" dirty="0"/>
            <a:t> (Pacific Decadal Oscillation): </a:t>
          </a:r>
        </a:p>
        <a:p>
          <a:pPr marL="0" lvl="0" indent="0" algn="l" defTabSz="577850">
            <a:lnSpc>
              <a:spcPct val="90000"/>
            </a:lnSpc>
            <a:spcBef>
              <a:spcPct val="0"/>
            </a:spcBef>
            <a:spcAft>
              <a:spcPct val="35000"/>
            </a:spcAft>
            <a:buNone/>
          </a:pPr>
          <a:r>
            <a:rPr lang="en-US" sz="1300" kern="1200" dirty="0"/>
            <a:t>A decadal-scale “warm vs. cool” sea-surface temperature pattern in the North Pacific that shifts climate and rainfall patterns.</a:t>
          </a:r>
          <a:endParaRPr lang="zh-CN" sz="1300" kern="1200" dirty="0"/>
        </a:p>
      </dsp:txBody>
      <dsp:txXfrm>
        <a:off x="50489" y="1312779"/>
        <a:ext cx="6668122" cy="933302"/>
      </dsp:txXfrm>
    </dsp:sp>
    <dsp:sp modelId="{4A9715E7-7FC1-467F-9099-73F8DC7E7B32}">
      <dsp:nvSpPr>
        <dsp:cNvPr id="0" name=""/>
        <dsp:cNvSpPr/>
      </dsp:nvSpPr>
      <dsp:spPr>
        <a:xfrm>
          <a:off x="0" y="2334010"/>
          <a:ext cx="6769100" cy="1034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NZ" sz="1300" kern="1200" dirty="0"/>
            <a:t>IOD/</a:t>
          </a:r>
          <a:r>
            <a:rPr lang="en-NZ" sz="1300" kern="1200" dirty="0" err="1"/>
            <a:t>DMI</a:t>
          </a:r>
          <a:r>
            <a:rPr lang="en-NZ" sz="1300" kern="1200" dirty="0"/>
            <a:t> (Indian Ocean Dipole):</a:t>
          </a:r>
          <a:r>
            <a:rPr lang="en-US" sz="1300" kern="1200" dirty="0"/>
            <a:t> </a:t>
          </a:r>
        </a:p>
        <a:p>
          <a:pPr marL="0" lvl="0" indent="0" algn="l" defTabSz="577850">
            <a:lnSpc>
              <a:spcPct val="90000"/>
            </a:lnSpc>
            <a:spcBef>
              <a:spcPct val="0"/>
            </a:spcBef>
            <a:spcAft>
              <a:spcPct val="35000"/>
            </a:spcAft>
            <a:buNone/>
          </a:pPr>
          <a:r>
            <a:rPr lang="en-US" sz="1300" kern="1200" dirty="0"/>
            <a:t>Measures the west–east sea-surface temperature contrast in the Indian Ocean (quantified by </a:t>
          </a:r>
          <a:r>
            <a:rPr lang="en-US" sz="1300" kern="1200" dirty="0" err="1"/>
            <a:t>DMI</a:t>
          </a:r>
          <a:r>
            <a:rPr lang="en-US" sz="1300" kern="1200" dirty="0"/>
            <a:t>), shaping monsoon strength and rainfall. SST′(Western Indian Ocean) − SST</a:t>
          </a:r>
          <a:r>
            <a:rPr lang="zh-CN" sz="1300" kern="1200" dirty="0"/>
            <a:t>′</a:t>
          </a:r>
          <a:r>
            <a:rPr lang="en-US" sz="1300" kern="1200" dirty="0"/>
            <a:t>(Southeastern/Eastern Indian Ocean)</a:t>
          </a:r>
          <a:endParaRPr lang="zh-CN" sz="1300" kern="1200" dirty="0"/>
        </a:p>
      </dsp:txBody>
      <dsp:txXfrm>
        <a:off x="50489" y="2384499"/>
        <a:ext cx="6668122" cy="933302"/>
      </dsp:txXfrm>
    </dsp:sp>
    <dsp:sp modelId="{7EA8EEA4-1479-4F2F-A63B-49A72D93E47B}">
      <dsp:nvSpPr>
        <dsp:cNvPr id="0" name=""/>
        <dsp:cNvSpPr/>
      </dsp:nvSpPr>
      <dsp:spPr>
        <a:xfrm>
          <a:off x="0" y="3405730"/>
          <a:ext cx="6769100" cy="1034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NZ" sz="1300" kern="1200" dirty="0"/>
            <a:t>SAM (Southern Annular Mode): </a:t>
          </a:r>
        </a:p>
        <a:p>
          <a:pPr marL="0" lvl="0" indent="0" algn="l" defTabSz="577850">
            <a:lnSpc>
              <a:spcPct val="90000"/>
            </a:lnSpc>
            <a:spcBef>
              <a:spcPct val="0"/>
            </a:spcBef>
            <a:spcAft>
              <a:spcPct val="35000"/>
            </a:spcAft>
            <a:buNone/>
          </a:pPr>
          <a:r>
            <a:rPr lang="en-US" sz="1300" kern="1200" dirty="0"/>
            <a:t>Tracks how the Southern Hemisphere westerly wind belt strengthens and shifts north–south, affecting storm tracks and weather/ocean conditions.</a:t>
          </a:r>
          <a:endParaRPr lang="zh-CN" sz="1300" kern="1200" dirty="0"/>
        </a:p>
      </dsp:txBody>
      <dsp:txXfrm>
        <a:off x="50489" y="3456219"/>
        <a:ext cx="6668122" cy="933302"/>
      </dsp:txXfrm>
    </dsp:sp>
    <dsp:sp modelId="{528F97A3-CF0A-422F-BBA1-48C7D090E8E2}">
      <dsp:nvSpPr>
        <dsp:cNvPr id="0" name=""/>
        <dsp:cNvSpPr/>
      </dsp:nvSpPr>
      <dsp:spPr>
        <a:xfrm>
          <a:off x="0" y="4477450"/>
          <a:ext cx="6769100" cy="1034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NZ" sz="1300" kern="1200" dirty="0" err="1"/>
            <a:t>ZW3</a:t>
          </a:r>
          <a:r>
            <a:rPr lang="en-NZ" sz="1300" kern="1200" dirty="0"/>
            <a:t> (Zonal Wave 3): </a:t>
          </a:r>
        </a:p>
        <a:p>
          <a:pPr marL="0" lvl="0" indent="0" algn="l" defTabSz="577850">
            <a:lnSpc>
              <a:spcPct val="90000"/>
            </a:lnSpc>
            <a:spcBef>
              <a:spcPct val="0"/>
            </a:spcBef>
            <a:spcAft>
              <a:spcPct val="35000"/>
            </a:spcAft>
            <a:buNone/>
          </a:pPr>
          <a:r>
            <a:rPr lang="en-US" sz="1300" kern="1200" dirty="0"/>
            <a:t>A Southern Ocean/Antarctic circulation pattern with three repeating ridges and troughs around the hemisphere, influencing winds and regional climate.</a:t>
          </a:r>
          <a:endParaRPr lang="zh-CN" sz="1300" kern="1200" dirty="0"/>
        </a:p>
      </dsp:txBody>
      <dsp:txXfrm>
        <a:off x="50489" y="4527939"/>
        <a:ext cx="6668122" cy="933302"/>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zh-CN" alt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zh-CN" altLang="en-US"/>
              <a:t>单击此处编辑母版标题样式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zh-CN" alt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19ECE750-AA66-4446-B46C-81E32C850EF0}" type="slidenum">
              <a:rPr lang="zh-CN" altLang="en-US" smtClean="0"/>
              <a:t>‹#›</a:t>
            </a:fld>
            <a:endParaRPr lang="zh-CN" alt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383772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2544783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zh-CN" alt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19ECE750-AA66-4446-B46C-81E32C850EF0}" type="slidenum">
              <a:rPr lang="zh-CN" altLang="en-US" smtClean="0"/>
              <a:t>‹#›</a:t>
            </a:fld>
            <a:endParaRPr lang="zh-CN" alt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68530947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36501394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257300" y="2909102"/>
            <a:ext cx="4800600" cy="299639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633864" y="2909102"/>
            <a:ext cx="4800600" cy="299639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301200290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265283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18837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zh-CN" altLang="en-US"/>
              <a:t>单击此处编辑母版标题样式</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65051" y="6375679"/>
            <a:ext cx="1233355" cy="348462"/>
          </a:xfrm>
        </p:spPr>
        <p:txBody>
          <a:bodyPr/>
          <a:lstStyle/>
          <a:p>
            <a:fld id="{1668EF0F-2C1B-436E-92F6-756F887E9169}" type="datetimeFigureOut">
              <a:rPr lang="zh-CN" altLang="en-US" smtClean="0"/>
              <a:t>2026/1/31</a:t>
            </a:fld>
            <a:endParaRPr lang="zh-CN" altLang="en-US"/>
          </a:p>
        </p:txBody>
      </p:sp>
      <p:sp>
        <p:nvSpPr>
          <p:cNvPr id="6" name="Footer Placeholder 5"/>
          <p:cNvSpPr>
            <a:spLocks noGrp="1"/>
          </p:cNvSpPr>
          <p:nvPr>
            <p:ph type="ftr" sz="quarter" idx="11"/>
          </p:nvPr>
        </p:nvSpPr>
        <p:spPr>
          <a:xfrm>
            <a:off x="2103620" y="6375679"/>
            <a:ext cx="3482179" cy="345796"/>
          </a:xfrm>
        </p:spPr>
        <p:txBody>
          <a:bodyPr/>
          <a:lstStyle/>
          <a:p>
            <a:endParaRPr lang="zh-CN" altLang="en-US"/>
          </a:p>
        </p:txBody>
      </p:sp>
      <p:sp>
        <p:nvSpPr>
          <p:cNvPr id="7" name="Slide Number Placeholder 6"/>
          <p:cNvSpPr>
            <a:spLocks noGrp="1"/>
          </p:cNvSpPr>
          <p:nvPr>
            <p:ph type="sldNum" sz="quarter" idx="12"/>
          </p:nvPr>
        </p:nvSpPr>
        <p:spPr>
          <a:xfrm>
            <a:off x="5691014" y="6375679"/>
            <a:ext cx="1232456" cy="345796"/>
          </a:xfrm>
        </p:spPr>
        <p:txBody>
          <a:bodyPr/>
          <a:lstStyle/>
          <a:p>
            <a:fld id="{19ECE750-AA66-4446-B46C-81E32C850EF0}" type="slidenum">
              <a:rPr lang="zh-CN" altLang="en-US" smtClean="0"/>
              <a:t>‹#›</a:t>
            </a:fld>
            <a:endParaRPr lang="zh-CN" alt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7751942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65950" y="6375679"/>
            <a:ext cx="1232456" cy="348462"/>
          </a:xfrm>
        </p:spPr>
        <p:txBody>
          <a:bodyPr/>
          <a:lstStyle/>
          <a:p>
            <a:fld id="{1668EF0F-2C1B-436E-92F6-756F887E9169}" type="datetimeFigureOut">
              <a:rPr lang="zh-CN" altLang="en-US" smtClean="0"/>
              <a:t>2026/1/31</a:t>
            </a:fld>
            <a:endParaRPr lang="zh-CN" altLang="en-US"/>
          </a:p>
        </p:txBody>
      </p:sp>
      <p:sp>
        <p:nvSpPr>
          <p:cNvPr id="6" name="Footer Placeholder 5"/>
          <p:cNvSpPr>
            <a:spLocks noGrp="1"/>
          </p:cNvSpPr>
          <p:nvPr>
            <p:ph type="ftr" sz="quarter" idx="11"/>
          </p:nvPr>
        </p:nvSpPr>
        <p:spPr>
          <a:xfrm>
            <a:off x="2103621" y="6375679"/>
            <a:ext cx="3482178" cy="345796"/>
          </a:xfrm>
        </p:spPr>
        <p:txBody>
          <a:bodyPr/>
          <a:lstStyle/>
          <a:p>
            <a:endParaRPr lang="zh-CN" altLang="en-US"/>
          </a:p>
        </p:txBody>
      </p:sp>
      <p:sp>
        <p:nvSpPr>
          <p:cNvPr id="7" name="Slide Number Placeholder 6"/>
          <p:cNvSpPr>
            <a:spLocks noGrp="1"/>
          </p:cNvSpPr>
          <p:nvPr>
            <p:ph type="sldNum" sz="quarter" idx="12"/>
          </p:nvPr>
        </p:nvSpPr>
        <p:spPr>
          <a:xfrm>
            <a:off x="5687568" y="6375679"/>
            <a:ext cx="1234440" cy="345796"/>
          </a:xfrm>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2070750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3824199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9ECE750-AA66-4446-B46C-81E32C850EF0}" type="slidenum">
              <a:rPr lang="zh-CN" altLang="en-US" smtClean="0"/>
              <a:t>‹#›</a:t>
            </a:fld>
            <a:endParaRPr lang="zh-CN" altLang="en-US"/>
          </a:p>
        </p:txBody>
      </p:sp>
    </p:spTree>
    <p:extLst>
      <p:ext uri="{BB962C8B-B14F-4D97-AF65-F5344CB8AC3E}">
        <p14:creationId xmlns:p14="http://schemas.microsoft.com/office/powerpoint/2010/main" val="1716575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1668EF0F-2C1B-436E-92F6-756F887E9169}" type="datetimeFigureOut">
              <a:rPr lang="zh-CN" altLang="en-US" smtClean="0"/>
              <a:t>2026/1/31</a:t>
            </a:fld>
            <a:endParaRPr lang="zh-CN" alt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zh-CN" alt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19ECE750-AA66-4446-B46C-81E32C850EF0}" type="slidenum">
              <a:rPr lang="zh-CN" altLang="en-US" smtClean="0"/>
              <a:t>‹#›</a:t>
            </a:fld>
            <a:endParaRPr lang="zh-CN" alt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zh-CN" alt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63853618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2.xml"/><Relationship Id="rId7" Type="http://schemas.openxmlformats.org/officeDocument/2006/relationships/image" Target="../media/image4.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7.png"/><Relationship Id="rId4" Type="http://schemas.openxmlformats.org/officeDocument/2006/relationships/diagramQuickStyle" Target="../diagrams/quickStyle2.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8.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4.xml"/><Relationship Id="rId7" Type="http://schemas.openxmlformats.org/officeDocument/2006/relationships/hyperlink" Target="data/Coastline_summary.csv" TargetMode="Externa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Layout" Target="../diagrams/layout5.xml"/><Relationship Id="rId7" Type="http://schemas.openxmlformats.org/officeDocument/2006/relationships/hyperlink" Target="data/Coastline_summary_2010.csv" TargetMode="Externa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8" Type="http://schemas.openxmlformats.org/officeDocument/2006/relationships/hyperlink" Target="data/Kmeans.txt" TargetMode="External"/><Relationship Id="rId13" Type="http://schemas.openxmlformats.org/officeDocument/2006/relationships/hyperlink" Target="data/wavelet_plots_2010_2014" TargetMode="External"/><Relationship Id="rId3" Type="http://schemas.openxmlformats.org/officeDocument/2006/relationships/diagramLayout" Target="../diagrams/layout6.xml"/><Relationship Id="rId7" Type="http://schemas.openxmlformats.org/officeDocument/2006/relationships/hyperlink" Target="data/k-means-data.csv" TargetMode="External"/><Relationship Id="rId12" Type="http://schemas.openxmlformats.org/officeDocument/2006/relationships/hyperlink" Target="data/wavelet_plots_2000_2025" TargetMode="Externa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openxmlformats.org/officeDocument/2006/relationships/image" Target="../media/image12.png"/><Relationship Id="rId5" Type="http://schemas.openxmlformats.org/officeDocument/2006/relationships/diagramColors" Target="../diagrams/colors6.xml"/><Relationship Id="rId10" Type="http://schemas.openxmlformats.org/officeDocument/2006/relationships/image" Target="../media/image11.png"/><Relationship Id="rId4" Type="http://schemas.openxmlformats.org/officeDocument/2006/relationships/diagramQuickStyle" Target="../diagrams/quickStyle6.xml"/><Relationship Id="rId9" Type="http://schemas.openxmlformats.org/officeDocument/2006/relationships/hyperlink" Target="data/Kmeans_2010.tx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4FFECA-0832-4FE3-B587-054A0F2D80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7767B28-2A86-FDDD-35B6-73E918A2E840}"/>
              </a:ext>
            </a:extLst>
          </p:cNvPr>
          <p:cNvSpPr>
            <a:spLocks noGrp="1"/>
          </p:cNvSpPr>
          <p:nvPr>
            <p:ph type="ctrTitle"/>
          </p:nvPr>
        </p:nvSpPr>
        <p:spPr>
          <a:xfrm>
            <a:off x="1580257" y="864911"/>
            <a:ext cx="9031484" cy="3467282"/>
          </a:xfrm>
        </p:spPr>
        <p:txBody>
          <a:bodyPr anchor="b">
            <a:normAutofit/>
          </a:bodyPr>
          <a:lstStyle/>
          <a:p>
            <a:r>
              <a:rPr lang="en-US" altLang="zh-CN" sz="8000" dirty="0"/>
              <a:t>Project update</a:t>
            </a:r>
            <a:br>
              <a:rPr lang="en-US" altLang="zh-CN" sz="8000" dirty="0"/>
            </a:br>
            <a:r>
              <a:rPr lang="en-US" altLang="zh-CN" sz="8000" dirty="0"/>
              <a:t>2026.1.31</a:t>
            </a:r>
            <a:endParaRPr lang="zh-CN" altLang="en-US" sz="8000" dirty="0"/>
          </a:p>
        </p:txBody>
      </p:sp>
      <p:sp>
        <p:nvSpPr>
          <p:cNvPr id="10" name="Freeform: Shape 9">
            <a:extLst>
              <a:ext uri="{FF2B5EF4-FFF2-40B4-BE49-F238E27FC236}">
                <a16:creationId xmlns:a16="http://schemas.microsoft.com/office/drawing/2014/main" id="{C65858E6-5C0F-4AAE-A1AC-29BA07FFEE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070707"/>
            <a:ext cx="12192000" cy="1787292"/>
          </a:xfrm>
          <a:custGeom>
            <a:avLst/>
            <a:gdLst>
              <a:gd name="connsiteX0" fmla="*/ 619389 w 12192000"/>
              <a:gd name="connsiteY0" fmla="*/ 0 h 1787292"/>
              <a:gd name="connsiteX1" fmla="*/ 687652 w 12192000"/>
              <a:gd name="connsiteY1" fmla="*/ 3175 h 1787292"/>
              <a:gd name="connsiteX2" fmla="*/ 747977 w 12192000"/>
              <a:gd name="connsiteY2" fmla="*/ 9525 h 1787292"/>
              <a:gd name="connsiteX3" fmla="*/ 800364 w 12192000"/>
              <a:gd name="connsiteY3" fmla="*/ 20637 h 1787292"/>
              <a:gd name="connsiteX4" fmla="*/ 846402 w 12192000"/>
              <a:gd name="connsiteY4" fmla="*/ 36512 h 1787292"/>
              <a:gd name="connsiteX5" fmla="*/ 887677 w 12192000"/>
              <a:gd name="connsiteY5" fmla="*/ 52387 h 1787292"/>
              <a:gd name="connsiteX6" fmla="*/ 924189 w 12192000"/>
              <a:gd name="connsiteY6" fmla="*/ 68262 h 1787292"/>
              <a:gd name="connsiteX7" fmla="*/ 962289 w 12192000"/>
              <a:gd name="connsiteY7" fmla="*/ 87312 h 1787292"/>
              <a:gd name="connsiteX8" fmla="*/ 1000389 w 12192000"/>
              <a:gd name="connsiteY8" fmla="*/ 106362 h 1787292"/>
              <a:gd name="connsiteX9" fmla="*/ 1036902 w 12192000"/>
              <a:gd name="connsiteY9" fmla="*/ 125412 h 1787292"/>
              <a:gd name="connsiteX10" fmla="*/ 1078177 w 12192000"/>
              <a:gd name="connsiteY10" fmla="*/ 141287 h 1787292"/>
              <a:gd name="connsiteX11" fmla="*/ 1124214 w 12192000"/>
              <a:gd name="connsiteY11" fmla="*/ 155575 h 1787292"/>
              <a:gd name="connsiteX12" fmla="*/ 1176602 w 12192000"/>
              <a:gd name="connsiteY12" fmla="*/ 166687 h 1787292"/>
              <a:gd name="connsiteX13" fmla="*/ 1236927 w 12192000"/>
              <a:gd name="connsiteY13" fmla="*/ 174625 h 1787292"/>
              <a:gd name="connsiteX14" fmla="*/ 1305189 w 12192000"/>
              <a:gd name="connsiteY14" fmla="*/ 176212 h 1787292"/>
              <a:gd name="connsiteX15" fmla="*/ 1373452 w 12192000"/>
              <a:gd name="connsiteY15" fmla="*/ 174625 h 1787292"/>
              <a:gd name="connsiteX16" fmla="*/ 1433777 w 12192000"/>
              <a:gd name="connsiteY16" fmla="*/ 166687 h 1787292"/>
              <a:gd name="connsiteX17" fmla="*/ 1486164 w 12192000"/>
              <a:gd name="connsiteY17" fmla="*/ 155575 h 1787292"/>
              <a:gd name="connsiteX18" fmla="*/ 1532202 w 12192000"/>
              <a:gd name="connsiteY18" fmla="*/ 141287 h 1787292"/>
              <a:gd name="connsiteX19" fmla="*/ 1573477 w 12192000"/>
              <a:gd name="connsiteY19" fmla="*/ 125412 h 1787292"/>
              <a:gd name="connsiteX20" fmla="*/ 1609989 w 12192000"/>
              <a:gd name="connsiteY20" fmla="*/ 106362 h 1787292"/>
              <a:gd name="connsiteX21" fmla="*/ 1648089 w 12192000"/>
              <a:gd name="connsiteY21" fmla="*/ 87312 h 1787292"/>
              <a:gd name="connsiteX22" fmla="*/ 1686189 w 12192000"/>
              <a:gd name="connsiteY22" fmla="*/ 68262 h 1787292"/>
              <a:gd name="connsiteX23" fmla="*/ 1722702 w 12192000"/>
              <a:gd name="connsiteY23" fmla="*/ 52387 h 1787292"/>
              <a:gd name="connsiteX24" fmla="*/ 1763977 w 12192000"/>
              <a:gd name="connsiteY24" fmla="*/ 36512 h 1787292"/>
              <a:gd name="connsiteX25" fmla="*/ 1810014 w 12192000"/>
              <a:gd name="connsiteY25" fmla="*/ 20637 h 1787292"/>
              <a:gd name="connsiteX26" fmla="*/ 1862402 w 12192000"/>
              <a:gd name="connsiteY26" fmla="*/ 9525 h 1787292"/>
              <a:gd name="connsiteX27" fmla="*/ 1922727 w 12192000"/>
              <a:gd name="connsiteY27" fmla="*/ 3175 h 1787292"/>
              <a:gd name="connsiteX28" fmla="*/ 1990989 w 12192000"/>
              <a:gd name="connsiteY28" fmla="*/ 0 h 1787292"/>
              <a:gd name="connsiteX29" fmla="*/ 2059252 w 12192000"/>
              <a:gd name="connsiteY29" fmla="*/ 3175 h 1787292"/>
              <a:gd name="connsiteX30" fmla="*/ 2119577 w 12192000"/>
              <a:gd name="connsiteY30" fmla="*/ 9525 h 1787292"/>
              <a:gd name="connsiteX31" fmla="*/ 2171964 w 12192000"/>
              <a:gd name="connsiteY31" fmla="*/ 20637 h 1787292"/>
              <a:gd name="connsiteX32" fmla="*/ 2218002 w 12192000"/>
              <a:gd name="connsiteY32" fmla="*/ 36512 h 1787292"/>
              <a:gd name="connsiteX33" fmla="*/ 2259277 w 12192000"/>
              <a:gd name="connsiteY33" fmla="*/ 52387 h 1787292"/>
              <a:gd name="connsiteX34" fmla="*/ 2295789 w 12192000"/>
              <a:gd name="connsiteY34" fmla="*/ 68262 h 1787292"/>
              <a:gd name="connsiteX35" fmla="*/ 2333889 w 12192000"/>
              <a:gd name="connsiteY35" fmla="*/ 87312 h 1787292"/>
              <a:gd name="connsiteX36" fmla="*/ 2371989 w 12192000"/>
              <a:gd name="connsiteY36" fmla="*/ 106362 h 1787292"/>
              <a:gd name="connsiteX37" fmla="*/ 2408502 w 12192000"/>
              <a:gd name="connsiteY37" fmla="*/ 125412 h 1787292"/>
              <a:gd name="connsiteX38" fmla="*/ 2449777 w 12192000"/>
              <a:gd name="connsiteY38" fmla="*/ 141287 h 1787292"/>
              <a:gd name="connsiteX39" fmla="*/ 2495814 w 12192000"/>
              <a:gd name="connsiteY39" fmla="*/ 155575 h 1787292"/>
              <a:gd name="connsiteX40" fmla="*/ 2548202 w 12192000"/>
              <a:gd name="connsiteY40" fmla="*/ 166687 h 1787292"/>
              <a:gd name="connsiteX41" fmla="*/ 2608527 w 12192000"/>
              <a:gd name="connsiteY41" fmla="*/ 174625 h 1787292"/>
              <a:gd name="connsiteX42" fmla="*/ 2676789 w 12192000"/>
              <a:gd name="connsiteY42" fmla="*/ 176212 h 1787292"/>
              <a:gd name="connsiteX43" fmla="*/ 2745052 w 12192000"/>
              <a:gd name="connsiteY43" fmla="*/ 174625 h 1787292"/>
              <a:gd name="connsiteX44" fmla="*/ 2805377 w 12192000"/>
              <a:gd name="connsiteY44" fmla="*/ 166687 h 1787292"/>
              <a:gd name="connsiteX45" fmla="*/ 2857764 w 12192000"/>
              <a:gd name="connsiteY45" fmla="*/ 155575 h 1787292"/>
              <a:gd name="connsiteX46" fmla="*/ 2903802 w 12192000"/>
              <a:gd name="connsiteY46" fmla="*/ 141287 h 1787292"/>
              <a:gd name="connsiteX47" fmla="*/ 2945077 w 12192000"/>
              <a:gd name="connsiteY47" fmla="*/ 125412 h 1787292"/>
              <a:gd name="connsiteX48" fmla="*/ 2981589 w 12192000"/>
              <a:gd name="connsiteY48" fmla="*/ 106362 h 1787292"/>
              <a:gd name="connsiteX49" fmla="*/ 3019689 w 12192000"/>
              <a:gd name="connsiteY49" fmla="*/ 87312 h 1787292"/>
              <a:gd name="connsiteX50" fmla="*/ 3057789 w 12192000"/>
              <a:gd name="connsiteY50" fmla="*/ 68262 h 1787292"/>
              <a:gd name="connsiteX51" fmla="*/ 3094302 w 12192000"/>
              <a:gd name="connsiteY51" fmla="*/ 52387 h 1787292"/>
              <a:gd name="connsiteX52" fmla="*/ 3135577 w 12192000"/>
              <a:gd name="connsiteY52" fmla="*/ 36512 h 1787292"/>
              <a:gd name="connsiteX53" fmla="*/ 3181614 w 12192000"/>
              <a:gd name="connsiteY53" fmla="*/ 20637 h 1787292"/>
              <a:gd name="connsiteX54" fmla="*/ 3234002 w 12192000"/>
              <a:gd name="connsiteY54" fmla="*/ 9525 h 1787292"/>
              <a:gd name="connsiteX55" fmla="*/ 3294327 w 12192000"/>
              <a:gd name="connsiteY55" fmla="*/ 3175 h 1787292"/>
              <a:gd name="connsiteX56" fmla="*/ 3361002 w 12192000"/>
              <a:gd name="connsiteY56" fmla="*/ 0 h 1787292"/>
              <a:gd name="connsiteX57" fmla="*/ 3430852 w 12192000"/>
              <a:gd name="connsiteY57" fmla="*/ 3175 h 1787292"/>
              <a:gd name="connsiteX58" fmla="*/ 3491177 w 12192000"/>
              <a:gd name="connsiteY58" fmla="*/ 9525 h 1787292"/>
              <a:gd name="connsiteX59" fmla="*/ 3543564 w 12192000"/>
              <a:gd name="connsiteY59" fmla="*/ 20637 h 1787292"/>
              <a:gd name="connsiteX60" fmla="*/ 3589602 w 12192000"/>
              <a:gd name="connsiteY60" fmla="*/ 36512 h 1787292"/>
              <a:gd name="connsiteX61" fmla="*/ 3630877 w 12192000"/>
              <a:gd name="connsiteY61" fmla="*/ 52387 h 1787292"/>
              <a:gd name="connsiteX62" fmla="*/ 3667389 w 12192000"/>
              <a:gd name="connsiteY62" fmla="*/ 68262 h 1787292"/>
              <a:gd name="connsiteX63" fmla="*/ 3705489 w 12192000"/>
              <a:gd name="connsiteY63" fmla="*/ 87312 h 1787292"/>
              <a:gd name="connsiteX64" fmla="*/ 3743589 w 12192000"/>
              <a:gd name="connsiteY64" fmla="*/ 106362 h 1787292"/>
              <a:gd name="connsiteX65" fmla="*/ 3780102 w 12192000"/>
              <a:gd name="connsiteY65" fmla="*/ 125412 h 1787292"/>
              <a:gd name="connsiteX66" fmla="*/ 3821377 w 12192000"/>
              <a:gd name="connsiteY66" fmla="*/ 141287 h 1787292"/>
              <a:gd name="connsiteX67" fmla="*/ 3867414 w 12192000"/>
              <a:gd name="connsiteY67" fmla="*/ 155575 h 1787292"/>
              <a:gd name="connsiteX68" fmla="*/ 3919802 w 12192000"/>
              <a:gd name="connsiteY68" fmla="*/ 166687 h 1787292"/>
              <a:gd name="connsiteX69" fmla="*/ 3980127 w 12192000"/>
              <a:gd name="connsiteY69" fmla="*/ 174625 h 1787292"/>
              <a:gd name="connsiteX70" fmla="*/ 4048389 w 12192000"/>
              <a:gd name="connsiteY70" fmla="*/ 176212 h 1787292"/>
              <a:gd name="connsiteX71" fmla="*/ 4116652 w 12192000"/>
              <a:gd name="connsiteY71" fmla="*/ 174625 h 1787292"/>
              <a:gd name="connsiteX72" fmla="*/ 4176977 w 12192000"/>
              <a:gd name="connsiteY72" fmla="*/ 166687 h 1787292"/>
              <a:gd name="connsiteX73" fmla="*/ 4229364 w 12192000"/>
              <a:gd name="connsiteY73" fmla="*/ 155575 h 1787292"/>
              <a:gd name="connsiteX74" fmla="*/ 4275402 w 12192000"/>
              <a:gd name="connsiteY74" fmla="*/ 141287 h 1787292"/>
              <a:gd name="connsiteX75" fmla="*/ 4316677 w 12192000"/>
              <a:gd name="connsiteY75" fmla="*/ 125412 h 1787292"/>
              <a:gd name="connsiteX76" fmla="*/ 4353189 w 12192000"/>
              <a:gd name="connsiteY76" fmla="*/ 106362 h 1787292"/>
              <a:gd name="connsiteX77" fmla="*/ 4429389 w 12192000"/>
              <a:gd name="connsiteY77" fmla="*/ 68262 h 1787292"/>
              <a:gd name="connsiteX78" fmla="*/ 4465902 w 12192000"/>
              <a:gd name="connsiteY78" fmla="*/ 52387 h 1787292"/>
              <a:gd name="connsiteX79" fmla="*/ 4507177 w 12192000"/>
              <a:gd name="connsiteY79" fmla="*/ 36512 h 1787292"/>
              <a:gd name="connsiteX80" fmla="*/ 4553214 w 12192000"/>
              <a:gd name="connsiteY80" fmla="*/ 20637 h 1787292"/>
              <a:gd name="connsiteX81" fmla="*/ 4605602 w 12192000"/>
              <a:gd name="connsiteY81" fmla="*/ 9525 h 1787292"/>
              <a:gd name="connsiteX82" fmla="*/ 4665928 w 12192000"/>
              <a:gd name="connsiteY82" fmla="*/ 3175 h 1787292"/>
              <a:gd name="connsiteX83" fmla="*/ 4734189 w 12192000"/>
              <a:gd name="connsiteY83" fmla="*/ 0 h 1787292"/>
              <a:gd name="connsiteX84" fmla="*/ 4802453 w 12192000"/>
              <a:gd name="connsiteY84" fmla="*/ 3175 h 1787292"/>
              <a:gd name="connsiteX85" fmla="*/ 4862777 w 12192000"/>
              <a:gd name="connsiteY85" fmla="*/ 9525 h 1787292"/>
              <a:gd name="connsiteX86" fmla="*/ 4915165 w 12192000"/>
              <a:gd name="connsiteY86" fmla="*/ 20637 h 1787292"/>
              <a:gd name="connsiteX87" fmla="*/ 4961201 w 12192000"/>
              <a:gd name="connsiteY87" fmla="*/ 36512 h 1787292"/>
              <a:gd name="connsiteX88" fmla="*/ 5002476 w 12192000"/>
              <a:gd name="connsiteY88" fmla="*/ 52387 h 1787292"/>
              <a:gd name="connsiteX89" fmla="*/ 5038989 w 12192000"/>
              <a:gd name="connsiteY89" fmla="*/ 68262 h 1787292"/>
              <a:gd name="connsiteX90" fmla="*/ 5077089 w 12192000"/>
              <a:gd name="connsiteY90" fmla="*/ 87312 h 1787292"/>
              <a:gd name="connsiteX91" fmla="*/ 5115189 w 12192000"/>
              <a:gd name="connsiteY91" fmla="*/ 106362 h 1787292"/>
              <a:gd name="connsiteX92" fmla="*/ 5151701 w 12192000"/>
              <a:gd name="connsiteY92" fmla="*/ 125412 h 1787292"/>
              <a:gd name="connsiteX93" fmla="*/ 5192976 w 12192000"/>
              <a:gd name="connsiteY93" fmla="*/ 141287 h 1787292"/>
              <a:gd name="connsiteX94" fmla="*/ 5239014 w 12192000"/>
              <a:gd name="connsiteY94" fmla="*/ 155575 h 1787292"/>
              <a:gd name="connsiteX95" fmla="*/ 5291401 w 12192000"/>
              <a:gd name="connsiteY95" fmla="*/ 166687 h 1787292"/>
              <a:gd name="connsiteX96" fmla="*/ 5351727 w 12192000"/>
              <a:gd name="connsiteY96" fmla="*/ 174625 h 1787292"/>
              <a:gd name="connsiteX97" fmla="*/ 5410199 w 12192000"/>
              <a:gd name="connsiteY97" fmla="*/ 175985 h 1787292"/>
              <a:gd name="connsiteX98" fmla="*/ 5468671 w 12192000"/>
              <a:gd name="connsiteY98" fmla="*/ 174625 h 1787292"/>
              <a:gd name="connsiteX99" fmla="*/ 5528996 w 12192000"/>
              <a:gd name="connsiteY99" fmla="*/ 166687 h 1787292"/>
              <a:gd name="connsiteX100" fmla="*/ 5581383 w 12192000"/>
              <a:gd name="connsiteY100" fmla="*/ 155575 h 1787292"/>
              <a:gd name="connsiteX101" fmla="*/ 5627421 w 12192000"/>
              <a:gd name="connsiteY101" fmla="*/ 141287 h 1787292"/>
              <a:gd name="connsiteX102" fmla="*/ 5668696 w 12192000"/>
              <a:gd name="connsiteY102" fmla="*/ 125412 h 1787292"/>
              <a:gd name="connsiteX103" fmla="*/ 5705209 w 12192000"/>
              <a:gd name="connsiteY103" fmla="*/ 106362 h 1787292"/>
              <a:gd name="connsiteX104" fmla="*/ 5743308 w 12192000"/>
              <a:gd name="connsiteY104" fmla="*/ 87312 h 1787292"/>
              <a:gd name="connsiteX105" fmla="*/ 5781408 w 12192000"/>
              <a:gd name="connsiteY105" fmla="*/ 68262 h 1787292"/>
              <a:gd name="connsiteX106" fmla="*/ 5817921 w 12192000"/>
              <a:gd name="connsiteY106" fmla="*/ 52387 h 1787292"/>
              <a:gd name="connsiteX107" fmla="*/ 5859196 w 12192000"/>
              <a:gd name="connsiteY107" fmla="*/ 36512 h 1787292"/>
              <a:gd name="connsiteX108" fmla="*/ 5905234 w 12192000"/>
              <a:gd name="connsiteY108" fmla="*/ 20637 h 1787292"/>
              <a:gd name="connsiteX109" fmla="*/ 5957621 w 12192000"/>
              <a:gd name="connsiteY109" fmla="*/ 9525 h 1787292"/>
              <a:gd name="connsiteX110" fmla="*/ 6017947 w 12192000"/>
              <a:gd name="connsiteY110" fmla="*/ 3175 h 1787292"/>
              <a:gd name="connsiteX111" fmla="*/ 6086208 w 12192000"/>
              <a:gd name="connsiteY111" fmla="*/ 0 h 1787292"/>
              <a:gd name="connsiteX112" fmla="*/ 6095999 w 12192000"/>
              <a:gd name="connsiteY112" fmla="*/ 455 h 1787292"/>
              <a:gd name="connsiteX113" fmla="*/ 6105789 w 12192000"/>
              <a:gd name="connsiteY113" fmla="*/ 0 h 1787292"/>
              <a:gd name="connsiteX114" fmla="*/ 6174052 w 12192000"/>
              <a:gd name="connsiteY114" fmla="*/ 3175 h 1787292"/>
              <a:gd name="connsiteX115" fmla="*/ 6234377 w 12192000"/>
              <a:gd name="connsiteY115" fmla="*/ 9525 h 1787292"/>
              <a:gd name="connsiteX116" fmla="*/ 6286764 w 12192000"/>
              <a:gd name="connsiteY116" fmla="*/ 20637 h 1787292"/>
              <a:gd name="connsiteX117" fmla="*/ 6332802 w 12192000"/>
              <a:gd name="connsiteY117" fmla="*/ 36512 h 1787292"/>
              <a:gd name="connsiteX118" fmla="*/ 6374077 w 12192000"/>
              <a:gd name="connsiteY118" fmla="*/ 52387 h 1787292"/>
              <a:gd name="connsiteX119" fmla="*/ 6410589 w 12192000"/>
              <a:gd name="connsiteY119" fmla="*/ 68262 h 1787292"/>
              <a:gd name="connsiteX120" fmla="*/ 6448689 w 12192000"/>
              <a:gd name="connsiteY120" fmla="*/ 87312 h 1787292"/>
              <a:gd name="connsiteX121" fmla="*/ 6486789 w 12192000"/>
              <a:gd name="connsiteY121" fmla="*/ 106362 h 1787292"/>
              <a:gd name="connsiteX122" fmla="*/ 6523302 w 12192000"/>
              <a:gd name="connsiteY122" fmla="*/ 125412 h 1787292"/>
              <a:gd name="connsiteX123" fmla="*/ 6564577 w 12192000"/>
              <a:gd name="connsiteY123" fmla="*/ 141287 h 1787292"/>
              <a:gd name="connsiteX124" fmla="*/ 6610614 w 12192000"/>
              <a:gd name="connsiteY124" fmla="*/ 155575 h 1787292"/>
              <a:gd name="connsiteX125" fmla="*/ 6663002 w 12192000"/>
              <a:gd name="connsiteY125" fmla="*/ 166687 h 1787292"/>
              <a:gd name="connsiteX126" fmla="*/ 6723327 w 12192000"/>
              <a:gd name="connsiteY126" fmla="*/ 174625 h 1787292"/>
              <a:gd name="connsiteX127" fmla="*/ 6781799 w 12192000"/>
              <a:gd name="connsiteY127" fmla="*/ 175985 h 1787292"/>
              <a:gd name="connsiteX128" fmla="*/ 6840271 w 12192000"/>
              <a:gd name="connsiteY128" fmla="*/ 174625 h 1787292"/>
              <a:gd name="connsiteX129" fmla="*/ 6900596 w 12192000"/>
              <a:gd name="connsiteY129" fmla="*/ 166687 h 1787292"/>
              <a:gd name="connsiteX130" fmla="*/ 6952983 w 12192000"/>
              <a:gd name="connsiteY130" fmla="*/ 155575 h 1787292"/>
              <a:gd name="connsiteX131" fmla="*/ 6999021 w 12192000"/>
              <a:gd name="connsiteY131" fmla="*/ 141287 h 1787292"/>
              <a:gd name="connsiteX132" fmla="*/ 7040296 w 12192000"/>
              <a:gd name="connsiteY132" fmla="*/ 125412 h 1787292"/>
              <a:gd name="connsiteX133" fmla="*/ 7076808 w 12192000"/>
              <a:gd name="connsiteY133" fmla="*/ 106362 h 1787292"/>
              <a:gd name="connsiteX134" fmla="*/ 7114908 w 12192000"/>
              <a:gd name="connsiteY134" fmla="*/ 87312 h 1787292"/>
              <a:gd name="connsiteX135" fmla="*/ 7153008 w 12192000"/>
              <a:gd name="connsiteY135" fmla="*/ 68262 h 1787292"/>
              <a:gd name="connsiteX136" fmla="*/ 7189521 w 12192000"/>
              <a:gd name="connsiteY136" fmla="*/ 52387 h 1787292"/>
              <a:gd name="connsiteX137" fmla="*/ 7230796 w 12192000"/>
              <a:gd name="connsiteY137" fmla="*/ 36512 h 1787292"/>
              <a:gd name="connsiteX138" fmla="*/ 7276833 w 12192000"/>
              <a:gd name="connsiteY138" fmla="*/ 20637 h 1787292"/>
              <a:gd name="connsiteX139" fmla="*/ 7329221 w 12192000"/>
              <a:gd name="connsiteY139" fmla="*/ 9525 h 1787292"/>
              <a:gd name="connsiteX140" fmla="*/ 7389546 w 12192000"/>
              <a:gd name="connsiteY140" fmla="*/ 3175 h 1787292"/>
              <a:gd name="connsiteX141" fmla="*/ 7457808 w 12192000"/>
              <a:gd name="connsiteY141" fmla="*/ 0 h 1787292"/>
              <a:gd name="connsiteX142" fmla="*/ 7526071 w 12192000"/>
              <a:gd name="connsiteY142" fmla="*/ 3175 h 1787292"/>
              <a:gd name="connsiteX143" fmla="*/ 7586396 w 12192000"/>
              <a:gd name="connsiteY143" fmla="*/ 9525 h 1787292"/>
              <a:gd name="connsiteX144" fmla="*/ 7638783 w 12192000"/>
              <a:gd name="connsiteY144" fmla="*/ 20637 h 1787292"/>
              <a:gd name="connsiteX145" fmla="*/ 7684821 w 12192000"/>
              <a:gd name="connsiteY145" fmla="*/ 36512 h 1787292"/>
              <a:gd name="connsiteX146" fmla="*/ 7726096 w 12192000"/>
              <a:gd name="connsiteY146" fmla="*/ 52387 h 1787292"/>
              <a:gd name="connsiteX147" fmla="*/ 7762608 w 12192000"/>
              <a:gd name="connsiteY147" fmla="*/ 68262 h 1787292"/>
              <a:gd name="connsiteX148" fmla="*/ 7800708 w 12192000"/>
              <a:gd name="connsiteY148" fmla="*/ 87312 h 1787292"/>
              <a:gd name="connsiteX149" fmla="*/ 7838808 w 12192000"/>
              <a:gd name="connsiteY149" fmla="*/ 106362 h 1787292"/>
              <a:gd name="connsiteX150" fmla="*/ 7875321 w 12192000"/>
              <a:gd name="connsiteY150" fmla="*/ 125412 h 1787292"/>
              <a:gd name="connsiteX151" fmla="*/ 7916596 w 12192000"/>
              <a:gd name="connsiteY151" fmla="*/ 141287 h 1787292"/>
              <a:gd name="connsiteX152" fmla="*/ 7962633 w 12192000"/>
              <a:gd name="connsiteY152" fmla="*/ 155575 h 1787292"/>
              <a:gd name="connsiteX153" fmla="*/ 8015021 w 12192000"/>
              <a:gd name="connsiteY153" fmla="*/ 166687 h 1787292"/>
              <a:gd name="connsiteX154" fmla="*/ 8075346 w 12192000"/>
              <a:gd name="connsiteY154" fmla="*/ 174625 h 1787292"/>
              <a:gd name="connsiteX155" fmla="*/ 8143608 w 12192000"/>
              <a:gd name="connsiteY155" fmla="*/ 176212 h 1787292"/>
              <a:gd name="connsiteX156" fmla="*/ 8211871 w 12192000"/>
              <a:gd name="connsiteY156" fmla="*/ 174625 h 1787292"/>
              <a:gd name="connsiteX157" fmla="*/ 8272196 w 12192000"/>
              <a:gd name="connsiteY157" fmla="*/ 166687 h 1787292"/>
              <a:gd name="connsiteX158" fmla="*/ 8324583 w 12192000"/>
              <a:gd name="connsiteY158" fmla="*/ 155575 h 1787292"/>
              <a:gd name="connsiteX159" fmla="*/ 8370621 w 12192000"/>
              <a:gd name="connsiteY159" fmla="*/ 141287 h 1787292"/>
              <a:gd name="connsiteX160" fmla="*/ 8411896 w 12192000"/>
              <a:gd name="connsiteY160" fmla="*/ 125412 h 1787292"/>
              <a:gd name="connsiteX161" fmla="*/ 8448408 w 12192000"/>
              <a:gd name="connsiteY161" fmla="*/ 106362 h 1787292"/>
              <a:gd name="connsiteX162" fmla="*/ 8486508 w 12192000"/>
              <a:gd name="connsiteY162" fmla="*/ 87312 h 1787292"/>
              <a:gd name="connsiteX163" fmla="*/ 8524608 w 12192000"/>
              <a:gd name="connsiteY163" fmla="*/ 68262 h 1787292"/>
              <a:gd name="connsiteX164" fmla="*/ 8561120 w 12192000"/>
              <a:gd name="connsiteY164" fmla="*/ 52387 h 1787292"/>
              <a:gd name="connsiteX165" fmla="*/ 8602396 w 12192000"/>
              <a:gd name="connsiteY165" fmla="*/ 36512 h 1787292"/>
              <a:gd name="connsiteX166" fmla="*/ 8648432 w 12192000"/>
              <a:gd name="connsiteY166" fmla="*/ 20637 h 1787292"/>
              <a:gd name="connsiteX167" fmla="*/ 8700820 w 12192000"/>
              <a:gd name="connsiteY167" fmla="*/ 9525 h 1787292"/>
              <a:gd name="connsiteX168" fmla="*/ 8761146 w 12192000"/>
              <a:gd name="connsiteY168" fmla="*/ 3175 h 1787292"/>
              <a:gd name="connsiteX169" fmla="*/ 8827820 w 12192000"/>
              <a:gd name="connsiteY169" fmla="*/ 0 h 1787292"/>
              <a:gd name="connsiteX170" fmla="*/ 8897670 w 12192000"/>
              <a:gd name="connsiteY170" fmla="*/ 3175 h 1787292"/>
              <a:gd name="connsiteX171" fmla="*/ 8957996 w 12192000"/>
              <a:gd name="connsiteY171" fmla="*/ 9525 h 1787292"/>
              <a:gd name="connsiteX172" fmla="*/ 9010382 w 12192000"/>
              <a:gd name="connsiteY172" fmla="*/ 20637 h 1787292"/>
              <a:gd name="connsiteX173" fmla="*/ 9056420 w 12192000"/>
              <a:gd name="connsiteY173" fmla="*/ 36512 h 1787292"/>
              <a:gd name="connsiteX174" fmla="*/ 9097696 w 12192000"/>
              <a:gd name="connsiteY174" fmla="*/ 52387 h 1787292"/>
              <a:gd name="connsiteX175" fmla="*/ 9134208 w 12192000"/>
              <a:gd name="connsiteY175" fmla="*/ 68262 h 1787292"/>
              <a:gd name="connsiteX176" fmla="*/ 9172308 w 12192000"/>
              <a:gd name="connsiteY176" fmla="*/ 87312 h 1787292"/>
              <a:gd name="connsiteX177" fmla="*/ 9210408 w 12192000"/>
              <a:gd name="connsiteY177" fmla="*/ 106362 h 1787292"/>
              <a:gd name="connsiteX178" fmla="*/ 9246920 w 12192000"/>
              <a:gd name="connsiteY178" fmla="*/ 125412 h 1787292"/>
              <a:gd name="connsiteX179" fmla="*/ 9288196 w 12192000"/>
              <a:gd name="connsiteY179" fmla="*/ 141287 h 1787292"/>
              <a:gd name="connsiteX180" fmla="*/ 9334232 w 12192000"/>
              <a:gd name="connsiteY180" fmla="*/ 155575 h 1787292"/>
              <a:gd name="connsiteX181" fmla="*/ 9386620 w 12192000"/>
              <a:gd name="connsiteY181" fmla="*/ 166687 h 1787292"/>
              <a:gd name="connsiteX182" fmla="*/ 9446946 w 12192000"/>
              <a:gd name="connsiteY182" fmla="*/ 174625 h 1787292"/>
              <a:gd name="connsiteX183" fmla="*/ 9515208 w 12192000"/>
              <a:gd name="connsiteY183" fmla="*/ 176212 h 1787292"/>
              <a:gd name="connsiteX184" fmla="*/ 9583470 w 12192000"/>
              <a:gd name="connsiteY184" fmla="*/ 174625 h 1787292"/>
              <a:gd name="connsiteX185" fmla="*/ 9643796 w 12192000"/>
              <a:gd name="connsiteY185" fmla="*/ 166687 h 1787292"/>
              <a:gd name="connsiteX186" fmla="*/ 9696182 w 12192000"/>
              <a:gd name="connsiteY186" fmla="*/ 155575 h 1787292"/>
              <a:gd name="connsiteX187" fmla="*/ 9742220 w 12192000"/>
              <a:gd name="connsiteY187" fmla="*/ 141287 h 1787292"/>
              <a:gd name="connsiteX188" fmla="*/ 9783496 w 12192000"/>
              <a:gd name="connsiteY188" fmla="*/ 125412 h 1787292"/>
              <a:gd name="connsiteX189" fmla="*/ 9820008 w 12192000"/>
              <a:gd name="connsiteY189" fmla="*/ 106362 h 1787292"/>
              <a:gd name="connsiteX190" fmla="*/ 9896208 w 12192000"/>
              <a:gd name="connsiteY190" fmla="*/ 68262 h 1787292"/>
              <a:gd name="connsiteX191" fmla="*/ 9932720 w 12192000"/>
              <a:gd name="connsiteY191" fmla="*/ 52387 h 1787292"/>
              <a:gd name="connsiteX192" fmla="*/ 9973996 w 12192000"/>
              <a:gd name="connsiteY192" fmla="*/ 36512 h 1787292"/>
              <a:gd name="connsiteX193" fmla="*/ 10020032 w 12192000"/>
              <a:gd name="connsiteY193" fmla="*/ 20637 h 1787292"/>
              <a:gd name="connsiteX194" fmla="*/ 10072420 w 12192000"/>
              <a:gd name="connsiteY194" fmla="*/ 9525 h 1787292"/>
              <a:gd name="connsiteX195" fmla="*/ 10132746 w 12192000"/>
              <a:gd name="connsiteY195" fmla="*/ 3175 h 1787292"/>
              <a:gd name="connsiteX196" fmla="*/ 10201008 w 12192000"/>
              <a:gd name="connsiteY196" fmla="*/ 0 h 1787292"/>
              <a:gd name="connsiteX197" fmla="*/ 10269270 w 12192000"/>
              <a:gd name="connsiteY197" fmla="*/ 3175 h 1787292"/>
              <a:gd name="connsiteX198" fmla="*/ 10329596 w 12192000"/>
              <a:gd name="connsiteY198" fmla="*/ 9525 h 1787292"/>
              <a:gd name="connsiteX199" fmla="*/ 10381982 w 12192000"/>
              <a:gd name="connsiteY199" fmla="*/ 20637 h 1787292"/>
              <a:gd name="connsiteX200" fmla="*/ 10428020 w 12192000"/>
              <a:gd name="connsiteY200" fmla="*/ 36512 h 1787292"/>
              <a:gd name="connsiteX201" fmla="*/ 10469296 w 12192000"/>
              <a:gd name="connsiteY201" fmla="*/ 52387 h 1787292"/>
              <a:gd name="connsiteX202" fmla="*/ 10505808 w 12192000"/>
              <a:gd name="connsiteY202" fmla="*/ 68262 h 1787292"/>
              <a:gd name="connsiteX203" fmla="*/ 10543908 w 12192000"/>
              <a:gd name="connsiteY203" fmla="*/ 87312 h 1787292"/>
              <a:gd name="connsiteX204" fmla="*/ 10582008 w 12192000"/>
              <a:gd name="connsiteY204" fmla="*/ 106362 h 1787292"/>
              <a:gd name="connsiteX205" fmla="*/ 10618520 w 12192000"/>
              <a:gd name="connsiteY205" fmla="*/ 125412 h 1787292"/>
              <a:gd name="connsiteX206" fmla="*/ 10659796 w 12192000"/>
              <a:gd name="connsiteY206" fmla="*/ 141287 h 1787292"/>
              <a:gd name="connsiteX207" fmla="*/ 10705832 w 12192000"/>
              <a:gd name="connsiteY207" fmla="*/ 155575 h 1787292"/>
              <a:gd name="connsiteX208" fmla="*/ 10758220 w 12192000"/>
              <a:gd name="connsiteY208" fmla="*/ 166687 h 1787292"/>
              <a:gd name="connsiteX209" fmla="*/ 10818546 w 12192000"/>
              <a:gd name="connsiteY209" fmla="*/ 174625 h 1787292"/>
              <a:gd name="connsiteX210" fmla="*/ 10886808 w 12192000"/>
              <a:gd name="connsiteY210" fmla="*/ 176212 h 1787292"/>
              <a:gd name="connsiteX211" fmla="*/ 10955070 w 12192000"/>
              <a:gd name="connsiteY211" fmla="*/ 174625 h 1787292"/>
              <a:gd name="connsiteX212" fmla="*/ 11015396 w 12192000"/>
              <a:gd name="connsiteY212" fmla="*/ 166687 h 1787292"/>
              <a:gd name="connsiteX213" fmla="*/ 11067782 w 12192000"/>
              <a:gd name="connsiteY213" fmla="*/ 155575 h 1787292"/>
              <a:gd name="connsiteX214" fmla="*/ 11113820 w 12192000"/>
              <a:gd name="connsiteY214" fmla="*/ 141287 h 1787292"/>
              <a:gd name="connsiteX215" fmla="*/ 11155096 w 12192000"/>
              <a:gd name="connsiteY215" fmla="*/ 125412 h 1787292"/>
              <a:gd name="connsiteX216" fmla="*/ 11191608 w 12192000"/>
              <a:gd name="connsiteY216" fmla="*/ 106362 h 1787292"/>
              <a:gd name="connsiteX217" fmla="*/ 11229708 w 12192000"/>
              <a:gd name="connsiteY217" fmla="*/ 87312 h 1787292"/>
              <a:gd name="connsiteX218" fmla="*/ 11267808 w 12192000"/>
              <a:gd name="connsiteY218" fmla="*/ 68262 h 1787292"/>
              <a:gd name="connsiteX219" fmla="*/ 11304320 w 12192000"/>
              <a:gd name="connsiteY219" fmla="*/ 52387 h 1787292"/>
              <a:gd name="connsiteX220" fmla="*/ 11345596 w 12192000"/>
              <a:gd name="connsiteY220" fmla="*/ 36512 h 1787292"/>
              <a:gd name="connsiteX221" fmla="*/ 11391632 w 12192000"/>
              <a:gd name="connsiteY221" fmla="*/ 20637 h 1787292"/>
              <a:gd name="connsiteX222" fmla="*/ 11444020 w 12192000"/>
              <a:gd name="connsiteY222" fmla="*/ 9525 h 1787292"/>
              <a:gd name="connsiteX223" fmla="*/ 11504346 w 12192000"/>
              <a:gd name="connsiteY223" fmla="*/ 3175 h 1787292"/>
              <a:gd name="connsiteX224" fmla="*/ 11572608 w 12192000"/>
              <a:gd name="connsiteY224" fmla="*/ 0 h 1787292"/>
              <a:gd name="connsiteX225" fmla="*/ 11640870 w 12192000"/>
              <a:gd name="connsiteY225" fmla="*/ 3175 h 1787292"/>
              <a:gd name="connsiteX226" fmla="*/ 11701196 w 12192000"/>
              <a:gd name="connsiteY226" fmla="*/ 9525 h 1787292"/>
              <a:gd name="connsiteX227" fmla="*/ 11753582 w 12192000"/>
              <a:gd name="connsiteY227" fmla="*/ 20637 h 1787292"/>
              <a:gd name="connsiteX228" fmla="*/ 11799620 w 12192000"/>
              <a:gd name="connsiteY228" fmla="*/ 36512 h 1787292"/>
              <a:gd name="connsiteX229" fmla="*/ 11840896 w 12192000"/>
              <a:gd name="connsiteY229" fmla="*/ 52387 h 1787292"/>
              <a:gd name="connsiteX230" fmla="*/ 11877408 w 12192000"/>
              <a:gd name="connsiteY230" fmla="*/ 68262 h 1787292"/>
              <a:gd name="connsiteX231" fmla="*/ 11915508 w 12192000"/>
              <a:gd name="connsiteY231" fmla="*/ 87312 h 1787292"/>
              <a:gd name="connsiteX232" fmla="*/ 11953608 w 12192000"/>
              <a:gd name="connsiteY232" fmla="*/ 106362 h 1787292"/>
              <a:gd name="connsiteX233" fmla="*/ 11990120 w 12192000"/>
              <a:gd name="connsiteY233" fmla="*/ 125412 h 1787292"/>
              <a:gd name="connsiteX234" fmla="*/ 12031396 w 12192000"/>
              <a:gd name="connsiteY234" fmla="*/ 141287 h 1787292"/>
              <a:gd name="connsiteX235" fmla="*/ 12077432 w 12192000"/>
              <a:gd name="connsiteY235" fmla="*/ 155575 h 1787292"/>
              <a:gd name="connsiteX236" fmla="*/ 12129820 w 12192000"/>
              <a:gd name="connsiteY236" fmla="*/ 166688 h 1787292"/>
              <a:gd name="connsiteX237" fmla="*/ 12190146 w 12192000"/>
              <a:gd name="connsiteY237" fmla="*/ 174625 h 1787292"/>
              <a:gd name="connsiteX238" fmla="*/ 12192000 w 12192000"/>
              <a:gd name="connsiteY238" fmla="*/ 174668 h 1787292"/>
              <a:gd name="connsiteX239" fmla="*/ 12192000 w 12192000"/>
              <a:gd name="connsiteY239" fmla="*/ 885826 h 1787292"/>
              <a:gd name="connsiteX240" fmla="*/ 12192000 w 12192000"/>
              <a:gd name="connsiteY240" fmla="*/ 1787292 h 1787292"/>
              <a:gd name="connsiteX241" fmla="*/ 0 w 12192000"/>
              <a:gd name="connsiteY241" fmla="*/ 1787292 h 1787292"/>
              <a:gd name="connsiteX242" fmla="*/ 0 w 12192000"/>
              <a:gd name="connsiteY242" fmla="*/ 885826 h 1787292"/>
              <a:gd name="connsiteX243" fmla="*/ 0 w 12192000"/>
              <a:gd name="connsiteY243" fmla="*/ 174668 h 1787292"/>
              <a:gd name="connsiteX244" fmla="*/ 1852 w 12192000"/>
              <a:gd name="connsiteY244" fmla="*/ 174625 h 1787292"/>
              <a:gd name="connsiteX245" fmla="*/ 62177 w 12192000"/>
              <a:gd name="connsiteY245" fmla="*/ 166687 h 1787292"/>
              <a:gd name="connsiteX246" fmla="*/ 114564 w 12192000"/>
              <a:gd name="connsiteY246" fmla="*/ 155575 h 1787292"/>
              <a:gd name="connsiteX247" fmla="*/ 160602 w 12192000"/>
              <a:gd name="connsiteY247" fmla="*/ 141287 h 1787292"/>
              <a:gd name="connsiteX248" fmla="*/ 201877 w 12192000"/>
              <a:gd name="connsiteY248" fmla="*/ 125412 h 1787292"/>
              <a:gd name="connsiteX249" fmla="*/ 238389 w 12192000"/>
              <a:gd name="connsiteY249" fmla="*/ 106362 h 1787292"/>
              <a:gd name="connsiteX250" fmla="*/ 276489 w 12192000"/>
              <a:gd name="connsiteY250" fmla="*/ 87312 h 1787292"/>
              <a:gd name="connsiteX251" fmla="*/ 314589 w 12192000"/>
              <a:gd name="connsiteY251" fmla="*/ 68262 h 1787292"/>
              <a:gd name="connsiteX252" fmla="*/ 351102 w 12192000"/>
              <a:gd name="connsiteY252" fmla="*/ 52387 h 1787292"/>
              <a:gd name="connsiteX253" fmla="*/ 392377 w 12192000"/>
              <a:gd name="connsiteY253" fmla="*/ 36512 h 1787292"/>
              <a:gd name="connsiteX254" fmla="*/ 438414 w 12192000"/>
              <a:gd name="connsiteY254" fmla="*/ 20637 h 1787292"/>
              <a:gd name="connsiteX255" fmla="*/ 490802 w 12192000"/>
              <a:gd name="connsiteY255" fmla="*/ 9525 h 1787292"/>
              <a:gd name="connsiteX256" fmla="*/ 551127 w 12192000"/>
              <a:gd name="connsiteY256" fmla="*/ 3175 h 178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2192000" h="1787292">
                <a:moveTo>
                  <a:pt x="619389" y="0"/>
                </a:moveTo>
                <a:lnTo>
                  <a:pt x="687652" y="3175"/>
                </a:lnTo>
                <a:lnTo>
                  <a:pt x="747977" y="9525"/>
                </a:lnTo>
                <a:lnTo>
                  <a:pt x="800364" y="20637"/>
                </a:lnTo>
                <a:lnTo>
                  <a:pt x="846402" y="36512"/>
                </a:lnTo>
                <a:lnTo>
                  <a:pt x="887677" y="52387"/>
                </a:lnTo>
                <a:lnTo>
                  <a:pt x="924189" y="68262"/>
                </a:lnTo>
                <a:lnTo>
                  <a:pt x="962289" y="87312"/>
                </a:lnTo>
                <a:lnTo>
                  <a:pt x="1000389" y="106362"/>
                </a:lnTo>
                <a:lnTo>
                  <a:pt x="1036902" y="125412"/>
                </a:lnTo>
                <a:lnTo>
                  <a:pt x="1078177" y="141287"/>
                </a:lnTo>
                <a:lnTo>
                  <a:pt x="1124214" y="155575"/>
                </a:lnTo>
                <a:lnTo>
                  <a:pt x="1176602" y="166687"/>
                </a:lnTo>
                <a:lnTo>
                  <a:pt x="1236927" y="174625"/>
                </a:lnTo>
                <a:lnTo>
                  <a:pt x="1305189" y="176212"/>
                </a:lnTo>
                <a:lnTo>
                  <a:pt x="1373452" y="174625"/>
                </a:lnTo>
                <a:lnTo>
                  <a:pt x="1433777" y="166687"/>
                </a:lnTo>
                <a:lnTo>
                  <a:pt x="1486164" y="155575"/>
                </a:lnTo>
                <a:lnTo>
                  <a:pt x="1532202" y="141287"/>
                </a:lnTo>
                <a:lnTo>
                  <a:pt x="1573477" y="125412"/>
                </a:lnTo>
                <a:lnTo>
                  <a:pt x="1609989" y="106362"/>
                </a:lnTo>
                <a:lnTo>
                  <a:pt x="1648089" y="87312"/>
                </a:lnTo>
                <a:lnTo>
                  <a:pt x="1686189" y="68262"/>
                </a:lnTo>
                <a:lnTo>
                  <a:pt x="1722702" y="52387"/>
                </a:lnTo>
                <a:lnTo>
                  <a:pt x="1763977" y="36512"/>
                </a:lnTo>
                <a:lnTo>
                  <a:pt x="1810014" y="20637"/>
                </a:lnTo>
                <a:lnTo>
                  <a:pt x="1862402" y="9525"/>
                </a:lnTo>
                <a:lnTo>
                  <a:pt x="1922727" y="3175"/>
                </a:lnTo>
                <a:lnTo>
                  <a:pt x="1990989" y="0"/>
                </a:lnTo>
                <a:lnTo>
                  <a:pt x="2059252" y="3175"/>
                </a:lnTo>
                <a:lnTo>
                  <a:pt x="2119577" y="9525"/>
                </a:lnTo>
                <a:lnTo>
                  <a:pt x="2171964" y="20637"/>
                </a:lnTo>
                <a:lnTo>
                  <a:pt x="2218002" y="36512"/>
                </a:lnTo>
                <a:lnTo>
                  <a:pt x="2259277" y="52387"/>
                </a:lnTo>
                <a:lnTo>
                  <a:pt x="2295789" y="68262"/>
                </a:lnTo>
                <a:lnTo>
                  <a:pt x="2333889" y="87312"/>
                </a:lnTo>
                <a:lnTo>
                  <a:pt x="2371989" y="106362"/>
                </a:lnTo>
                <a:lnTo>
                  <a:pt x="2408502" y="125412"/>
                </a:lnTo>
                <a:lnTo>
                  <a:pt x="2449777" y="141287"/>
                </a:lnTo>
                <a:lnTo>
                  <a:pt x="2495814" y="155575"/>
                </a:lnTo>
                <a:lnTo>
                  <a:pt x="2548202" y="166687"/>
                </a:lnTo>
                <a:lnTo>
                  <a:pt x="2608527" y="174625"/>
                </a:lnTo>
                <a:lnTo>
                  <a:pt x="2676789" y="176212"/>
                </a:lnTo>
                <a:lnTo>
                  <a:pt x="2745052" y="174625"/>
                </a:lnTo>
                <a:lnTo>
                  <a:pt x="2805377" y="166687"/>
                </a:lnTo>
                <a:lnTo>
                  <a:pt x="2857764" y="155575"/>
                </a:lnTo>
                <a:lnTo>
                  <a:pt x="2903802" y="141287"/>
                </a:lnTo>
                <a:lnTo>
                  <a:pt x="2945077" y="125412"/>
                </a:lnTo>
                <a:lnTo>
                  <a:pt x="2981589" y="106362"/>
                </a:lnTo>
                <a:lnTo>
                  <a:pt x="3019689" y="87312"/>
                </a:lnTo>
                <a:lnTo>
                  <a:pt x="3057789" y="68262"/>
                </a:lnTo>
                <a:lnTo>
                  <a:pt x="3094302" y="52387"/>
                </a:lnTo>
                <a:lnTo>
                  <a:pt x="3135577" y="36512"/>
                </a:lnTo>
                <a:lnTo>
                  <a:pt x="3181614" y="20637"/>
                </a:lnTo>
                <a:lnTo>
                  <a:pt x="3234002" y="9525"/>
                </a:lnTo>
                <a:lnTo>
                  <a:pt x="3294327" y="3175"/>
                </a:lnTo>
                <a:lnTo>
                  <a:pt x="3361002" y="0"/>
                </a:lnTo>
                <a:lnTo>
                  <a:pt x="3430852" y="3175"/>
                </a:lnTo>
                <a:lnTo>
                  <a:pt x="3491177" y="9525"/>
                </a:lnTo>
                <a:lnTo>
                  <a:pt x="3543564" y="20637"/>
                </a:lnTo>
                <a:lnTo>
                  <a:pt x="3589602" y="36512"/>
                </a:lnTo>
                <a:lnTo>
                  <a:pt x="3630877" y="52387"/>
                </a:lnTo>
                <a:lnTo>
                  <a:pt x="3667389" y="68262"/>
                </a:lnTo>
                <a:lnTo>
                  <a:pt x="3705489" y="87312"/>
                </a:lnTo>
                <a:lnTo>
                  <a:pt x="3743589" y="106362"/>
                </a:lnTo>
                <a:lnTo>
                  <a:pt x="3780102" y="125412"/>
                </a:lnTo>
                <a:lnTo>
                  <a:pt x="3821377" y="141287"/>
                </a:lnTo>
                <a:lnTo>
                  <a:pt x="3867414" y="155575"/>
                </a:lnTo>
                <a:lnTo>
                  <a:pt x="3919802" y="166687"/>
                </a:lnTo>
                <a:lnTo>
                  <a:pt x="3980127" y="174625"/>
                </a:lnTo>
                <a:lnTo>
                  <a:pt x="4048389" y="176212"/>
                </a:lnTo>
                <a:lnTo>
                  <a:pt x="4116652" y="174625"/>
                </a:lnTo>
                <a:lnTo>
                  <a:pt x="4176977" y="166687"/>
                </a:lnTo>
                <a:lnTo>
                  <a:pt x="4229364" y="155575"/>
                </a:lnTo>
                <a:lnTo>
                  <a:pt x="4275402" y="141287"/>
                </a:lnTo>
                <a:lnTo>
                  <a:pt x="4316677" y="125412"/>
                </a:lnTo>
                <a:lnTo>
                  <a:pt x="4353189" y="106362"/>
                </a:lnTo>
                <a:lnTo>
                  <a:pt x="4429389" y="68262"/>
                </a:lnTo>
                <a:lnTo>
                  <a:pt x="4465902" y="52387"/>
                </a:lnTo>
                <a:lnTo>
                  <a:pt x="4507177" y="36512"/>
                </a:lnTo>
                <a:lnTo>
                  <a:pt x="4553214" y="20637"/>
                </a:lnTo>
                <a:lnTo>
                  <a:pt x="4605602" y="9525"/>
                </a:lnTo>
                <a:lnTo>
                  <a:pt x="4665928" y="3175"/>
                </a:lnTo>
                <a:lnTo>
                  <a:pt x="4734189" y="0"/>
                </a:lnTo>
                <a:lnTo>
                  <a:pt x="4802453" y="3175"/>
                </a:lnTo>
                <a:lnTo>
                  <a:pt x="4862777" y="9525"/>
                </a:lnTo>
                <a:lnTo>
                  <a:pt x="4915165" y="20637"/>
                </a:lnTo>
                <a:lnTo>
                  <a:pt x="4961201" y="36512"/>
                </a:lnTo>
                <a:lnTo>
                  <a:pt x="5002476" y="52387"/>
                </a:lnTo>
                <a:lnTo>
                  <a:pt x="5038989" y="68262"/>
                </a:lnTo>
                <a:lnTo>
                  <a:pt x="5077089" y="87312"/>
                </a:lnTo>
                <a:lnTo>
                  <a:pt x="5115189" y="106362"/>
                </a:lnTo>
                <a:lnTo>
                  <a:pt x="5151701" y="125412"/>
                </a:lnTo>
                <a:lnTo>
                  <a:pt x="5192976" y="141287"/>
                </a:lnTo>
                <a:lnTo>
                  <a:pt x="5239014" y="155575"/>
                </a:lnTo>
                <a:lnTo>
                  <a:pt x="5291401" y="166687"/>
                </a:lnTo>
                <a:lnTo>
                  <a:pt x="5351727" y="174625"/>
                </a:lnTo>
                <a:lnTo>
                  <a:pt x="5410199" y="175985"/>
                </a:lnTo>
                <a:lnTo>
                  <a:pt x="5468671" y="174625"/>
                </a:lnTo>
                <a:lnTo>
                  <a:pt x="5528996" y="166687"/>
                </a:lnTo>
                <a:lnTo>
                  <a:pt x="5581383" y="155575"/>
                </a:lnTo>
                <a:lnTo>
                  <a:pt x="5627421" y="141287"/>
                </a:lnTo>
                <a:lnTo>
                  <a:pt x="5668696" y="125412"/>
                </a:lnTo>
                <a:lnTo>
                  <a:pt x="5705209" y="106362"/>
                </a:lnTo>
                <a:lnTo>
                  <a:pt x="5743308" y="87312"/>
                </a:lnTo>
                <a:lnTo>
                  <a:pt x="5781408" y="68262"/>
                </a:lnTo>
                <a:lnTo>
                  <a:pt x="5817921" y="52387"/>
                </a:lnTo>
                <a:lnTo>
                  <a:pt x="5859196" y="36512"/>
                </a:lnTo>
                <a:lnTo>
                  <a:pt x="5905234" y="20637"/>
                </a:lnTo>
                <a:lnTo>
                  <a:pt x="5957621" y="9525"/>
                </a:lnTo>
                <a:lnTo>
                  <a:pt x="6017947" y="3175"/>
                </a:lnTo>
                <a:lnTo>
                  <a:pt x="6086208" y="0"/>
                </a:lnTo>
                <a:lnTo>
                  <a:pt x="6095999" y="455"/>
                </a:lnTo>
                <a:lnTo>
                  <a:pt x="6105789" y="0"/>
                </a:lnTo>
                <a:lnTo>
                  <a:pt x="6174052" y="3175"/>
                </a:lnTo>
                <a:lnTo>
                  <a:pt x="6234377" y="9525"/>
                </a:lnTo>
                <a:lnTo>
                  <a:pt x="6286764" y="20637"/>
                </a:lnTo>
                <a:lnTo>
                  <a:pt x="6332802" y="36512"/>
                </a:lnTo>
                <a:lnTo>
                  <a:pt x="6374077" y="52387"/>
                </a:lnTo>
                <a:lnTo>
                  <a:pt x="6410589" y="68262"/>
                </a:lnTo>
                <a:lnTo>
                  <a:pt x="6448689" y="87312"/>
                </a:lnTo>
                <a:lnTo>
                  <a:pt x="6486789" y="106362"/>
                </a:lnTo>
                <a:lnTo>
                  <a:pt x="6523302" y="125412"/>
                </a:lnTo>
                <a:lnTo>
                  <a:pt x="6564577" y="141287"/>
                </a:lnTo>
                <a:lnTo>
                  <a:pt x="6610614" y="155575"/>
                </a:lnTo>
                <a:lnTo>
                  <a:pt x="6663002" y="166687"/>
                </a:lnTo>
                <a:lnTo>
                  <a:pt x="6723327" y="174625"/>
                </a:lnTo>
                <a:lnTo>
                  <a:pt x="6781799" y="175985"/>
                </a:lnTo>
                <a:lnTo>
                  <a:pt x="6840271" y="174625"/>
                </a:lnTo>
                <a:lnTo>
                  <a:pt x="6900596" y="166687"/>
                </a:lnTo>
                <a:lnTo>
                  <a:pt x="6952983" y="155575"/>
                </a:lnTo>
                <a:lnTo>
                  <a:pt x="6999021" y="141287"/>
                </a:lnTo>
                <a:lnTo>
                  <a:pt x="7040296" y="125412"/>
                </a:lnTo>
                <a:lnTo>
                  <a:pt x="7076808" y="106362"/>
                </a:lnTo>
                <a:lnTo>
                  <a:pt x="7114908" y="87312"/>
                </a:lnTo>
                <a:lnTo>
                  <a:pt x="7153008" y="68262"/>
                </a:lnTo>
                <a:lnTo>
                  <a:pt x="7189521" y="52387"/>
                </a:lnTo>
                <a:lnTo>
                  <a:pt x="7230796" y="36512"/>
                </a:lnTo>
                <a:lnTo>
                  <a:pt x="7276833" y="20637"/>
                </a:lnTo>
                <a:lnTo>
                  <a:pt x="7329221" y="9525"/>
                </a:lnTo>
                <a:lnTo>
                  <a:pt x="7389546" y="3175"/>
                </a:lnTo>
                <a:lnTo>
                  <a:pt x="7457808" y="0"/>
                </a:lnTo>
                <a:lnTo>
                  <a:pt x="7526071" y="3175"/>
                </a:lnTo>
                <a:lnTo>
                  <a:pt x="7586396" y="9525"/>
                </a:lnTo>
                <a:lnTo>
                  <a:pt x="7638783" y="20637"/>
                </a:lnTo>
                <a:lnTo>
                  <a:pt x="7684821" y="36512"/>
                </a:lnTo>
                <a:lnTo>
                  <a:pt x="7726096" y="52387"/>
                </a:lnTo>
                <a:lnTo>
                  <a:pt x="7762608" y="68262"/>
                </a:lnTo>
                <a:lnTo>
                  <a:pt x="7800708" y="87312"/>
                </a:lnTo>
                <a:lnTo>
                  <a:pt x="7838808" y="106362"/>
                </a:lnTo>
                <a:lnTo>
                  <a:pt x="7875321" y="125412"/>
                </a:lnTo>
                <a:lnTo>
                  <a:pt x="7916596" y="141287"/>
                </a:lnTo>
                <a:lnTo>
                  <a:pt x="7962633" y="155575"/>
                </a:lnTo>
                <a:lnTo>
                  <a:pt x="8015021" y="166687"/>
                </a:lnTo>
                <a:lnTo>
                  <a:pt x="8075346" y="174625"/>
                </a:lnTo>
                <a:lnTo>
                  <a:pt x="8143608" y="176212"/>
                </a:lnTo>
                <a:lnTo>
                  <a:pt x="8211871" y="174625"/>
                </a:lnTo>
                <a:lnTo>
                  <a:pt x="8272196" y="166687"/>
                </a:lnTo>
                <a:lnTo>
                  <a:pt x="8324583" y="155575"/>
                </a:lnTo>
                <a:lnTo>
                  <a:pt x="8370621" y="141287"/>
                </a:lnTo>
                <a:lnTo>
                  <a:pt x="8411896" y="125412"/>
                </a:lnTo>
                <a:lnTo>
                  <a:pt x="8448408" y="106362"/>
                </a:lnTo>
                <a:lnTo>
                  <a:pt x="8486508" y="87312"/>
                </a:lnTo>
                <a:lnTo>
                  <a:pt x="8524608" y="68262"/>
                </a:lnTo>
                <a:lnTo>
                  <a:pt x="8561120" y="52387"/>
                </a:lnTo>
                <a:lnTo>
                  <a:pt x="8602396" y="36512"/>
                </a:lnTo>
                <a:lnTo>
                  <a:pt x="8648432" y="20637"/>
                </a:lnTo>
                <a:lnTo>
                  <a:pt x="8700820" y="9525"/>
                </a:lnTo>
                <a:lnTo>
                  <a:pt x="8761146" y="3175"/>
                </a:lnTo>
                <a:lnTo>
                  <a:pt x="8827820" y="0"/>
                </a:lnTo>
                <a:lnTo>
                  <a:pt x="8897670" y="3175"/>
                </a:lnTo>
                <a:lnTo>
                  <a:pt x="8957996" y="9525"/>
                </a:lnTo>
                <a:lnTo>
                  <a:pt x="9010382" y="20637"/>
                </a:lnTo>
                <a:lnTo>
                  <a:pt x="9056420" y="36512"/>
                </a:lnTo>
                <a:lnTo>
                  <a:pt x="9097696" y="52387"/>
                </a:lnTo>
                <a:lnTo>
                  <a:pt x="9134208" y="68262"/>
                </a:lnTo>
                <a:lnTo>
                  <a:pt x="9172308" y="87312"/>
                </a:lnTo>
                <a:lnTo>
                  <a:pt x="9210408" y="106362"/>
                </a:lnTo>
                <a:lnTo>
                  <a:pt x="9246920" y="125412"/>
                </a:lnTo>
                <a:lnTo>
                  <a:pt x="9288196" y="141287"/>
                </a:lnTo>
                <a:lnTo>
                  <a:pt x="9334232" y="155575"/>
                </a:lnTo>
                <a:lnTo>
                  <a:pt x="9386620" y="166687"/>
                </a:lnTo>
                <a:lnTo>
                  <a:pt x="9446946" y="174625"/>
                </a:lnTo>
                <a:lnTo>
                  <a:pt x="9515208" y="176212"/>
                </a:lnTo>
                <a:lnTo>
                  <a:pt x="9583470" y="174625"/>
                </a:lnTo>
                <a:lnTo>
                  <a:pt x="9643796" y="166687"/>
                </a:lnTo>
                <a:lnTo>
                  <a:pt x="9696182" y="155575"/>
                </a:lnTo>
                <a:lnTo>
                  <a:pt x="9742220" y="141287"/>
                </a:lnTo>
                <a:lnTo>
                  <a:pt x="9783496" y="125412"/>
                </a:lnTo>
                <a:lnTo>
                  <a:pt x="9820008" y="106362"/>
                </a:lnTo>
                <a:lnTo>
                  <a:pt x="9896208" y="68262"/>
                </a:lnTo>
                <a:lnTo>
                  <a:pt x="9932720" y="52387"/>
                </a:lnTo>
                <a:lnTo>
                  <a:pt x="9973996" y="36512"/>
                </a:lnTo>
                <a:lnTo>
                  <a:pt x="10020032" y="20637"/>
                </a:lnTo>
                <a:lnTo>
                  <a:pt x="10072420" y="9525"/>
                </a:lnTo>
                <a:lnTo>
                  <a:pt x="10132746" y="3175"/>
                </a:lnTo>
                <a:lnTo>
                  <a:pt x="10201008" y="0"/>
                </a:lnTo>
                <a:lnTo>
                  <a:pt x="10269270" y="3175"/>
                </a:lnTo>
                <a:lnTo>
                  <a:pt x="10329596" y="9525"/>
                </a:lnTo>
                <a:lnTo>
                  <a:pt x="10381982" y="20637"/>
                </a:lnTo>
                <a:lnTo>
                  <a:pt x="10428020" y="36512"/>
                </a:lnTo>
                <a:lnTo>
                  <a:pt x="10469296" y="52387"/>
                </a:lnTo>
                <a:lnTo>
                  <a:pt x="10505808" y="68262"/>
                </a:lnTo>
                <a:lnTo>
                  <a:pt x="10543908" y="87312"/>
                </a:lnTo>
                <a:lnTo>
                  <a:pt x="10582008" y="106362"/>
                </a:lnTo>
                <a:lnTo>
                  <a:pt x="10618520" y="125412"/>
                </a:lnTo>
                <a:lnTo>
                  <a:pt x="10659796" y="141287"/>
                </a:lnTo>
                <a:lnTo>
                  <a:pt x="10705832" y="155575"/>
                </a:lnTo>
                <a:lnTo>
                  <a:pt x="10758220" y="166687"/>
                </a:lnTo>
                <a:lnTo>
                  <a:pt x="10818546" y="174625"/>
                </a:lnTo>
                <a:lnTo>
                  <a:pt x="10886808" y="176212"/>
                </a:lnTo>
                <a:lnTo>
                  <a:pt x="10955070" y="174625"/>
                </a:lnTo>
                <a:lnTo>
                  <a:pt x="11015396" y="166687"/>
                </a:lnTo>
                <a:lnTo>
                  <a:pt x="11067782" y="155575"/>
                </a:lnTo>
                <a:lnTo>
                  <a:pt x="11113820" y="141287"/>
                </a:lnTo>
                <a:lnTo>
                  <a:pt x="11155096" y="125412"/>
                </a:lnTo>
                <a:lnTo>
                  <a:pt x="11191608" y="106362"/>
                </a:lnTo>
                <a:lnTo>
                  <a:pt x="11229708" y="87312"/>
                </a:lnTo>
                <a:lnTo>
                  <a:pt x="11267808" y="68262"/>
                </a:lnTo>
                <a:lnTo>
                  <a:pt x="11304320" y="52387"/>
                </a:lnTo>
                <a:lnTo>
                  <a:pt x="11345596" y="36512"/>
                </a:lnTo>
                <a:lnTo>
                  <a:pt x="11391632" y="20637"/>
                </a:lnTo>
                <a:lnTo>
                  <a:pt x="11444020" y="9525"/>
                </a:lnTo>
                <a:lnTo>
                  <a:pt x="11504346" y="3175"/>
                </a:lnTo>
                <a:lnTo>
                  <a:pt x="11572608" y="0"/>
                </a:lnTo>
                <a:lnTo>
                  <a:pt x="11640870" y="3175"/>
                </a:lnTo>
                <a:lnTo>
                  <a:pt x="11701196" y="9525"/>
                </a:lnTo>
                <a:lnTo>
                  <a:pt x="11753582" y="20637"/>
                </a:lnTo>
                <a:lnTo>
                  <a:pt x="11799620" y="36512"/>
                </a:lnTo>
                <a:lnTo>
                  <a:pt x="11840896" y="52387"/>
                </a:lnTo>
                <a:lnTo>
                  <a:pt x="11877408" y="68262"/>
                </a:lnTo>
                <a:lnTo>
                  <a:pt x="11915508" y="87312"/>
                </a:lnTo>
                <a:lnTo>
                  <a:pt x="11953608" y="106362"/>
                </a:lnTo>
                <a:lnTo>
                  <a:pt x="11990120" y="125412"/>
                </a:lnTo>
                <a:lnTo>
                  <a:pt x="12031396" y="141287"/>
                </a:lnTo>
                <a:lnTo>
                  <a:pt x="12077432" y="155575"/>
                </a:lnTo>
                <a:lnTo>
                  <a:pt x="12129820" y="166688"/>
                </a:lnTo>
                <a:lnTo>
                  <a:pt x="12190146" y="174625"/>
                </a:lnTo>
                <a:lnTo>
                  <a:pt x="12192000" y="174668"/>
                </a:lnTo>
                <a:lnTo>
                  <a:pt x="12192000" y="885826"/>
                </a:lnTo>
                <a:lnTo>
                  <a:pt x="12192000" y="1787292"/>
                </a:lnTo>
                <a:lnTo>
                  <a:pt x="0" y="1787292"/>
                </a:lnTo>
                <a:lnTo>
                  <a:pt x="0" y="885826"/>
                </a:lnTo>
                <a:lnTo>
                  <a:pt x="0" y="174668"/>
                </a:lnTo>
                <a:lnTo>
                  <a:pt x="1852" y="174625"/>
                </a:lnTo>
                <a:lnTo>
                  <a:pt x="62177" y="166687"/>
                </a:lnTo>
                <a:lnTo>
                  <a:pt x="114564" y="155575"/>
                </a:lnTo>
                <a:lnTo>
                  <a:pt x="160602" y="141287"/>
                </a:lnTo>
                <a:lnTo>
                  <a:pt x="201877" y="125412"/>
                </a:lnTo>
                <a:lnTo>
                  <a:pt x="238389" y="106362"/>
                </a:lnTo>
                <a:lnTo>
                  <a:pt x="276489" y="87312"/>
                </a:lnTo>
                <a:lnTo>
                  <a:pt x="314589" y="68262"/>
                </a:lnTo>
                <a:lnTo>
                  <a:pt x="351102" y="52387"/>
                </a:lnTo>
                <a:lnTo>
                  <a:pt x="392377" y="36512"/>
                </a:lnTo>
                <a:lnTo>
                  <a:pt x="438414" y="20637"/>
                </a:lnTo>
                <a:lnTo>
                  <a:pt x="490802" y="9525"/>
                </a:lnTo>
                <a:lnTo>
                  <a:pt x="551127" y="3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副标题 2">
            <a:extLst>
              <a:ext uri="{FF2B5EF4-FFF2-40B4-BE49-F238E27FC236}">
                <a16:creationId xmlns:a16="http://schemas.microsoft.com/office/drawing/2014/main" id="{561C53DC-B02C-0486-F814-599C482B8FB6}"/>
              </a:ext>
            </a:extLst>
          </p:cNvPr>
          <p:cNvSpPr>
            <a:spLocks noGrp="1"/>
          </p:cNvSpPr>
          <p:nvPr>
            <p:ph type="subTitle" idx="1"/>
          </p:nvPr>
        </p:nvSpPr>
        <p:spPr>
          <a:xfrm>
            <a:off x="2073314" y="5493376"/>
            <a:ext cx="8045373" cy="742279"/>
          </a:xfrm>
        </p:spPr>
        <p:txBody>
          <a:bodyPr anchor="ctr">
            <a:normAutofit/>
          </a:bodyPr>
          <a:lstStyle/>
          <a:p>
            <a:r>
              <a:rPr lang="en-US" altLang="zh-CN" sz="1800">
                <a:solidFill>
                  <a:srgbClr val="2A1A00"/>
                </a:solidFill>
              </a:rPr>
              <a:t>Chang LIu</a:t>
            </a:r>
            <a:endParaRPr lang="zh-CN" altLang="en-US" sz="1800">
              <a:solidFill>
                <a:srgbClr val="2A1A00"/>
              </a:solidFill>
            </a:endParaRPr>
          </a:p>
        </p:txBody>
      </p:sp>
    </p:spTree>
    <p:extLst>
      <p:ext uri="{BB962C8B-B14F-4D97-AF65-F5344CB8AC3E}">
        <p14:creationId xmlns:p14="http://schemas.microsoft.com/office/powerpoint/2010/main" val="2329651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C8535-431B-BEB2-6959-5CEBABAC58FB}"/>
              </a:ext>
            </a:extLst>
          </p:cNvPr>
          <p:cNvSpPr>
            <a:spLocks noGrp="1"/>
          </p:cNvSpPr>
          <p:nvPr>
            <p:ph type="title"/>
          </p:nvPr>
        </p:nvSpPr>
        <p:spPr/>
        <p:txBody>
          <a:bodyPr/>
          <a:lstStyle/>
          <a:p>
            <a:r>
              <a:rPr lang="en-US" altLang="zh-CN" dirty="0"/>
              <a:t>Main change</a:t>
            </a:r>
            <a:endParaRPr lang="zh-CN" altLang="en-US" dirty="0"/>
          </a:p>
        </p:txBody>
      </p:sp>
      <p:sp>
        <p:nvSpPr>
          <p:cNvPr id="3" name="内容占位符 2">
            <a:extLst>
              <a:ext uri="{FF2B5EF4-FFF2-40B4-BE49-F238E27FC236}">
                <a16:creationId xmlns:a16="http://schemas.microsoft.com/office/drawing/2014/main" id="{D8BBFBAD-55DD-39E0-AC70-A264E0D17AC0}"/>
              </a:ext>
            </a:extLst>
          </p:cNvPr>
          <p:cNvSpPr>
            <a:spLocks noGrp="1"/>
          </p:cNvSpPr>
          <p:nvPr>
            <p:ph idx="1"/>
          </p:nvPr>
        </p:nvSpPr>
        <p:spPr>
          <a:xfrm>
            <a:off x="1200878" y="1943101"/>
            <a:ext cx="10178322" cy="4343399"/>
          </a:xfrm>
        </p:spPr>
        <p:txBody>
          <a:bodyPr>
            <a:normAutofit/>
          </a:bodyPr>
          <a:lstStyle/>
          <a:p>
            <a:r>
              <a:rPr lang="en-US" altLang="zh-CN" dirty="0"/>
              <a:t>Optimizing Data Preprocessing</a:t>
            </a:r>
          </a:p>
          <a:p>
            <a:pPr lvl="1"/>
            <a:r>
              <a:rPr lang="en-US" altLang="zh-CN" dirty="0"/>
              <a:t>New coastline source date update</a:t>
            </a:r>
          </a:p>
          <a:p>
            <a:pPr lvl="1"/>
            <a:r>
              <a:rPr lang="en-NZ" altLang="zh-CN" dirty="0"/>
              <a:t>Centring </a:t>
            </a:r>
            <a:r>
              <a:rPr lang="zh-CN" altLang="en-US" dirty="0"/>
              <a:t>→ </a:t>
            </a:r>
            <a:r>
              <a:rPr lang="en-US" altLang="zh-CN" dirty="0"/>
              <a:t>detrend </a:t>
            </a:r>
            <a:r>
              <a:rPr lang="zh-CN" altLang="en-US" dirty="0"/>
              <a:t>→ </a:t>
            </a:r>
            <a:r>
              <a:rPr lang="en-US" altLang="zh-CN" dirty="0"/>
              <a:t>average transects value </a:t>
            </a:r>
            <a:r>
              <a:rPr lang="zh-CN" altLang="en-US" dirty="0"/>
              <a:t>→ </a:t>
            </a:r>
            <a:r>
              <a:rPr lang="en-US" altLang="zh-CN" dirty="0"/>
              <a:t>Calculate mean for each coastline by month (</a:t>
            </a:r>
            <a:r>
              <a:rPr lang="en-NZ" altLang="zh-CN" dirty="0"/>
              <a:t>remove monthly climatology) </a:t>
            </a:r>
            <a:r>
              <a:rPr lang="zh-CN" altLang="en-US" dirty="0"/>
              <a:t>→ </a:t>
            </a:r>
            <a:r>
              <a:rPr lang="en-US" altLang="zh-CN" dirty="0"/>
              <a:t>Merge with SOI</a:t>
            </a:r>
          </a:p>
          <a:p>
            <a:pPr lvl="1"/>
            <a:r>
              <a:rPr lang="en-US" altLang="zh-CN" dirty="0"/>
              <a:t>Better cross-correlation results, Choosing the lag time</a:t>
            </a:r>
            <a:endParaRPr lang="en-NZ" altLang="zh-CN" dirty="0"/>
          </a:p>
          <a:p>
            <a:r>
              <a:rPr lang="en-US" altLang="zh-CN" dirty="0"/>
              <a:t>Wavelet analysis / K-means</a:t>
            </a:r>
          </a:p>
          <a:p>
            <a:pPr lvl="1"/>
            <a:r>
              <a:rPr lang="en-US" altLang="zh-CN" dirty="0"/>
              <a:t>Random linear noise interpolation</a:t>
            </a:r>
          </a:p>
          <a:p>
            <a:pPr lvl="1"/>
            <a:r>
              <a:rPr lang="en-US" altLang="zh-CN" dirty="0"/>
              <a:t>Z-score</a:t>
            </a:r>
          </a:p>
          <a:p>
            <a:r>
              <a:rPr lang="en-US" altLang="zh-CN" dirty="0"/>
              <a:t>Add new climate index</a:t>
            </a:r>
          </a:p>
          <a:p>
            <a:pPr lvl="1"/>
            <a:r>
              <a:rPr lang="en-NZ" altLang="zh-CN" dirty="0"/>
              <a:t>Pacific Decadal Oscillation(</a:t>
            </a:r>
            <a:r>
              <a:rPr lang="en-US" altLang="zh-CN" dirty="0" err="1"/>
              <a:t>PDO</a:t>
            </a:r>
            <a:r>
              <a:rPr lang="en-US" altLang="zh-CN" dirty="0"/>
              <a:t>), </a:t>
            </a:r>
            <a:r>
              <a:rPr lang="en-NZ" altLang="zh-CN" dirty="0"/>
              <a:t>Indian Ocean Dipole(</a:t>
            </a:r>
            <a:r>
              <a:rPr lang="en-US" altLang="zh-CN" dirty="0"/>
              <a:t>IOD)/ </a:t>
            </a:r>
            <a:r>
              <a:rPr lang="en-NZ" altLang="zh-CN" dirty="0"/>
              <a:t>Dipole Mode Index </a:t>
            </a:r>
            <a:r>
              <a:rPr lang="en-US" altLang="zh-CN" dirty="0"/>
              <a:t>(</a:t>
            </a:r>
            <a:r>
              <a:rPr lang="en-US" altLang="zh-CN" dirty="0" err="1"/>
              <a:t>DMI</a:t>
            </a:r>
            <a:r>
              <a:rPr lang="en-US" altLang="zh-CN" dirty="0"/>
              <a:t>), </a:t>
            </a:r>
            <a:r>
              <a:rPr lang="en-NZ" altLang="zh-CN" dirty="0"/>
              <a:t>Southern Annular Mode (</a:t>
            </a:r>
            <a:r>
              <a:rPr lang="en-US" altLang="zh-CN" dirty="0"/>
              <a:t>SAM), </a:t>
            </a:r>
            <a:r>
              <a:rPr lang="en-US" altLang="zh-CN" dirty="0" err="1"/>
              <a:t>ZW3</a:t>
            </a:r>
            <a:r>
              <a:rPr lang="en-US" altLang="zh-CN" dirty="0"/>
              <a:t>(</a:t>
            </a:r>
            <a:r>
              <a:rPr lang="en-NZ" altLang="zh-CN" dirty="0"/>
              <a:t>Zonal Wave 3</a:t>
            </a:r>
            <a:r>
              <a:rPr lang="en-US" altLang="zh-CN" dirty="0"/>
              <a:t>)</a:t>
            </a:r>
          </a:p>
          <a:p>
            <a:pPr lvl="1"/>
            <a:endParaRPr lang="en-US" altLang="zh-CN" dirty="0"/>
          </a:p>
        </p:txBody>
      </p:sp>
    </p:spTree>
    <p:extLst>
      <p:ext uri="{BB962C8B-B14F-4D97-AF65-F5344CB8AC3E}">
        <p14:creationId xmlns:p14="http://schemas.microsoft.com/office/powerpoint/2010/main" val="2482175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98AD482-27A4-454E-8A3A-84F73CBDA7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2422E2-F15A-43AE-98F1-7210710B0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792E7B08-A282-FF89-3FDD-34AB7C6D0395}"/>
              </a:ext>
            </a:extLst>
          </p:cNvPr>
          <p:cNvSpPr>
            <a:spLocks noGrp="1"/>
          </p:cNvSpPr>
          <p:nvPr>
            <p:ph type="title"/>
          </p:nvPr>
        </p:nvSpPr>
        <p:spPr>
          <a:xfrm>
            <a:off x="1114425" y="266700"/>
            <a:ext cx="2657475" cy="2590800"/>
          </a:xfrm>
        </p:spPr>
        <p:txBody>
          <a:bodyPr anchor="ctr">
            <a:normAutofit/>
          </a:bodyPr>
          <a:lstStyle/>
          <a:p>
            <a:r>
              <a:rPr lang="en-US" altLang="zh-CN" sz="3600" dirty="0"/>
              <a:t>Optimizing Data Preprocessing</a:t>
            </a:r>
            <a:br>
              <a:rPr lang="en-US" altLang="zh-CN" sz="3600" dirty="0"/>
            </a:br>
            <a:endParaRPr lang="zh-CN" altLang="en-US" sz="3600" dirty="0"/>
          </a:p>
        </p:txBody>
      </p:sp>
      <p:sp>
        <p:nvSpPr>
          <p:cNvPr id="12" name="Freeform 6">
            <a:extLst>
              <a:ext uri="{FF2B5EF4-FFF2-40B4-BE49-F238E27FC236}">
                <a16:creationId xmlns:a16="http://schemas.microsoft.com/office/drawing/2014/main" id="{BDC8164B-5FC0-4CBD-B7AE-0CB8780FF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endParaRPr lang="zh-CN" altLang="en-US"/>
          </a:p>
        </p:txBody>
      </p:sp>
      <p:graphicFrame>
        <p:nvGraphicFramePr>
          <p:cNvPr id="5" name="内容占位符 4">
            <a:extLst>
              <a:ext uri="{FF2B5EF4-FFF2-40B4-BE49-F238E27FC236}">
                <a16:creationId xmlns:a16="http://schemas.microsoft.com/office/drawing/2014/main" id="{E2A648A4-F3EA-1FFB-A968-E87D1FDA0072}"/>
              </a:ext>
            </a:extLst>
          </p:cNvPr>
          <p:cNvGraphicFramePr>
            <a:graphicFrameLocks noGrp="1"/>
          </p:cNvGraphicFramePr>
          <p:nvPr>
            <p:ph idx="1"/>
            <p:extLst>
              <p:ext uri="{D42A27DB-BD31-4B8C-83A1-F6EECF244321}">
                <p14:modId xmlns:p14="http://schemas.microsoft.com/office/powerpoint/2010/main" val="2312930652"/>
              </p:ext>
            </p:extLst>
          </p:nvPr>
        </p:nvGraphicFramePr>
        <p:xfrm>
          <a:off x="5111750" y="133350"/>
          <a:ext cx="1250950" cy="65912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50F6FD2F-2313-0DF9-84DF-887F20C7D6E2}"/>
              </a:ext>
            </a:extLst>
          </p:cNvPr>
          <p:cNvSpPr txBox="1"/>
          <p:nvPr/>
        </p:nvSpPr>
        <p:spPr>
          <a:xfrm>
            <a:off x="1134160" y="2413336"/>
            <a:ext cx="3076575" cy="1754326"/>
          </a:xfrm>
          <a:prstGeom prst="rect">
            <a:avLst/>
          </a:prstGeom>
          <a:noFill/>
        </p:spPr>
        <p:txBody>
          <a:bodyPr wrap="square" rtlCol="0">
            <a:spAutoFit/>
          </a:bodyPr>
          <a:lstStyle/>
          <a:p>
            <a:r>
              <a:rPr lang="en-US" altLang="zh-CN" dirty="0"/>
              <a:t>Coastline change data: </a:t>
            </a:r>
          </a:p>
          <a:p>
            <a:endParaRPr lang="en-US" altLang="zh-CN" dirty="0"/>
          </a:p>
          <a:p>
            <a:r>
              <a:rPr lang="en-US" altLang="zh-CN" dirty="0"/>
              <a:t>Transect time series tidally corrected smoothed</a:t>
            </a:r>
          </a:p>
          <a:p>
            <a:endParaRPr lang="en-US" altLang="zh-CN" dirty="0"/>
          </a:p>
          <a:p>
            <a:r>
              <a:rPr lang="en-US" altLang="zh-CN" dirty="0"/>
              <a:t>For example:  </a:t>
            </a:r>
            <a:r>
              <a:rPr lang="en-US" altLang="zh-CN" dirty="0" err="1"/>
              <a:t>nzd0002</a:t>
            </a:r>
            <a:endParaRPr lang="zh-CN" altLang="en-US" dirty="0"/>
          </a:p>
        </p:txBody>
      </p:sp>
      <p:pic>
        <p:nvPicPr>
          <p:cNvPr id="11" name="图片 10" descr="图表&#10;&#10;AI 生成的内容可能不正确。">
            <a:extLst>
              <a:ext uri="{FF2B5EF4-FFF2-40B4-BE49-F238E27FC236}">
                <a16:creationId xmlns:a16="http://schemas.microsoft.com/office/drawing/2014/main" id="{146E56A9-F8A9-CF46-E722-B0433B1349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57701" y="92185"/>
            <a:ext cx="3558203" cy="2212866"/>
          </a:xfrm>
          <a:prstGeom prst="rect">
            <a:avLst/>
          </a:prstGeom>
        </p:spPr>
      </p:pic>
      <p:pic>
        <p:nvPicPr>
          <p:cNvPr id="14" name="图片 13" descr="图表&#10;&#10;AI 生成的内容可能不正确。">
            <a:extLst>
              <a:ext uri="{FF2B5EF4-FFF2-40B4-BE49-F238E27FC236}">
                <a16:creationId xmlns:a16="http://schemas.microsoft.com/office/drawing/2014/main" id="{62F0DA51-D10F-D2DD-7C13-EB0EB9DCEE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57701" y="2514020"/>
            <a:ext cx="3558203" cy="2013480"/>
          </a:xfrm>
          <a:prstGeom prst="rect">
            <a:avLst/>
          </a:prstGeom>
        </p:spPr>
      </p:pic>
      <p:pic>
        <p:nvPicPr>
          <p:cNvPr id="16" name="图片 15" descr="图表&#10;&#10;AI 生成的内容可能不正确。">
            <a:extLst>
              <a:ext uri="{FF2B5EF4-FFF2-40B4-BE49-F238E27FC236}">
                <a16:creationId xmlns:a16="http://schemas.microsoft.com/office/drawing/2014/main" id="{53B90CC1-7A94-F94C-FE92-B47F30A73F1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844023" y="4731882"/>
            <a:ext cx="3571882" cy="2021222"/>
          </a:xfrm>
          <a:prstGeom prst="rect">
            <a:avLst/>
          </a:prstGeom>
        </p:spPr>
      </p:pic>
      <p:sp>
        <p:nvSpPr>
          <p:cNvPr id="17" name="文本框 16">
            <a:extLst>
              <a:ext uri="{FF2B5EF4-FFF2-40B4-BE49-F238E27FC236}">
                <a16:creationId xmlns:a16="http://schemas.microsoft.com/office/drawing/2014/main" id="{C6BB108A-49BC-017A-A00F-EF9D71356808}"/>
              </a:ext>
            </a:extLst>
          </p:cNvPr>
          <p:cNvSpPr txBox="1"/>
          <p:nvPr/>
        </p:nvSpPr>
        <p:spPr>
          <a:xfrm>
            <a:off x="10456093" y="1809098"/>
            <a:ext cx="1695718" cy="1208476"/>
          </a:xfrm>
          <a:prstGeom prst="rect">
            <a:avLst/>
          </a:prstGeom>
          <a:noFill/>
        </p:spPr>
        <p:txBody>
          <a:bodyPr wrap="square" rtlCol="0">
            <a:spAutoFit/>
          </a:bodyPr>
          <a:lstStyle/>
          <a:p>
            <a:r>
              <a:rPr lang="en-US" altLang="zh-CN" dirty="0"/>
              <a:t>Subtract the long-term over full period (2000-2025)</a:t>
            </a:r>
            <a:endParaRPr lang="zh-CN" altLang="en-US" dirty="0"/>
          </a:p>
        </p:txBody>
      </p:sp>
      <p:sp>
        <p:nvSpPr>
          <p:cNvPr id="18" name="文本框 17">
            <a:extLst>
              <a:ext uri="{FF2B5EF4-FFF2-40B4-BE49-F238E27FC236}">
                <a16:creationId xmlns:a16="http://schemas.microsoft.com/office/drawing/2014/main" id="{1900454E-840C-C2CE-2695-E0B304B6D319}"/>
              </a:ext>
            </a:extLst>
          </p:cNvPr>
          <p:cNvSpPr txBox="1"/>
          <p:nvPr/>
        </p:nvSpPr>
        <p:spPr>
          <a:xfrm>
            <a:off x="10496282" y="4304526"/>
            <a:ext cx="1695718" cy="646331"/>
          </a:xfrm>
          <a:prstGeom prst="rect">
            <a:avLst/>
          </a:prstGeom>
          <a:noFill/>
        </p:spPr>
        <p:txBody>
          <a:bodyPr wrap="square" rtlCol="0">
            <a:spAutoFit/>
          </a:bodyPr>
          <a:lstStyle/>
          <a:p>
            <a:r>
              <a:rPr lang="en-US" altLang="zh-CN" dirty="0"/>
              <a:t>Subtract the trend by year</a:t>
            </a:r>
            <a:endParaRPr lang="zh-CN" altLang="en-US" dirty="0"/>
          </a:p>
        </p:txBody>
      </p:sp>
    </p:spTree>
    <p:extLst>
      <p:ext uri="{BB962C8B-B14F-4D97-AF65-F5344CB8AC3E}">
        <p14:creationId xmlns:p14="http://schemas.microsoft.com/office/powerpoint/2010/main" val="4217607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1461EA9-D0BE-90B6-F528-48FCB4122E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E0B5CC1-B330-5F1B-E72C-F67F28821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747915B1-5A3C-72FA-CCCC-D92FD3BF5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8A00A7EB-8326-E065-47FA-D9DAED67A994}"/>
              </a:ext>
            </a:extLst>
          </p:cNvPr>
          <p:cNvSpPr>
            <a:spLocks noGrp="1"/>
          </p:cNvSpPr>
          <p:nvPr>
            <p:ph type="title"/>
          </p:nvPr>
        </p:nvSpPr>
        <p:spPr>
          <a:xfrm>
            <a:off x="1114425" y="266700"/>
            <a:ext cx="2657475" cy="2590800"/>
          </a:xfrm>
        </p:spPr>
        <p:txBody>
          <a:bodyPr anchor="ctr">
            <a:normAutofit/>
          </a:bodyPr>
          <a:lstStyle/>
          <a:p>
            <a:r>
              <a:rPr lang="en-US" altLang="zh-CN" sz="3600" dirty="0"/>
              <a:t>Optimizing Data Preprocessing</a:t>
            </a:r>
            <a:br>
              <a:rPr lang="en-US" altLang="zh-CN" sz="3600" dirty="0"/>
            </a:br>
            <a:endParaRPr lang="zh-CN" altLang="en-US" sz="3600" dirty="0"/>
          </a:p>
        </p:txBody>
      </p:sp>
      <p:sp>
        <p:nvSpPr>
          <p:cNvPr id="12" name="Freeform 6">
            <a:extLst>
              <a:ext uri="{FF2B5EF4-FFF2-40B4-BE49-F238E27FC236}">
                <a16:creationId xmlns:a16="http://schemas.microsoft.com/office/drawing/2014/main" id="{1DE88110-DA4C-06FE-2440-71F0A2FF4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DF2D4EA1-9079-B9D3-0B59-A53D52B07F04}"/>
              </a:ext>
            </a:extLst>
          </p:cNvPr>
          <p:cNvGraphicFramePr>
            <a:graphicFrameLocks noGrp="1"/>
          </p:cNvGraphicFramePr>
          <p:nvPr>
            <p:ph idx="1"/>
            <p:extLst>
              <p:ext uri="{D42A27DB-BD31-4B8C-83A1-F6EECF244321}">
                <p14:modId xmlns:p14="http://schemas.microsoft.com/office/powerpoint/2010/main" val="881900083"/>
              </p:ext>
            </p:extLst>
          </p:nvPr>
        </p:nvGraphicFramePr>
        <p:xfrm>
          <a:off x="5111750" y="740535"/>
          <a:ext cx="1250950" cy="5984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6AE85B16-CBCD-AEE9-9B58-77A8EF739F62}"/>
              </a:ext>
            </a:extLst>
          </p:cNvPr>
          <p:cNvSpPr txBox="1"/>
          <p:nvPr/>
        </p:nvSpPr>
        <p:spPr>
          <a:xfrm>
            <a:off x="1114425" y="2371716"/>
            <a:ext cx="3076575" cy="175432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Coastline change data: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Transect time series tidally corrected smoothed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dirty="0">
              <a:solidFill>
                <a:prstClr val="black"/>
              </a:solidFill>
              <a:latin typeface="Gill Sans MT" panose="020B0502020104020203"/>
              <a:ea typeface="华文中宋" panose="02010600040101010101" pitchFamily="2" charset="-122"/>
            </a:endParaRPr>
          </a:p>
          <a:p>
            <a:r>
              <a:rPr lang="en-US" altLang="zh-CN" dirty="0"/>
              <a:t>For example: </a:t>
            </a:r>
            <a:r>
              <a:rPr lang="en-US" altLang="zh-CN" dirty="0" err="1"/>
              <a:t>nzd0002</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pic>
        <p:nvPicPr>
          <p:cNvPr id="6" name="图片 5" descr="图表&#10;&#10;AI 生成的内容可能不正确。">
            <a:extLst>
              <a:ext uri="{FF2B5EF4-FFF2-40B4-BE49-F238E27FC236}">
                <a16:creationId xmlns:a16="http://schemas.microsoft.com/office/drawing/2014/main" id="{C8037400-BCA3-49CC-96F7-C05F5EA874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88296" y="103957"/>
            <a:ext cx="3806919" cy="2023293"/>
          </a:xfrm>
          <a:prstGeom prst="rect">
            <a:avLst/>
          </a:prstGeom>
        </p:spPr>
      </p:pic>
      <p:pic>
        <p:nvPicPr>
          <p:cNvPr id="9" name="图片 8" descr="图表, 折线图&#10;&#10;AI 生成的内容可能不正确。">
            <a:extLst>
              <a:ext uri="{FF2B5EF4-FFF2-40B4-BE49-F238E27FC236}">
                <a16:creationId xmlns:a16="http://schemas.microsoft.com/office/drawing/2014/main" id="{A47DB0DD-5E16-57A2-3677-90E5723EA11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0059" y="4158005"/>
            <a:ext cx="3540941" cy="2298700"/>
          </a:xfrm>
          <a:prstGeom prst="rect">
            <a:avLst/>
          </a:prstGeom>
        </p:spPr>
      </p:pic>
      <p:pic>
        <p:nvPicPr>
          <p:cNvPr id="13" name="图片 12" descr="图片包含 图表&#10;&#10;AI 生成的内容可能不正确。">
            <a:extLst>
              <a:ext uri="{FF2B5EF4-FFF2-40B4-BE49-F238E27FC236}">
                <a16:creationId xmlns:a16="http://schemas.microsoft.com/office/drawing/2014/main" id="{AC9426B3-E8A7-EFCD-2116-0754F4B27E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88296" y="2217993"/>
            <a:ext cx="3806920" cy="2274631"/>
          </a:xfrm>
          <a:prstGeom prst="rect">
            <a:avLst/>
          </a:prstGeom>
        </p:spPr>
      </p:pic>
      <p:pic>
        <p:nvPicPr>
          <p:cNvPr id="17" name="图片 16" descr="图形用户界面, 图表&#10;&#10;AI 生成的内容可能不正确。">
            <a:extLst>
              <a:ext uri="{FF2B5EF4-FFF2-40B4-BE49-F238E27FC236}">
                <a16:creationId xmlns:a16="http://schemas.microsoft.com/office/drawing/2014/main" id="{2E77A24D-26B6-0EB5-2BFA-28D31E47B7E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688296" y="4583367"/>
            <a:ext cx="3806920" cy="2127251"/>
          </a:xfrm>
          <a:prstGeom prst="rect">
            <a:avLst/>
          </a:prstGeom>
        </p:spPr>
      </p:pic>
      <p:grpSp>
        <p:nvGrpSpPr>
          <p:cNvPr id="18" name="组合 17">
            <a:extLst>
              <a:ext uri="{FF2B5EF4-FFF2-40B4-BE49-F238E27FC236}">
                <a16:creationId xmlns:a16="http://schemas.microsoft.com/office/drawing/2014/main" id="{33E6B912-05E2-0E8E-A21D-D522CDC400D3}"/>
              </a:ext>
            </a:extLst>
          </p:cNvPr>
          <p:cNvGrpSpPr/>
          <p:nvPr/>
        </p:nvGrpSpPr>
        <p:grpSpPr>
          <a:xfrm>
            <a:off x="5345893" y="61300"/>
            <a:ext cx="741521" cy="617935"/>
            <a:chOff x="254713" y="1750813"/>
            <a:chExt cx="741521" cy="617935"/>
          </a:xfrm>
        </p:grpSpPr>
        <p:sp>
          <p:nvSpPr>
            <p:cNvPr id="19" name="箭头: 右 18">
              <a:extLst>
                <a:ext uri="{FF2B5EF4-FFF2-40B4-BE49-F238E27FC236}">
                  <a16:creationId xmlns:a16="http://schemas.microsoft.com/office/drawing/2014/main" id="{83986335-6DFB-69C9-5929-D0E79AA04C87}"/>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20" name="箭头: 右 4">
              <a:extLst>
                <a:ext uri="{FF2B5EF4-FFF2-40B4-BE49-F238E27FC236}">
                  <a16:creationId xmlns:a16="http://schemas.microsoft.com/office/drawing/2014/main" id="{1225E2FB-376E-4AA3-79EE-E49879EB41EB}"/>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p:txBody>
        </p:sp>
      </p:grpSp>
      <p:sp>
        <p:nvSpPr>
          <p:cNvPr id="21" name="文本框 20">
            <a:extLst>
              <a:ext uri="{FF2B5EF4-FFF2-40B4-BE49-F238E27FC236}">
                <a16:creationId xmlns:a16="http://schemas.microsoft.com/office/drawing/2014/main" id="{EEF698AE-C03C-31CD-093E-5B1424176464}"/>
              </a:ext>
            </a:extLst>
          </p:cNvPr>
          <p:cNvSpPr txBox="1"/>
          <p:nvPr/>
        </p:nvSpPr>
        <p:spPr>
          <a:xfrm>
            <a:off x="10604686" y="619410"/>
            <a:ext cx="1623804" cy="923330"/>
          </a:xfrm>
          <a:prstGeom prst="rect">
            <a:avLst/>
          </a:prstGeom>
          <a:noFill/>
        </p:spPr>
        <p:txBody>
          <a:bodyPr wrap="square" rtlCol="0">
            <a:spAutoFit/>
          </a:bodyPr>
          <a:lstStyle/>
          <a:p>
            <a:r>
              <a:rPr lang="en-US" altLang="zh-CN" dirty="0"/>
              <a:t>Average all transects for each coastline</a:t>
            </a:r>
            <a:endParaRPr lang="zh-CN" altLang="en-US" dirty="0"/>
          </a:p>
        </p:txBody>
      </p:sp>
      <p:sp>
        <p:nvSpPr>
          <p:cNvPr id="22" name="文本框 21">
            <a:extLst>
              <a:ext uri="{FF2B5EF4-FFF2-40B4-BE49-F238E27FC236}">
                <a16:creationId xmlns:a16="http://schemas.microsoft.com/office/drawing/2014/main" id="{18CF40EA-E3AF-744F-5F30-441081B8AE17}"/>
              </a:ext>
            </a:extLst>
          </p:cNvPr>
          <p:cNvSpPr txBox="1"/>
          <p:nvPr/>
        </p:nvSpPr>
        <p:spPr>
          <a:xfrm>
            <a:off x="10723493" y="2782669"/>
            <a:ext cx="1386190" cy="646331"/>
          </a:xfrm>
          <a:prstGeom prst="rect">
            <a:avLst/>
          </a:prstGeom>
          <a:noFill/>
        </p:spPr>
        <p:txBody>
          <a:bodyPr wrap="square" rtlCol="0">
            <a:spAutoFit/>
          </a:bodyPr>
          <a:lstStyle/>
          <a:p>
            <a:r>
              <a:rPr lang="en-US" altLang="zh-CN" dirty="0"/>
              <a:t>Get monthly data</a:t>
            </a:r>
            <a:endParaRPr lang="zh-CN" altLang="en-US" dirty="0"/>
          </a:p>
        </p:txBody>
      </p:sp>
      <p:sp>
        <p:nvSpPr>
          <p:cNvPr id="25" name="文本框 24">
            <a:extLst>
              <a:ext uri="{FF2B5EF4-FFF2-40B4-BE49-F238E27FC236}">
                <a16:creationId xmlns:a16="http://schemas.microsoft.com/office/drawing/2014/main" id="{A5417E63-80DE-6F27-50D9-7BAF17867E1F}"/>
              </a:ext>
            </a:extLst>
          </p:cNvPr>
          <p:cNvSpPr txBox="1"/>
          <p:nvPr/>
        </p:nvSpPr>
        <p:spPr>
          <a:xfrm>
            <a:off x="10563902" y="4583367"/>
            <a:ext cx="1709663" cy="1754326"/>
          </a:xfrm>
          <a:prstGeom prst="rect">
            <a:avLst/>
          </a:prstGeom>
          <a:noFill/>
        </p:spPr>
        <p:txBody>
          <a:bodyPr wrap="square">
            <a:spAutoFit/>
          </a:bodyPr>
          <a:lstStyle/>
          <a:p>
            <a:r>
              <a:rPr lang="en-US" altLang="zh-CN" dirty="0"/>
              <a:t>no longer perform the climatology anomaly (de-</a:t>
            </a:r>
            <a:r>
              <a:rPr lang="en-US" altLang="zh-CN" dirty="0" err="1"/>
              <a:t>seasonalization</a:t>
            </a:r>
            <a:r>
              <a:rPr lang="en-US" altLang="zh-CN" dirty="0"/>
              <a:t>) step</a:t>
            </a:r>
            <a:endParaRPr lang="zh-CN" altLang="en-US" dirty="0"/>
          </a:p>
        </p:txBody>
      </p:sp>
      <p:sp>
        <p:nvSpPr>
          <p:cNvPr id="26" name="文本框 25">
            <a:extLst>
              <a:ext uri="{FF2B5EF4-FFF2-40B4-BE49-F238E27FC236}">
                <a16:creationId xmlns:a16="http://schemas.microsoft.com/office/drawing/2014/main" id="{C4A2DF0B-33A5-C5BA-CFC0-ADCBBEB717A6}"/>
              </a:ext>
            </a:extLst>
          </p:cNvPr>
          <p:cNvSpPr txBox="1"/>
          <p:nvPr/>
        </p:nvSpPr>
        <p:spPr>
          <a:xfrm>
            <a:off x="495618" y="6456705"/>
            <a:ext cx="3895087" cy="369332"/>
          </a:xfrm>
          <a:prstGeom prst="rect">
            <a:avLst/>
          </a:prstGeom>
          <a:noFill/>
        </p:spPr>
        <p:txBody>
          <a:bodyPr wrap="square" rtlCol="0">
            <a:spAutoFit/>
          </a:bodyPr>
          <a:lstStyle/>
          <a:p>
            <a:r>
              <a:rPr lang="en-US" altLang="zh-CN" dirty="0"/>
              <a:t>three transects for </a:t>
            </a:r>
            <a:r>
              <a:rPr lang="en-US" altLang="zh-CN" dirty="0" err="1"/>
              <a:t>nzd0002</a:t>
            </a:r>
            <a:r>
              <a:rPr lang="en-US" altLang="zh-CN" dirty="0"/>
              <a:t> coastline</a:t>
            </a:r>
            <a:endParaRPr lang="zh-CN" altLang="en-US" dirty="0"/>
          </a:p>
        </p:txBody>
      </p:sp>
    </p:spTree>
    <p:extLst>
      <p:ext uri="{BB962C8B-B14F-4D97-AF65-F5344CB8AC3E}">
        <p14:creationId xmlns:p14="http://schemas.microsoft.com/office/powerpoint/2010/main" val="3810688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96C4CF1-E150-34DE-F1AA-991E18B230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A42CAC-B603-5E9D-1D11-FF01CC6FA6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3B1B3AD9-98C2-B01E-E398-D8C7ED7C9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3D6AA732-6741-CF56-E6B4-3511C632A148}"/>
              </a:ext>
            </a:extLst>
          </p:cNvPr>
          <p:cNvSpPr>
            <a:spLocks noGrp="1"/>
          </p:cNvSpPr>
          <p:nvPr>
            <p:ph type="title"/>
          </p:nvPr>
        </p:nvSpPr>
        <p:spPr>
          <a:xfrm>
            <a:off x="1114425" y="266700"/>
            <a:ext cx="2962275" cy="2095500"/>
          </a:xfrm>
        </p:spPr>
        <p:txBody>
          <a:bodyPr anchor="ctr">
            <a:normAutofit/>
          </a:bodyPr>
          <a:lstStyle/>
          <a:p>
            <a:r>
              <a:rPr lang="en-US" altLang="zh-CN" sz="3600" dirty="0"/>
              <a:t>Cross-Correlation</a:t>
            </a:r>
            <a:br>
              <a:rPr lang="en-US" altLang="zh-CN" sz="3600" dirty="0"/>
            </a:br>
            <a:endParaRPr lang="zh-CN" altLang="en-US" sz="3600" dirty="0"/>
          </a:p>
        </p:txBody>
      </p:sp>
      <p:sp>
        <p:nvSpPr>
          <p:cNvPr id="12" name="Freeform 6">
            <a:extLst>
              <a:ext uri="{FF2B5EF4-FFF2-40B4-BE49-F238E27FC236}">
                <a16:creationId xmlns:a16="http://schemas.microsoft.com/office/drawing/2014/main" id="{6A930483-CFB8-5CE2-DF3C-0834590B5A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673569E0-ED06-D1D4-7317-966076B71877}"/>
              </a:ext>
            </a:extLst>
          </p:cNvPr>
          <p:cNvGraphicFramePr>
            <a:graphicFrameLocks noGrp="1"/>
          </p:cNvGraphicFramePr>
          <p:nvPr>
            <p:ph idx="1"/>
            <p:extLst>
              <p:ext uri="{D42A27DB-BD31-4B8C-83A1-F6EECF244321}">
                <p14:modId xmlns:p14="http://schemas.microsoft.com/office/powerpoint/2010/main" val="4250660493"/>
              </p:ext>
            </p:extLst>
          </p:nvPr>
        </p:nvGraphicFramePr>
        <p:xfrm>
          <a:off x="5111750" y="884636"/>
          <a:ext cx="1195307" cy="24509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EBDA56F6-9A4B-13A6-50C0-2DC6698D2337}"/>
              </a:ext>
            </a:extLst>
          </p:cNvPr>
          <p:cNvSpPr txBox="1"/>
          <p:nvPr/>
        </p:nvSpPr>
        <p:spPr>
          <a:xfrm>
            <a:off x="6597650" y="133350"/>
            <a:ext cx="5537199" cy="2952027"/>
          </a:xfrm>
          <a:prstGeom prst="rect">
            <a:avLst/>
          </a:prstGeom>
          <a:noFill/>
        </p:spPr>
        <p:txBody>
          <a:bodyPr wrap="square" rtlCol="0">
            <a:spAutoFit/>
          </a:bodyPr>
          <a:lstStyle/>
          <a:p>
            <a:pPr lvl="0">
              <a:lnSpc>
                <a:spcPct val="150000"/>
              </a:lnSpc>
            </a:pPr>
            <a:r>
              <a:rPr lang="en-US" altLang="zh-CN" dirty="0"/>
              <a:t>This enhancement relative to non-lagged correlation is due to the time that </a:t>
            </a:r>
            <a:r>
              <a:rPr lang="en-US" altLang="zh-CN" dirty="0" err="1"/>
              <a:t>teleconnected</a:t>
            </a:r>
            <a:r>
              <a:rPr lang="en-US" altLang="zh-CN" dirty="0"/>
              <a:t> phenomena take to respond to the warming and cooling of the Indian and Pacific Oceans’ tropical waters. An example of this delayed response is the warming in the tropical Indian Ocean caused by the ENSO-related fluctuations, which takes approximately 3–6 months to occur</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sp>
        <p:nvSpPr>
          <p:cNvPr id="3" name="文本框 2">
            <a:extLst>
              <a:ext uri="{FF2B5EF4-FFF2-40B4-BE49-F238E27FC236}">
                <a16:creationId xmlns:a16="http://schemas.microsoft.com/office/drawing/2014/main" id="{9A6B76E9-746A-79FF-5C81-6B96A851D679}"/>
              </a:ext>
            </a:extLst>
          </p:cNvPr>
          <p:cNvSpPr txBox="1"/>
          <p:nvPr/>
        </p:nvSpPr>
        <p:spPr>
          <a:xfrm>
            <a:off x="1009650" y="2724150"/>
            <a:ext cx="3340100" cy="1705532"/>
          </a:xfrm>
          <a:prstGeom prst="rect">
            <a:avLst/>
          </a:prstGeom>
          <a:noFill/>
        </p:spPr>
        <p:txBody>
          <a:bodyPr wrap="square" rtlCol="0">
            <a:spAutoFit/>
          </a:bodyPr>
          <a:lstStyle/>
          <a:p>
            <a:pPr>
              <a:lnSpc>
                <a:spcPct val="150000"/>
              </a:lnSpc>
              <a:spcAft>
                <a:spcPts val="600"/>
              </a:spcAft>
            </a:pPr>
            <a:r>
              <a:rPr lang="en-US" altLang="zh-CN" dirty="0"/>
              <a:t>Reference:</a:t>
            </a:r>
            <a:br>
              <a:rPr lang="en-US" altLang="zh-CN" dirty="0"/>
            </a:br>
            <a:r>
              <a:rPr lang="en-US" altLang="zh-CN" dirty="0"/>
              <a:t>Storm wave clustering around New Zealand and its connection to climatic patterns</a:t>
            </a:r>
            <a:endParaRPr lang="zh-CN" altLang="en-US" dirty="0"/>
          </a:p>
        </p:txBody>
      </p:sp>
      <p:pic>
        <p:nvPicPr>
          <p:cNvPr id="7" name="图片 6" descr="图示&#10;&#10;AI 生成的内容可能不正确。">
            <a:extLst>
              <a:ext uri="{FF2B5EF4-FFF2-40B4-BE49-F238E27FC236}">
                <a16:creationId xmlns:a16="http://schemas.microsoft.com/office/drawing/2014/main" id="{D24A108C-F43B-489F-4CE1-0BEB2E62C4A2}"/>
              </a:ext>
            </a:extLst>
          </p:cNvPr>
          <p:cNvPicPr>
            <a:picLocks noChangeAspect="1"/>
          </p:cNvPicPr>
          <p:nvPr/>
        </p:nvPicPr>
        <p:blipFill>
          <a:blip r:embed="rId7"/>
          <a:stretch>
            <a:fillRect/>
          </a:stretch>
        </p:blipFill>
        <p:spPr>
          <a:xfrm>
            <a:off x="7705406" y="3149599"/>
            <a:ext cx="2861652" cy="3575050"/>
          </a:xfrm>
          <a:prstGeom prst="rect">
            <a:avLst/>
          </a:prstGeom>
        </p:spPr>
      </p:pic>
      <p:grpSp>
        <p:nvGrpSpPr>
          <p:cNvPr id="9" name="组合 8">
            <a:extLst>
              <a:ext uri="{FF2B5EF4-FFF2-40B4-BE49-F238E27FC236}">
                <a16:creationId xmlns:a16="http://schemas.microsoft.com/office/drawing/2014/main" id="{889489A3-FEEB-A427-A664-1F62A80E5EE8}"/>
              </a:ext>
            </a:extLst>
          </p:cNvPr>
          <p:cNvGrpSpPr/>
          <p:nvPr/>
        </p:nvGrpSpPr>
        <p:grpSpPr>
          <a:xfrm>
            <a:off x="5292486" y="133350"/>
            <a:ext cx="741521" cy="617935"/>
            <a:chOff x="254713" y="1750813"/>
            <a:chExt cx="741521" cy="617935"/>
          </a:xfrm>
        </p:grpSpPr>
        <p:sp>
          <p:nvSpPr>
            <p:cNvPr id="11" name="箭头: 右 10">
              <a:extLst>
                <a:ext uri="{FF2B5EF4-FFF2-40B4-BE49-F238E27FC236}">
                  <a16:creationId xmlns:a16="http://schemas.microsoft.com/office/drawing/2014/main" id="{6D4B6823-73F7-D611-890B-66B4B3842E51}"/>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13" name="箭头: 右 4">
              <a:extLst>
                <a:ext uri="{FF2B5EF4-FFF2-40B4-BE49-F238E27FC236}">
                  <a16:creationId xmlns:a16="http://schemas.microsoft.com/office/drawing/2014/main" id="{8AFD9A31-C80B-D8F5-7F62-8635903F909F}"/>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p:txBody>
        </p:sp>
      </p:grpSp>
    </p:spTree>
    <p:extLst>
      <p:ext uri="{BB962C8B-B14F-4D97-AF65-F5344CB8AC3E}">
        <p14:creationId xmlns:p14="http://schemas.microsoft.com/office/powerpoint/2010/main" val="1580080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49C5E6D-4C1A-88F9-D15F-47A2CF7B2E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8863D5-3FA7-7D01-1359-590E5276BB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AC2FCAA7-1A2A-AFE4-5F28-159B41747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BA336E59-676C-3255-C8EC-3C914C7AB766}"/>
              </a:ext>
            </a:extLst>
          </p:cNvPr>
          <p:cNvSpPr>
            <a:spLocks noGrp="1"/>
          </p:cNvSpPr>
          <p:nvPr>
            <p:ph type="title"/>
          </p:nvPr>
        </p:nvSpPr>
        <p:spPr>
          <a:xfrm>
            <a:off x="1114425" y="266700"/>
            <a:ext cx="2962275" cy="2095500"/>
          </a:xfrm>
        </p:spPr>
        <p:txBody>
          <a:bodyPr anchor="ctr">
            <a:normAutofit/>
          </a:bodyPr>
          <a:lstStyle/>
          <a:p>
            <a:r>
              <a:rPr lang="en-US" altLang="zh-CN" sz="3600" dirty="0"/>
              <a:t>Cross-Correlation</a:t>
            </a:r>
            <a:br>
              <a:rPr lang="en-US" altLang="zh-CN" sz="3600" dirty="0"/>
            </a:br>
            <a:endParaRPr lang="zh-CN" altLang="en-US" sz="3600" dirty="0"/>
          </a:p>
        </p:txBody>
      </p:sp>
      <p:sp>
        <p:nvSpPr>
          <p:cNvPr id="12" name="Freeform 6">
            <a:extLst>
              <a:ext uri="{FF2B5EF4-FFF2-40B4-BE49-F238E27FC236}">
                <a16:creationId xmlns:a16="http://schemas.microsoft.com/office/drawing/2014/main" id="{8AA594B4-F706-36C0-45D1-58444D5B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CD9A047D-3B59-BCDE-6843-2D1E46AA801A}"/>
              </a:ext>
            </a:extLst>
          </p:cNvPr>
          <p:cNvGraphicFramePr>
            <a:graphicFrameLocks noGrp="1"/>
          </p:cNvGraphicFramePr>
          <p:nvPr>
            <p:ph idx="1"/>
            <p:extLst>
              <p:ext uri="{D42A27DB-BD31-4B8C-83A1-F6EECF244321}">
                <p14:modId xmlns:p14="http://schemas.microsoft.com/office/powerpoint/2010/main" val="1076264700"/>
              </p:ext>
            </p:extLst>
          </p:nvPr>
        </p:nvGraphicFramePr>
        <p:xfrm>
          <a:off x="5111750" y="884636"/>
          <a:ext cx="1195307" cy="2106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DF3EA7E3-C71F-4351-328D-4D337CC3F7E1}"/>
              </a:ext>
            </a:extLst>
          </p:cNvPr>
          <p:cNvSpPr txBox="1"/>
          <p:nvPr/>
        </p:nvSpPr>
        <p:spPr>
          <a:xfrm>
            <a:off x="6547546" y="958850"/>
            <a:ext cx="5537199" cy="2121030"/>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Time lag: [2,6]</a:t>
            </a:r>
          </a:p>
          <a:p>
            <a:pPr marL="0" marR="0" lvl="0" indent="0" algn="l" defTabSz="457200" rtl="0" eaLnBrk="1" fontAlgn="auto" latinLnBrk="0" hangingPunct="1">
              <a:lnSpc>
                <a:spcPct val="150000"/>
              </a:lnSpc>
              <a:spcBef>
                <a:spcPts val="0"/>
              </a:spcBef>
              <a:spcAft>
                <a:spcPts val="0"/>
              </a:spcAft>
              <a:buClrTx/>
              <a:buSzTx/>
              <a:buFontTx/>
              <a:buNone/>
              <a:tabLst/>
              <a:defRPr/>
            </a:pPr>
            <a:r>
              <a:rPr lang="en-US" altLang="zh-CN" dirty="0">
                <a:solidFill>
                  <a:prstClr val="black"/>
                </a:solidFill>
                <a:latin typeface="Gill Sans MT" panose="020B0502020104020203"/>
                <a:ea typeface="华文中宋" panose="02010600040101010101" pitchFamily="2" charset="-122"/>
              </a:rPr>
              <a:t>X: monthly coastal line</a:t>
            </a:r>
          </a:p>
          <a:p>
            <a:pPr marL="0" marR="0" lvl="0" indent="0" algn="l" defTabSz="457200" rtl="0" eaLnBrk="1" fontAlgn="auto" latinLnBrk="0" hangingPunct="1">
              <a:lnSpc>
                <a:spcPct val="150000"/>
              </a:lnSpc>
              <a:spcBef>
                <a:spcPts val="0"/>
              </a:spcBef>
              <a:spcAft>
                <a:spcPts val="0"/>
              </a:spcAft>
              <a:buClrTx/>
              <a:buSzTx/>
              <a:buFontTx/>
              <a:buNone/>
              <a:tabLst/>
              <a:defRPr/>
            </a:pPr>
            <a:r>
              <a:rPr lang="en-US" altLang="zh-CN" dirty="0">
                <a:solidFill>
                  <a:prstClr val="black"/>
                </a:solidFill>
                <a:latin typeface="Gill Sans MT" panose="020B0502020104020203"/>
                <a:ea typeface="华文中宋" panose="02010600040101010101" pitchFamily="2" charset="-122"/>
              </a:rPr>
              <a:t>Y: smoothed soi value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Time period: 2000-2025</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hlinkClick r:id="rId7" action="ppaction://hlinkfile"/>
              </a:rPr>
              <a:t>Results</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sp>
        <p:nvSpPr>
          <p:cNvPr id="3" name="文本框 2">
            <a:extLst>
              <a:ext uri="{FF2B5EF4-FFF2-40B4-BE49-F238E27FC236}">
                <a16:creationId xmlns:a16="http://schemas.microsoft.com/office/drawing/2014/main" id="{398E0944-E6DC-DF67-7188-372AF082E198}"/>
              </a:ext>
            </a:extLst>
          </p:cNvPr>
          <p:cNvSpPr txBox="1"/>
          <p:nvPr/>
        </p:nvSpPr>
        <p:spPr>
          <a:xfrm>
            <a:off x="1009650" y="2724150"/>
            <a:ext cx="3340100" cy="170553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Reference:</a:t>
            </a:r>
            <a:b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b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Storm wave clustering around New Zealand and its connection to climatic patterns</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pSp>
        <p:nvGrpSpPr>
          <p:cNvPr id="9" name="组合 8">
            <a:extLst>
              <a:ext uri="{FF2B5EF4-FFF2-40B4-BE49-F238E27FC236}">
                <a16:creationId xmlns:a16="http://schemas.microsoft.com/office/drawing/2014/main" id="{2C908C6C-0D67-A55F-439F-4D1A28D55780}"/>
              </a:ext>
            </a:extLst>
          </p:cNvPr>
          <p:cNvGrpSpPr/>
          <p:nvPr/>
        </p:nvGrpSpPr>
        <p:grpSpPr>
          <a:xfrm>
            <a:off x="5292486" y="133350"/>
            <a:ext cx="741521" cy="617935"/>
            <a:chOff x="254713" y="1750813"/>
            <a:chExt cx="741521" cy="617935"/>
          </a:xfrm>
        </p:grpSpPr>
        <p:sp>
          <p:nvSpPr>
            <p:cNvPr id="11" name="箭头: 右 10">
              <a:extLst>
                <a:ext uri="{FF2B5EF4-FFF2-40B4-BE49-F238E27FC236}">
                  <a16:creationId xmlns:a16="http://schemas.microsoft.com/office/drawing/2014/main" id="{37BF8930-C290-E024-D303-113FC9B04588}"/>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13" name="箭头: 右 4">
              <a:extLst>
                <a:ext uri="{FF2B5EF4-FFF2-40B4-BE49-F238E27FC236}">
                  <a16:creationId xmlns:a16="http://schemas.microsoft.com/office/drawing/2014/main" id="{204C7930-B058-38D8-553A-B6ED41D6D7E8}"/>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grpSp>
      <p:grpSp>
        <p:nvGrpSpPr>
          <p:cNvPr id="16" name="组合 15">
            <a:extLst>
              <a:ext uri="{FF2B5EF4-FFF2-40B4-BE49-F238E27FC236}">
                <a16:creationId xmlns:a16="http://schemas.microsoft.com/office/drawing/2014/main" id="{83270062-B4FB-1D4E-ED2C-D08E43552AFD}"/>
              </a:ext>
            </a:extLst>
          </p:cNvPr>
          <p:cNvGrpSpPr/>
          <p:nvPr/>
        </p:nvGrpSpPr>
        <p:grpSpPr>
          <a:xfrm>
            <a:off x="4816604" y="3218295"/>
            <a:ext cx="7268141" cy="3412259"/>
            <a:chOff x="4816604" y="3250727"/>
            <a:chExt cx="7268141" cy="3412259"/>
          </a:xfrm>
        </p:grpSpPr>
        <p:pic>
          <p:nvPicPr>
            <p:cNvPr id="14" name="图片 13" descr="电脑萤幕画面&#10;&#10;AI 生成的内容可能不正确。">
              <a:extLst>
                <a:ext uri="{FF2B5EF4-FFF2-40B4-BE49-F238E27FC236}">
                  <a16:creationId xmlns:a16="http://schemas.microsoft.com/office/drawing/2014/main" id="{125A383B-5E00-B862-8C6C-B76D260C948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16604" y="3250727"/>
              <a:ext cx="7268141" cy="3020928"/>
            </a:xfrm>
            <a:prstGeom prst="rect">
              <a:avLst/>
            </a:prstGeom>
          </p:spPr>
        </p:pic>
        <p:sp>
          <p:nvSpPr>
            <p:cNvPr id="15" name="文本框 14">
              <a:extLst>
                <a:ext uri="{FF2B5EF4-FFF2-40B4-BE49-F238E27FC236}">
                  <a16:creationId xmlns:a16="http://schemas.microsoft.com/office/drawing/2014/main" id="{F803C4F1-D2F7-3BE8-9424-599872A6396D}"/>
                </a:ext>
              </a:extLst>
            </p:cNvPr>
            <p:cNvSpPr txBox="1"/>
            <p:nvPr/>
          </p:nvSpPr>
          <p:spPr>
            <a:xfrm>
              <a:off x="7854204" y="6203950"/>
              <a:ext cx="1404096" cy="459036"/>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2000-2025</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pSp>
    </p:spTree>
    <p:extLst>
      <p:ext uri="{BB962C8B-B14F-4D97-AF65-F5344CB8AC3E}">
        <p14:creationId xmlns:p14="http://schemas.microsoft.com/office/powerpoint/2010/main" val="1013927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ADF9AF8-A55D-42D0-BFFB-BE958EA744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1E7185-8C58-58B3-0D92-F81BEB827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1C46210E-A841-A60D-796F-4C80630EE8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FCDBC715-9E38-9AD7-0A2B-0251ACCE2391}"/>
              </a:ext>
            </a:extLst>
          </p:cNvPr>
          <p:cNvSpPr>
            <a:spLocks noGrp="1"/>
          </p:cNvSpPr>
          <p:nvPr>
            <p:ph type="title"/>
          </p:nvPr>
        </p:nvSpPr>
        <p:spPr>
          <a:xfrm>
            <a:off x="1114425" y="266700"/>
            <a:ext cx="2962275" cy="2095500"/>
          </a:xfrm>
        </p:spPr>
        <p:txBody>
          <a:bodyPr anchor="ctr">
            <a:normAutofit/>
          </a:bodyPr>
          <a:lstStyle/>
          <a:p>
            <a:r>
              <a:rPr lang="en-US" altLang="zh-CN" sz="3600" dirty="0"/>
              <a:t>Cross-Correlation</a:t>
            </a:r>
            <a:br>
              <a:rPr lang="en-US" altLang="zh-CN" sz="3600" dirty="0"/>
            </a:br>
            <a:endParaRPr lang="zh-CN" altLang="en-US" sz="3600" dirty="0"/>
          </a:p>
        </p:txBody>
      </p:sp>
      <p:sp>
        <p:nvSpPr>
          <p:cNvPr id="12" name="Freeform 6">
            <a:extLst>
              <a:ext uri="{FF2B5EF4-FFF2-40B4-BE49-F238E27FC236}">
                <a16:creationId xmlns:a16="http://schemas.microsoft.com/office/drawing/2014/main" id="{751A0988-C2FA-7D83-CC49-FFCF3907B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53923212-2453-2913-1261-13881773BE97}"/>
              </a:ext>
            </a:extLst>
          </p:cNvPr>
          <p:cNvGraphicFramePr>
            <a:graphicFrameLocks noGrp="1"/>
          </p:cNvGraphicFramePr>
          <p:nvPr>
            <p:ph idx="1"/>
          </p:nvPr>
        </p:nvGraphicFramePr>
        <p:xfrm>
          <a:off x="5111750" y="884636"/>
          <a:ext cx="1195307" cy="2106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573DFF0D-749D-DA8D-432D-A87C8C1B42B6}"/>
              </a:ext>
            </a:extLst>
          </p:cNvPr>
          <p:cNvSpPr txBox="1"/>
          <p:nvPr/>
        </p:nvSpPr>
        <p:spPr>
          <a:xfrm>
            <a:off x="6547546" y="958850"/>
            <a:ext cx="5537199" cy="2121030"/>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Time lag: [2,6]</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X: monthly coastal line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Y: smoothed soi value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Time period: 2010-2014 (La </a:t>
            </a:r>
            <a:r>
              <a:rPr lang="en-US" altLang="zh-CN" dirty="0">
                <a:solidFill>
                  <a:prstClr val="black"/>
                </a:solidFill>
                <a:latin typeface="Gill Sans MT" panose="020B0502020104020203"/>
                <a:ea typeface="华文中宋" panose="02010600040101010101" pitchFamily="2" charset="-122"/>
              </a:rPr>
              <a:t>N</a:t>
            </a:r>
            <a:r>
              <a:rPr kumimoji="0" lang="en-US" altLang="zh-CN" sz="18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ina</a:t>
            </a: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p>
          <a:p>
            <a:pPr marL="0" marR="0" lvl="0" indent="0" algn="l" defTabSz="457200" rtl="0" eaLnBrk="1" fontAlgn="auto" latinLnBrk="0" hangingPunct="1">
              <a:lnSpc>
                <a:spcPct val="150000"/>
              </a:lnSpc>
              <a:spcBef>
                <a:spcPts val="0"/>
              </a:spcBef>
              <a:spcAft>
                <a:spcPts val="0"/>
              </a:spcAft>
              <a:buClrTx/>
              <a:buSzTx/>
              <a:buFontTx/>
              <a:buNone/>
              <a:tabLst/>
              <a:defRPr/>
            </a:pPr>
            <a:r>
              <a:rPr lang="en-US" altLang="zh-CN" dirty="0">
                <a:solidFill>
                  <a:prstClr val="black"/>
                </a:solidFill>
                <a:latin typeface="Gill Sans MT" panose="020B0502020104020203"/>
                <a:ea typeface="华文中宋" panose="02010600040101010101" pitchFamily="2" charset="-122"/>
                <a:hlinkClick r:id="rId7" action="ppaction://hlinkfile"/>
              </a:rPr>
              <a:t>Results</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sp>
        <p:nvSpPr>
          <p:cNvPr id="3" name="文本框 2">
            <a:extLst>
              <a:ext uri="{FF2B5EF4-FFF2-40B4-BE49-F238E27FC236}">
                <a16:creationId xmlns:a16="http://schemas.microsoft.com/office/drawing/2014/main" id="{84897F7A-4044-002B-3EFC-BD22BBE7D39C}"/>
              </a:ext>
            </a:extLst>
          </p:cNvPr>
          <p:cNvSpPr txBox="1"/>
          <p:nvPr/>
        </p:nvSpPr>
        <p:spPr>
          <a:xfrm>
            <a:off x="1009650" y="2724150"/>
            <a:ext cx="3340100" cy="170553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Reference:</a:t>
            </a:r>
            <a:b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b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Storm wave clustering around New Zealand and its connection to climatic patterns</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pSp>
        <p:nvGrpSpPr>
          <p:cNvPr id="9" name="组合 8">
            <a:extLst>
              <a:ext uri="{FF2B5EF4-FFF2-40B4-BE49-F238E27FC236}">
                <a16:creationId xmlns:a16="http://schemas.microsoft.com/office/drawing/2014/main" id="{5772AA22-77C9-2C79-121F-B884EE632751}"/>
              </a:ext>
            </a:extLst>
          </p:cNvPr>
          <p:cNvGrpSpPr/>
          <p:nvPr/>
        </p:nvGrpSpPr>
        <p:grpSpPr>
          <a:xfrm>
            <a:off x="5292486" y="133350"/>
            <a:ext cx="741521" cy="617935"/>
            <a:chOff x="254713" y="1750813"/>
            <a:chExt cx="741521" cy="617935"/>
          </a:xfrm>
        </p:grpSpPr>
        <p:sp>
          <p:nvSpPr>
            <p:cNvPr id="11" name="箭头: 右 10">
              <a:extLst>
                <a:ext uri="{FF2B5EF4-FFF2-40B4-BE49-F238E27FC236}">
                  <a16:creationId xmlns:a16="http://schemas.microsoft.com/office/drawing/2014/main" id="{F3B747EB-D48A-E972-8738-6C57E56FA7DF}"/>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13" name="箭头: 右 4">
              <a:extLst>
                <a:ext uri="{FF2B5EF4-FFF2-40B4-BE49-F238E27FC236}">
                  <a16:creationId xmlns:a16="http://schemas.microsoft.com/office/drawing/2014/main" id="{589DEAB8-D1C7-D3D9-FD18-4DDF407CCF19}"/>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grpSp>
      <p:grpSp>
        <p:nvGrpSpPr>
          <p:cNvPr id="16" name="组合 15">
            <a:extLst>
              <a:ext uri="{FF2B5EF4-FFF2-40B4-BE49-F238E27FC236}">
                <a16:creationId xmlns:a16="http://schemas.microsoft.com/office/drawing/2014/main" id="{34BC0F7D-03B5-53AD-EA72-7DE35CABC98F}"/>
              </a:ext>
            </a:extLst>
          </p:cNvPr>
          <p:cNvGrpSpPr/>
          <p:nvPr/>
        </p:nvGrpSpPr>
        <p:grpSpPr>
          <a:xfrm>
            <a:off x="5999864" y="3218295"/>
            <a:ext cx="4901620" cy="3412259"/>
            <a:chOff x="5999864" y="3250727"/>
            <a:chExt cx="4901620" cy="3412259"/>
          </a:xfrm>
        </p:grpSpPr>
        <p:pic>
          <p:nvPicPr>
            <p:cNvPr id="14" name="图片 13">
              <a:extLst>
                <a:ext uri="{FF2B5EF4-FFF2-40B4-BE49-F238E27FC236}">
                  <a16:creationId xmlns:a16="http://schemas.microsoft.com/office/drawing/2014/main" id="{AAB2281D-A05B-129E-E9E5-00485AEE8D58}"/>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5999864" y="3250727"/>
              <a:ext cx="4901620" cy="3020928"/>
            </a:xfrm>
            <a:prstGeom prst="rect">
              <a:avLst/>
            </a:prstGeom>
          </p:spPr>
        </p:pic>
        <p:sp>
          <p:nvSpPr>
            <p:cNvPr id="15" name="文本框 14">
              <a:extLst>
                <a:ext uri="{FF2B5EF4-FFF2-40B4-BE49-F238E27FC236}">
                  <a16:creationId xmlns:a16="http://schemas.microsoft.com/office/drawing/2014/main" id="{C7F4300E-4883-5904-8EE8-18A63CED8CD0}"/>
                </a:ext>
              </a:extLst>
            </p:cNvPr>
            <p:cNvSpPr txBox="1"/>
            <p:nvPr/>
          </p:nvSpPr>
          <p:spPr>
            <a:xfrm>
              <a:off x="7854204" y="6203950"/>
              <a:ext cx="1404096" cy="459036"/>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2010-2014</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pSp>
    </p:spTree>
    <p:extLst>
      <p:ext uri="{BB962C8B-B14F-4D97-AF65-F5344CB8AC3E}">
        <p14:creationId xmlns:p14="http://schemas.microsoft.com/office/powerpoint/2010/main" val="4057696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0F0F0E-A760-5C60-66AA-94A1F06E54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AC4BBD4-00C8-B3B7-8534-B0BE30BDE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3A69AEBC-221D-B4B9-B58B-67BED0A290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186EEEBC-D698-5024-68D4-CC3398481194}"/>
              </a:ext>
            </a:extLst>
          </p:cNvPr>
          <p:cNvSpPr>
            <a:spLocks noGrp="1"/>
          </p:cNvSpPr>
          <p:nvPr>
            <p:ph type="title"/>
          </p:nvPr>
        </p:nvSpPr>
        <p:spPr>
          <a:xfrm>
            <a:off x="1114425" y="266700"/>
            <a:ext cx="2962275" cy="2095500"/>
          </a:xfrm>
        </p:spPr>
        <p:txBody>
          <a:bodyPr anchor="ctr">
            <a:normAutofit/>
          </a:bodyPr>
          <a:lstStyle/>
          <a:p>
            <a:r>
              <a:rPr lang="en-US" altLang="zh-CN" sz="3600" dirty="0"/>
              <a:t>K-means /</a:t>
            </a:r>
            <a:br>
              <a:rPr lang="en-US" altLang="zh-CN" sz="3600" dirty="0"/>
            </a:br>
            <a:r>
              <a:rPr lang="en-US" altLang="zh-CN" sz="3600" dirty="0"/>
              <a:t>Wavelet analysis</a:t>
            </a:r>
            <a:br>
              <a:rPr lang="en-US" altLang="zh-CN" sz="3600" dirty="0"/>
            </a:br>
            <a:endParaRPr lang="zh-CN" altLang="en-US" sz="3600" dirty="0"/>
          </a:p>
        </p:txBody>
      </p:sp>
      <p:sp>
        <p:nvSpPr>
          <p:cNvPr id="12" name="Freeform 6">
            <a:extLst>
              <a:ext uri="{FF2B5EF4-FFF2-40B4-BE49-F238E27FC236}">
                <a16:creationId xmlns:a16="http://schemas.microsoft.com/office/drawing/2014/main" id="{41F9F28E-4C18-5B31-C149-8780661C8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5" name="内容占位符 4">
            <a:extLst>
              <a:ext uri="{FF2B5EF4-FFF2-40B4-BE49-F238E27FC236}">
                <a16:creationId xmlns:a16="http://schemas.microsoft.com/office/drawing/2014/main" id="{E2ABD286-A1FB-1AD5-B311-EA52196034C7}"/>
              </a:ext>
            </a:extLst>
          </p:cNvPr>
          <p:cNvGraphicFramePr>
            <a:graphicFrameLocks noGrp="1"/>
          </p:cNvGraphicFramePr>
          <p:nvPr>
            <p:ph idx="1"/>
            <p:extLst>
              <p:ext uri="{D42A27DB-BD31-4B8C-83A1-F6EECF244321}">
                <p14:modId xmlns:p14="http://schemas.microsoft.com/office/powerpoint/2010/main" val="1907580099"/>
              </p:ext>
            </p:extLst>
          </p:nvPr>
        </p:nvGraphicFramePr>
        <p:xfrm>
          <a:off x="6022222" y="821498"/>
          <a:ext cx="1182806" cy="1134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2">
            <a:extLst>
              <a:ext uri="{FF2B5EF4-FFF2-40B4-BE49-F238E27FC236}">
                <a16:creationId xmlns:a16="http://schemas.microsoft.com/office/drawing/2014/main" id="{DEBB8796-074A-4D0E-C793-3CC63883D6CC}"/>
              </a:ext>
            </a:extLst>
          </p:cNvPr>
          <p:cNvSpPr txBox="1"/>
          <p:nvPr/>
        </p:nvSpPr>
        <p:spPr>
          <a:xfrm>
            <a:off x="1138927" y="2052472"/>
            <a:ext cx="3190876" cy="1366977"/>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Key-step: Z-score/Interpolation</a:t>
            </a:r>
          </a:p>
          <a:p>
            <a:pPr marL="0" marR="0" lvl="0" indent="0" algn="l" defTabSz="457200" rtl="0" eaLnBrk="1" fontAlgn="auto" latinLnBrk="0" hangingPunct="1">
              <a:lnSpc>
                <a:spcPct val="150000"/>
              </a:lnSpc>
              <a:spcBef>
                <a:spcPts val="0"/>
              </a:spcBef>
              <a:spcAft>
                <a:spcPts val="600"/>
              </a:spcAft>
              <a:buClrTx/>
              <a:buSzTx/>
              <a:buFontTx/>
              <a:buNone/>
              <a:tabLst/>
              <a:defRPr/>
            </a:pPr>
            <a:r>
              <a:rPr lang="en-US" altLang="zh-CN" dirty="0">
                <a:solidFill>
                  <a:prstClr val="black"/>
                </a:solidFill>
                <a:latin typeface="Gill Sans MT" panose="020B0502020104020203"/>
                <a:ea typeface="华文中宋" panose="02010600040101010101" pitchFamily="2" charset="-122"/>
              </a:rPr>
              <a:t>SOI value without smoothing when wavelet analysis</a:t>
            </a:r>
            <a:endParaRPr kumimoji="0" lang="zh-CN" altLang="en-US" sz="18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pSp>
        <p:nvGrpSpPr>
          <p:cNvPr id="9" name="组合 8">
            <a:extLst>
              <a:ext uri="{FF2B5EF4-FFF2-40B4-BE49-F238E27FC236}">
                <a16:creationId xmlns:a16="http://schemas.microsoft.com/office/drawing/2014/main" id="{CE2B066E-AE4E-F9B8-78D1-88F5AA63C85A}"/>
              </a:ext>
            </a:extLst>
          </p:cNvPr>
          <p:cNvGrpSpPr/>
          <p:nvPr/>
        </p:nvGrpSpPr>
        <p:grpSpPr>
          <a:xfrm>
            <a:off x="6284893" y="120650"/>
            <a:ext cx="657464" cy="567651"/>
            <a:chOff x="254713" y="1750813"/>
            <a:chExt cx="741521" cy="617935"/>
          </a:xfrm>
        </p:grpSpPr>
        <p:sp>
          <p:nvSpPr>
            <p:cNvPr id="11" name="箭头: 右 10">
              <a:extLst>
                <a:ext uri="{FF2B5EF4-FFF2-40B4-BE49-F238E27FC236}">
                  <a16:creationId xmlns:a16="http://schemas.microsoft.com/office/drawing/2014/main" id="{762CF18F-8262-58CB-572C-3D66973EF658}"/>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13" name="箭头: 右 4">
              <a:extLst>
                <a:ext uri="{FF2B5EF4-FFF2-40B4-BE49-F238E27FC236}">
                  <a16:creationId xmlns:a16="http://schemas.microsoft.com/office/drawing/2014/main" id="{6B2474D0-A356-1B8C-0B74-2BB1429147F3}"/>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grpSp>
      <p:grpSp>
        <p:nvGrpSpPr>
          <p:cNvPr id="16" name="组合 15">
            <a:extLst>
              <a:ext uri="{FF2B5EF4-FFF2-40B4-BE49-F238E27FC236}">
                <a16:creationId xmlns:a16="http://schemas.microsoft.com/office/drawing/2014/main" id="{B347FD59-F0AF-18C8-98C7-61BAD0BAFC01}"/>
              </a:ext>
            </a:extLst>
          </p:cNvPr>
          <p:cNvGrpSpPr/>
          <p:nvPr/>
        </p:nvGrpSpPr>
        <p:grpSpPr>
          <a:xfrm>
            <a:off x="9828707" y="101782"/>
            <a:ext cx="657464" cy="617935"/>
            <a:chOff x="254713" y="1750813"/>
            <a:chExt cx="741521" cy="617935"/>
          </a:xfrm>
        </p:grpSpPr>
        <p:sp>
          <p:nvSpPr>
            <p:cNvPr id="17" name="箭头: 右 16">
              <a:extLst>
                <a:ext uri="{FF2B5EF4-FFF2-40B4-BE49-F238E27FC236}">
                  <a16:creationId xmlns:a16="http://schemas.microsoft.com/office/drawing/2014/main" id="{66B5762B-AD85-D839-9E11-464E117451DB}"/>
                </a:ext>
              </a:extLst>
            </p:cNvPr>
            <p:cNvSpPr/>
            <p:nvPr/>
          </p:nvSpPr>
          <p:spPr>
            <a:xfrm rot="5400000">
              <a:off x="316507" y="1689020"/>
              <a:ext cx="617934" cy="74152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18" name="箭头: 右 4">
              <a:extLst>
                <a:ext uri="{FF2B5EF4-FFF2-40B4-BE49-F238E27FC236}">
                  <a16:creationId xmlns:a16="http://schemas.microsoft.com/office/drawing/2014/main" id="{26622DE9-9826-D797-CA5C-6038B4E049C2}"/>
                </a:ext>
              </a:extLst>
            </p:cNvPr>
            <p:cNvSpPr txBox="1"/>
            <p:nvPr/>
          </p:nvSpPr>
          <p:spPr>
            <a:xfrm>
              <a:off x="403018" y="1750813"/>
              <a:ext cx="444913" cy="4325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grpSp>
      <p:grpSp>
        <p:nvGrpSpPr>
          <p:cNvPr id="19" name="组合 18">
            <a:extLst>
              <a:ext uri="{FF2B5EF4-FFF2-40B4-BE49-F238E27FC236}">
                <a16:creationId xmlns:a16="http://schemas.microsoft.com/office/drawing/2014/main" id="{704BDF72-AD99-7965-4895-62AFC77D36C2}"/>
              </a:ext>
            </a:extLst>
          </p:cNvPr>
          <p:cNvGrpSpPr/>
          <p:nvPr/>
        </p:nvGrpSpPr>
        <p:grpSpPr>
          <a:xfrm>
            <a:off x="9566037" y="821498"/>
            <a:ext cx="1182805" cy="985904"/>
            <a:chOff x="0" y="0"/>
            <a:chExt cx="1182805" cy="985904"/>
          </a:xfrm>
        </p:grpSpPr>
        <p:sp>
          <p:nvSpPr>
            <p:cNvPr id="20" name="矩形: 圆角 19">
              <a:extLst>
                <a:ext uri="{FF2B5EF4-FFF2-40B4-BE49-F238E27FC236}">
                  <a16:creationId xmlns:a16="http://schemas.microsoft.com/office/drawing/2014/main" id="{7622632B-A3B7-2195-AC0B-CFB21552181D}"/>
                </a:ext>
              </a:extLst>
            </p:cNvPr>
            <p:cNvSpPr/>
            <p:nvPr/>
          </p:nvSpPr>
          <p:spPr>
            <a:xfrm>
              <a:off x="0" y="0"/>
              <a:ext cx="1182805" cy="98590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1" name="矩形: 圆角 4">
              <a:extLst>
                <a:ext uri="{FF2B5EF4-FFF2-40B4-BE49-F238E27FC236}">
                  <a16:creationId xmlns:a16="http://schemas.microsoft.com/office/drawing/2014/main" id="{3BE65788-C9B5-2611-EA7D-7FE8DA9B6FCF}"/>
                </a:ext>
              </a:extLst>
            </p:cNvPr>
            <p:cNvSpPr txBox="1"/>
            <p:nvPr/>
          </p:nvSpPr>
          <p:spPr>
            <a:xfrm>
              <a:off x="28876" y="28876"/>
              <a:ext cx="1125053" cy="9281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solidFill>
                    <a:prstClr val="white"/>
                  </a:solidFill>
                  <a:latin typeface="Gill Sans MT" panose="020B0502020104020203"/>
                  <a:ea typeface="华文中宋" panose="02010600040101010101" pitchFamily="2" charset="-122"/>
                  <a:cs typeface="+mn-cs"/>
                </a:rPr>
                <a:t>K-means</a:t>
              </a:r>
              <a:endParaRPr lang="zh-CN" altLang="en-US" sz="1700" kern="1200" dirty="0">
                <a:solidFill>
                  <a:prstClr val="white"/>
                </a:solidFill>
                <a:latin typeface="Gill Sans MT" panose="020B0502020104020203"/>
                <a:ea typeface="华文中宋" panose="02010600040101010101" pitchFamily="2" charset="-122"/>
                <a:cs typeface="+mn-cs"/>
              </a:endParaRPr>
            </a:p>
          </p:txBody>
        </p:sp>
      </p:grpSp>
      <p:sp>
        <p:nvSpPr>
          <p:cNvPr id="4" name="文本框 3">
            <a:extLst>
              <a:ext uri="{FF2B5EF4-FFF2-40B4-BE49-F238E27FC236}">
                <a16:creationId xmlns:a16="http://schemas.microsoft.com/office/drawing/2014/main" id="{BBC163F9-7205-0ABF-6990-7A41BD964623}"/>
              </a:ext>
            </a:extLst>
          </p:cNvPr>
          <p:cNvSpPr txBox="1"/>
          <p:nvPr/>
        </p:nvSpPr>
        <p:spPr>
          <a:xfrm>
            <a:off x="7233904" y="884072"/>
            <a:ext cx="2259507" cy="923330"/>
          </a:xfrm>
          <a:prstGeom prst="rect">
            <a:avLst/>
          </a:prstGeom>
          <a:noFill/>
        </p:spPr>
        <p:txBody>
          <a:bodyPr wrap="square" rtlCol="0">
            <a:spAutoFit/>
          </a:bodyPr>
          <a:lstStyle/>
          <a:p>
            <a:pPr algn="ctr"/>
            <a:r>
              <a:rPr lang="en-US" altLang="zh-CN" dirty="0">
                <a:solidFill>
                  <a:prstClr val="black"/>
                </a:solidFill>
                <a:latin typeface="Gill Sans MT" panose="020B0502020104020203"/>
                <a:ea typeface="华文中宋" panose="02010600040101010101" pitchFamily="2" charset="-122"/>
              </a:rPr>
              <a:t>Z-score</a:t>
            </a:r>
          </a:p>
          <a:p>
            <a:pPr algn="ctr"/>
            <a:r>
              <a:rPr lang="en-US" altLang="zh-CN" dirty="0">
                <a:solidFill>
                  <a:prstClr val="black"/>
                </a:solidFill>
                <a:latin typeface="Gill Sans MT" panose="020B0502020104020203"/>
                <a:ea typeface="华文中宋" panose="02010600040101010101" pitchFamily="2" charset="-122"/>
              </a:rPr>
              <a:t>Interpolation</a:t>
            </a:r>
          </a:p>
          <a:p>
            <a:pPr algn="ctr"/>
            <a:r>
              <a:rPr lang="en-US" altLang="zh-CN" dirty="0">
                <a:solidFill>
                  <a:prstClr val="black"/>
                </a:solidFill>
                <a:latin typeface="Gill Sans MT" panose="020B0502020104020203"/>
                <a:ea typeface="华文中宋" panose="02010600040101010101" pitchFamily="2" charset="-122"/>
              </a:rPr>
              <a:t>(random linear noise)</a:t>
            </a:r>
            <a:endParaRPr lang="zh-CN" altLang="en-US" dirty="0">
              <a:solidFill>
                <a:prstClr val="black"/>
              </a:solidFill>
              <a:latin typeface="Gill Sans MT" panose="020B0502020104020203"/>
              <a:ea typeface="华文中宋" panose="02010600040101010101" pitchFamily="2" charset="-122"/>
            </a:endParaRPr>
          </a:p>
        </p:txBody>
      </p:sp>
      <p:sp>
        <p:nvSpPr>
          <p:cNvPr id="14" name="文本框 13">
            <a:extLst>
              <a:ext uri="{FF2B5EF4-FFF2-40B4-BE49-F238E27FC236}">
                <a16:creationId xmlns:a16="http://schemas.microsoft.com/office/drawing/2014/main" id="{EEF300C0-06BF-5B69-10FF-541E9E6725F1}"/>
              </a:ext>
            </a:extLst>
          </p:cNvPr>
          <p:cNvSpPr txBox="1"/>
          <p:nvPr/>
        </p:nvSpPr>
        <p:spPr>
          <a:xfrm>
            <a:off x="8880826" y="2052472"/>
            <a:ext cx="2799464" cy="1477328"/>
          </a:xfrm>
          <a:prstGeom prst="rect">
            <a:avLst/>
          </a:prstGeom>
          <a:noFill/>
        </p:spPr>
        <p:txBody>
          <a:bodyPr wrap="square" rtlCol="0">
            <a:spAutoFit/>
          </a:bodyPr>
          <a:lstStyle/>
          <a:p>
            <a:pPr algn="ctr"/>
            <a:r>
              <a:rPr lang="en-US" altLang="zh-CN" dirty="0">
                <a:solidFill>
                  <a:prstClr val="black"/>
                </a:solidFill>
                <a:latin typeface="Gill Sans MT" panose="020B0502020104020203"/>
                <a:ea typeface="华文中宋" panose="02010600040101010101" pitchFamily="2" charset="-122"/>
                <a:hlinkClick r:id="rId7" action="ppaction://hlinkfile"/>
              </a:rPr>
              <a:t>Source data for analysis</a:t>
            </a:r>
            <a:endParaRPr lang="en-US" altLang="zh-CN" dirty="0">
              <a:solidFill>
                <a:prstClr val="black"/>
              </a:solidFill>
              <a:latin typeface="Gill Sans MT" panose="020B0502020104020203"/>
              <a:ea typeface="华文中宋" panose="02010600040101010101" pitchFamily="2" charset="-122"/>
            </a:endParaRPr>
          </a:p>
          <a:p>
            <a:pPr algn="ctr"/>
            <a:endParaRPr lang="en-US" altLang="zh-CN" dirty="0">
              <a:solidFill>
                <a:prstClr val="black"/>
              </a:solidFill>
              <a:latin typeface="Gill Sans MT" panose="020B0502020104020203"/>
              <a:ea typeface="华文中宋" panose="02010600040101010101" pitchFamily="2" charset="-122"/>
            </a:endParaRPr>
          </a:p>
          <a:p>
            <a:pPr algn="ctr"/>
            <a:r>
              <a:rPr lang="en-US" altLang="zh-CN" dirty="0">
                <a:solidFill>
                  <a:prstClr val="black"/>
                </a:solidFill>
                <a:latin typeface="Gill Sans MT" panose="020B0502020104020203"/>
                <a:ea typeface="华文中宋" panose="02010600040101010101" pitchFamily="2" charset="-122"/>
                <a:hlinkClick r:id="rId8" action="ppaction://hlinkfile"/>
              </a:rPr>
              <a:t>Result (2000-2025)</a:t>
            </a:r>
            <a:endParaRPr lang="en-US" altLang="zh-CN" dirty="0">
              <a:solidFill>
                <a:prstClr val="black"/>
              </a:solidFill>
              <a:latin typeface="Gill Sans MT" panose="020B0502020104020203"/>
              <a:ea typeface="华文中宋" panose="02010600040101010101" pitchFamily="2" charset="-122"/>
            </a:endParaRPr>
          </a:p>
          <a:p>
            <a:pPr algn="ctr"/>
            <a:endParaRPr lang="en-US" altLang="zh-CN" dirty="0">
              <a:solidFill>
                <a:prstClr val="black"/>
              </a:solidFill>
              <a:latin typeface="Gill Sans MT" panose="020B0502020104020203"/>
              <a:ea typeface="华文中宋" panose="02010600040101010101" pitchFamily="2" charset="-122"/>
            </a:endParaRPr>
          </a:p>
          <a:p>
            <a:pPr algn="ctr"/>
            <a:r>
              <a:rPr lang="en-US" altLang="zh-CN" dirty="0">
                <a:solidFill>
                  <a:prstClr val="black"/>
                </a:solidFill>
                <a:hlinkClick r:id="rId9" action="ppaction://hlinkfile"/>
              </a:rPr>
              <a:t>Result (2010-2014)</a:t>
            </a:r>
            <a:endParaRPr lang="zh-CN" altLang="en-US" dirty="0">
              <a:solidFill>
                <a:prstClr val="black"/>
              </a:solidFill>
            </a:endParaRPr>
          </a:p>
        </p:txBody>
      </p:sp>
      <p:sp>
        <p:nvSpPr>
          <p:cNvPr id="15" name="文本框 14">
            <a:extLst>
              <a:ext uri="{FF2B5EF4-FFF2-40B4-BE49-F238E27FC236}">
                <a16:creationId xmlns:a16="http://schemas.microsoft.com/office/drawing/2014/main" id="{99B3A7A9-CCA2-0505-8AD2-B37E9A34D563}"/>
              </a:ext>
            </a:extLst>
          </p:cNvPr>
          <p:cNvSpPr txBox="1"/>
          <p:nvPr/>
        </p:nvSpPr>
        <p:spPr>
          <a:xfrm>
            <a:off x="9088104" y="3774870"/>
            <a:ext cx="2592186" cy="923330"/>
          </a:xfrm>
          <a:prstGeom prst="rect">
            <a:avLst/>
          </a:prstGeom>
          <a:noFill/>
        </p:spPr>
        <p:txBody>
          <a:bodyPr wrap="square" rtlCol="0">
            <a:spAutoFit/>
          </a:bodyPr>
          <a:lstStyle/>
          <a:p>
            <a:pPr algn="ctr"/>
            <a:r>
              <a:rPr lang="en-US" altLang="zh-CN" dirty="0">
                <a:solidFill>
                  <a:prstClr val="black"/>
                </a:solidFill>
                <a:latin typeface="Gill Sans MT" panose="020B0502020104020203"/>
                <a:ea typeface="华文中宋" panose="02010600040101010101" pitchFamily="2" charset="-122"/>
              </a:rPr>
              <a:t>Only consider the Rising and falling mode</a:t>
            </a:r>
            <a:r>
              <a:rPr lang="en-US" altLang="zh-CN" dirty="0">
                <a:solidFill>
                  <a:prstClr val="black"/>
                </a:solidFill>
              </a:rPr>
              <a:t>, neglect the amplitude of variation</a:t>
            </a:r>
            <a:endParaRPr lang="zh-CN" altLang="en-US" dirty="0">
              <a:solidFill>
                <a:prstClr val="black"/>
              </a:solidFill>
              <a:latin typeface="Gill Sans MT" panose="020B0502020104020203"/>
              <a:ea typeface="华文中宋" panose="02010600040101010101" pitchFamily="2" charset="-122"/>
            </a:endParaRPr>
          </a:p>
        </p:txBody>
      </p:sp>
      <p:pic>
        <p:nvPicPr>
          <p:cNvPr id="23" name="图片 22" descr="电脑萤幕画面&#10;&#10;AI 生成的内容可能不正确。">
            <a:extLst>
              <a:ext uri="{FF2B5EF4-FFF2-40B4-BE49-F238E27FC236}">
                <a16:creationId xmlns:a16="http://schemas.microsoft.com/office/drawing/2014/main" id="{1A909CBD-26AC-3E31-BDDA-59CC08E596C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18846" y="2114397"/>
            <a:ext cx="3536482" cy="2273453"/>
          </a:xfrm>
          <a:prstGeom prst="rect">
            <a:avLst/>
          </a:prstGeom>
        </p:spPr>
      </p:pic>
      <p:pic>
        <p:nvPicPr>
          <p:cNvPr id="25" name="图片 24" descr="图形用户界面, 表面图&#10;&#10;AI 生成的内容可能不正确。">
            <a:extLst>
              <a:ext uri="{FF2B5EF4-FFF2-40B4-BE49-F238E27FC236}">
                <a16:creationId xmlns:a16="http://schemas.microsoft.com/office/drawing/2014/main" id="{A3FF33EE-917F-2433-FC90-3859BDB5F6C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18846" y="4454072"/>
            <a:ext cx="3536482" cy="2273453"/>
          </a:xfrm>
          <a:prstGeom prst="rect">
            <a:avLst/>
          </a:prstGeom>
        </p:spPr>
      </p:pic>
      <p:sp>
        <p:nvSpPr>
          <p:cNvPr id="26" name="文本框 25">
            <a:extLst>
              <a:ext uri="{FF2B5EF4-FFF2-40B4-BE49-F238E27FC236}">
                <a16:creationId xmlns:a16="http://schemas.microsoft.com/office/drawing/2014/main" id="{744F832D-DF91-DD3B-5616-14B0A48FA019}"/>
              </a:ext>
            </a:extLst>
          </p:cNvPr>
          <p:cNvSpPr txBox="1"/>
          <p:nvPr/>
        </p:nvSpPr>
        <p:spPr>
          <a:xfrm>
            <a:off x="6687087" y="4084740"/>
            <a:ext cx="2592186" cy="369332"/>
          </a:xfrm>
          <a:prstGeom prst="rect">
            <a:avLst/>
          </a:prstGeom>
          <a:noFill/>
        </p:spPr>
        <p:txBody>
          <a:bodyPr wrap="square" rtlCol="0">
            <a:spAutoFit/>
          </a:bodyPr>
          <a:lstStyle/>
          <a:p>
            <a:pPr algn="ctr"/>
            <a:r>
              <a:rPr lang="en-US" altLang="zh-CN" dirty="0">
                <a:solidFill>
                  <a:prstClr val="black"/>
                </a:solidFill>
                <a:latin typeface="Gill Sans MT" panose="020B0502020104020203"/>
                <a:ea typeface="华文中宋" panose="02010600040101010101" pitchFamily="2" charset="-122"/>
                <a:hlinkClick r:id="rId12" action="ppaction://hlinkfile"/>
              </a:rPr>
              <a:t>2000-2025</a:t>
            </a:r>
            <a:endParaRPr lang="zh-CN" altLang="en-US" dirty="0">
              <a:solidFill>
                <a:prstClr val="black"/>
              </a:solidFill>
              <a:latin typeface="Gill Sans MT" panose="020B0502020104020203"/>
              <a:ea typeface="华文中宋" panose="02010600040101010101" pitchFamily="2" charset="-122"/>
            </a:endParaRPr>
          </a:p>
        </p:txBody>
      </p:sp>
      <p:sp>
        <p:nvSpPr>
          <p:cNvPr id="27" name="文本框 26">
            <a:extLst>
              <a:ext uri="{FF2B5EF4-FFF2-40B4-BE49-F238E27FC236}">
                <a16:creationId xmlns:a16="http://schemas.microsoft.com/office/drawing/2014/main" id="{7FABCD08-22E5-3475-FC94-E016E7FDF2F3}"/>
              </a:ext>
            </a:extLst>
          </p:cNvPr>
          <p:cNvSpPr txBox="1"/>
          <p:nvPr/>
        </p:nvSpPr>
        <p:spPr>
          <a:xfrm>
            <a:off x="6715965" y="6424415"/>
            <a:ext cx="2447085" cy="369332"/>
          </a:xfrm>
          <a:prstGeom prst="rect">
            <a:avLst/>
          </a:prstGeom>
          <a:noFill/>
        </p:spPr>
        <p:txBody>
          <a:bodyPr wrap="square" rtlCol="0">
            <a:spAutoFit/>
          </a:bodyPr>
          <a:lstStyle/>
          <a:p>
            <a:pPr algn="ctr"/>
            <a:r>
              <a:rPr lang="en-US" altLang="zh-CN" dirty="0">
                <a:solidFill>
                  <a:prstClr val="black"/>
                </a:solidFill>
                <a:latin typeface="Gill Sans MT" panose="020B0502020104020203"/>
                <a:ea typeface="华文中宋" panose="02010600040101010101" pitchFamily="2" charset="-122"/>
                <a:hlinkClick r:id="rId13" action="ppaction://hlinkfile"/>
              </a:rPr>
              <a:t>2010-2014</a:t>
            </a:r>
            <a:endParaRPr lang="zh-CN" altLang="en-US" dirty="0">
              <a:solidFill>
                <a:prstClr val="black"/>
              </a:solidFill>
              <a:latin typeface="Gill Sans MT" panose="020B0502020104020203"/>
              <a:ea typeface="华文中宋" panose="02010600040101010101" pitchFamily="2" charset="-122"/>
            </a:endParaRPr>
          </a:p>
        </p:txBody>
      </p:sp>
    </p:spTree>
    <p:extLst>
      <p:ext uri="{BB962C8B-B14F-4D97-AF65-F5344CB8AC3E}">
        <p14:creationId xmlns:p14="http://schemas.microsoft.com/office/powerpoint/2010/main" val="2222073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0ABB97-D9A0-7DE6-ECDF-DDF4C8EBF2A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C04230-438D-0DED-A849-2EA9C99D9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50C65F2E-4DA7-F375-B762-75EB1B929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E87EED0C-E7A9-7F24-A051-07CC0EEC4276}"/>
              </a:ext>
            </a:extLst>
          </p:cNvPr>
          <p:cNvSpPr>
            <a:spLocks noGrp="1"/>
          </p:cNvSpPr>
          <p:nvPr>
            <p:ph type="title"/>
          </p:nvPr>
        </p:nvSpPr>
        <p:spPr>
          <a:xfrm>
            <a:off x="1114425" y="266700"/>
            <a:ext cx="2962275" cy="2095500"/>
          </a:xfrm>
        </p:spPr>
        <p:txBody>
          <a:bodyPr anchor="ctr">
            <a:normAutofit/>
          </a:bodyPr>
          <a:lstStyle/>
          <a:p>
            <a:r>
              <a:rPr lang="en-US" altLang="zh-CN" sz="3600" dirty="0"/>
              <a:t>Climate index</a:t>
            </a:r>
            <a:br>
              <a:rPr lang="en-US" altLang="zh-CN" sz="3600" dirty="0"/>
            </a:br>
            <a:endParaRPr lang="zh-CN" altLang="en-US" sz="3600" dirty="0"/>
          </a:p>
        </p:txBody>
      </p:sp>
      <p:sp>
        <p:nvSpPr>
          <p:cNvPr id="12" name="Freeform 6">
            <a:extLst>
              <a:ext uri="{FF2B5EF4-FFF2-40B4-BE49-F238E27FC236}">
                <a16:creationId xmlns:a16="http://schemas.microsoft.com/office/drawing/2014/main" id="{C2388FD7-EC15-6C36-EC64-D68F92655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sp>
        <p:nvSpPr>
          <p:cNvPr id="3" name="文本框 2">
            <a:extLst>
              <a:ext uri="{FF2B5EF4-FFF2-40B4-BE49-F238E27FC236}">
                <a16:creationId xmlns:a16="http://schemas.microsoft.com/office/drawing/2014/main" id="{A91E751A-E737-0C2C-B090-DDEFDCA4442D}"/>
              </a:ext>
            </a:extLst>
          </p:cNvPr>
          <p:cNvSpPr txBox="1"/>
          <p:nvPr/>
        </p:nvSpPr>
        <p:spPr>
          <a:xfrm>
            <a:off x="361950" y="1708150"/>
            <a:ext cx="4195762" cy="5086457"/>
          </a:xfrm>
          <a:prstGeom prst="rect">
            <a:avLst/>
          </a:prstGeom>
          <a:noFill/>
        </p:spPr>
        <p:txBody>
          <a:bodyPr wrap="square" rtlCol="0">
            <a:spAutoFit/>
          </a:bodyPr>
          <a:lstStyle/>
          <a:p>
            <a:pPr marL="0" marR="0" lvl="0" indent="0" defTabSz="457200" rtl="0" eaLnBrk="1" fontAlgn="auto" latinLnBrk="0" hangingPunct="1">
              <a:lnSpc>
                <a:spcPct val="150000"/>
              </a:lnSpc>
              <a:spcBef>
                <a:spcPts val="0"/>
              </a:spcBef>
              <a:spcAft>
                <a:spcPts val="60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Data source:</a:t>
            </a:r>
          </a:p>
          <a:p>
            <a:pPr marL="285750" indent="-285750">
              <a:lnSpc>
                <a:spcPct val="150000"/>
              </a:lnSpc>
              <a:spcAft>
                <a:spcPts val="600"/>
              </a:spcAft>
              <a:buFont typeface="Arial" panose="020B0604020202020204" pitchFamily="34" charset="0"/>
              <a:buChar char="•"/>
              <a:defRPr/>
            </a:pPr>
            <a:r>
              <a:rPr lang="en-US" altLang="zh-CN" sz="1400" dirty="0">
                <a:solidFill>
                  <a:prstClr val="black"/>
                </a:solidFill>
                <a:latin typeface="Gill Sans MT" panose="020B0502020104020203"/>
                <a:ea typeface="华文中宋" panose="02010600040101010101" pitchFamily="2" charset="-122"/>
              </a:rPr>
              <a:t>SOI: </a:t>
            </a:r>
            <a:r>
              <a:rPr lang="en-US" altLang="zh-CN" sz="1400" dirty="0"/>
              <a:t>https://</a:t>
            </a:r>
            <a:r>
              <a:rPr lang="en-US" altLang="zh-CN" sz="1400" dirty="0" err="1"/>
              <a:t>www.ncei.noaa.gov</a:t>
            </a:r>
            <a:r>
              <a:rPr lang="en-US" altLang="zh-CN" sz="1400" dirty="0"/>
              <a:t>/access/monitoring/</a:t>
            </a:r>
            <a:r>
              <a:rPr lang="en-US" altLang="zh-CN" sz="1400" dirty="0" err="1"/>
              <a:t>enso</a:t>
            </a:r>
            <a:r>
              <a:rPr lang="en-US" altLang="zh-CN" sz="1400" dirty="0"/>
              <a:t>/soi</a:t>
            </a:r>
          </a:p>
          <a:p>
            <a:pPr marL="285750" indent="-285750">
              <a:lnSpc>
                <a:spcPct val="150000"/>
              </a:lnSpc>
              <a:spcAft>
                <a:spcPts val="600"/>
              </a:spcAft>
              <a:buFont typeface="Arial" panose="020B0604020202020204" pitchFamily="34" charset="0"/>
              <a:buChar char="•"/>
              <a:defRPr/>
            </a:pPr>
            <a:r>
              <a:rPr kumimoji="0" lang="en-US" altLang="zh-CN" sz="1400" b="0" i="0" u="none" strike="noStrike" kern="1200" cap="none" spc="0" normalizeH="0" baseline="0" noProof="0" dirty="0" err="1">
                <a:ln>
                  <a:noFill/>
                </a:ln>
                <a:effectLst/>
                <a:uLnTx/>
                <a:uFillTx/>
                <a:latin typeface="Gill Sans MT" panose="020B0502020104020203"/>
                <a:ea typeface="华文中宋" panose="02010600040101010101" pitchFamily="2" charset="-122"/>
                <a:cs typeface="+mn-cs"/>
              </a:rPr>
              <a:t>PDO</a:t>
            </a:r>
            <a:r>
              <a:rPr lang="en-US" altLang="zh-CN" sz="1400" dirty="0"/>
              <a:t>: https://</a:t>
            </a:r>
            <a:r>
              <a:rPr lang="en-US" altLang="zh-CN" sz="1400" dirty="0" err="1"/>
              <a:t>www.data.jma.go.jp</a:t>
            </a:r>
            <a:r>
              <a:rPr lang="en-US" altLang="zh-CN" sz="1400" dirty="0"/>
              <a:t>/</a:t>
            </a:r>
            <a:r>
              <a:rPr lang="en-US" altLang="zh-CN" sz="1400" dirty="0" err="1"/>
              <a:t>tcc</a:t>
            </a:r>
            <a:r>
              <a:rPr lang="en-US" altLang="zh-CN" sz="1400" dirty="0"/>
              <a:t>/</a:t>
            </a:r>
            <a:r>
              <a:rPr lang="en-US" altLang="zh-CN" sz="1400" dirty="0" err="1"/>
              <a:t>tcc</a:t>
            </a:r>
            <a:r>
              <a:rPr lang="en-US" altLang="zh-CN" sz="1400" dirty="0"/>
              <a:t>/products/</a:t>
            </a:r>
            <a:r>
              <a:rPr lang="en-US" altLang="zh-CN" sz="1400" dirty="0" err="1"/>
              <a:t>elnino</a:t>
            </a:r>
            <a:r>
              <a:rPr lang="en-US" altLang="zh-CN" sz="1400" dirty="0"/>
              <a:t>/decadal/</a:t>
            </a:r>
            <a:r>
              <a:rPr lang="en-US" altLang="zh-CN" sz="1400" dirty="0" err="1"/>
              <a:t>pdo_month.html</a:t>
            </a:r>
            <a:endParaRPr lang="en-US" altLang="zh-CN" sz="1400" dirty="0"/>
          </a:p>
          <a:p>
            <a:pPr marL="285750" lvl="0" indent="-285750">
              <a:lnSpc>
                <a:spcPct val="150000"/>
              </a:lnSpc>
              <a:spcAft>
                <a:spcPts val="600"/>
              </a:spcAft>
              <a:buFont typeface="Arial" panose="020B0604020202020204" pitchFamily="34" charset="0"/>
              <a:buChar char="•"/>
              <a:defRPr/>
            </a:pPr>
            <a:r>
              <a:rPr lang="en-US" altLang="zh-CN" sz="1400" dirty="0">
                <a:latin typeface="Gill Sans MT" panose="020B0502020104020203"/>
                <a:ea typeface="华文中宋" panose="02010600040101010101" pitchFamily="2" charset="-122"/>
              </a:rPr>
              <a:t>IOD (</a:t>
            </a:r>
            <a:r>
              <a:rPr lang="en-US" altLang="zh-CN" sz="1400" dirty="0" err="1">
                <a:latin typeface="Gill Sans MT" panose="020B0502020104020203"/>
                <a:ea typeface="华文中宋" panose="02010600040101010101" pitchFamily="2" charset="-122"/>
              </a:rPr>
              <a:t>DMI</a:t>
            </a:r>
            <a:r>
              <a:rPr lang="en-US" altLang="zh-CN" sz="1400" dirty="0"/>
              <a:t>): https://</a:t>
            </a:r>
            <a:r>
              <a:rPr lang="en-US" altLang="zh-CN" sz="1400" dirty="0" err="1"/>
              <a:t>www.jamstec.go.jp</a:t>
            </a:r>
            <a:r>
              <a:rPr lang="en-US" altLang="zh-CN" sz="1400" dirty="0"/>
              <a:t>/</a:t>
            </a:r>
            <a:r>
              <a:rPr lang="en-US" altLang="zh-CN" sz="1400" dirty="0" err="1"/>
              <a:t>aplinfo</a:t>
            </a:r>
            <a:r>
              <a:rPr lang="en-US" altLang="zh-CN" sz="1400" dirty="0"/>
              <a:t>/</a:t>
            </a:r>
            <a:r>
              <a:rPr lang="en-US" altLang="zh-CN" sz="1400" dirty="0" err="1"/>
              <a:t>sintexf</a:t>
            </a:r>
            <a:r>
              <a:rPr lang="en-US" altLang="zh-CN" sz="1400" dirty="0"/>
              <a:t>/</a:t>
            </a:r>
            <a:r>
              <a:rPr lang="en-US" altLang="zh-CN" sz="1400" dirty="0" err="1"/>
              <a:t>iod</a:t>
            </a:r>
            <a:r>
              <a:rPr lang="en-US" altLang="zh-CN" sz="1400" dirty="0"/>
              <a:t>/</a:t>
            </a:r>
            <a:r>
              <a:rPr lang="en-US" altLang="zh-CN" sz="1400" dirty="0" err="1"/>
              <a:t>dipole_mode_index.html</a:t>
            </a:r>
            <a:endParaRPr kumimoji="0" lang="en-US" altLang="zh-CN" sz="1400" b="0" i="0" u="none" strike="noStrike" kern="1200" cap="none" spc="0" normalizeH="0" baseline="0" noProof="0" dirty="0">
              <a:ln>
                <a:noFill/>
              </a:ln>
              <a:effectLst/>
              <a:uLnTx/>
              <a:uFillTx/>
              <a:latin typeface="Gill Sans MT" panose="020B0502020104020203"/>
              <a:ea typeface="华文中宋" panose="02010600040101010101" pitchFamily="2" charset="-122"/>
              <a:cs typeface="+mn-cs"/>
            </a:endParaRPr>
          </a:p>
          <a:p>
            <a:pPr marL="285750" indent="-285750">
              <a:lnSpc>
                <a:spcPct val="150000"/>
              </a:lnSpc>
              <a:spcAft>
                <a:spcPts val="600"/>
              </a:spcAft>
              <a:buFont typeface="Arial" panose="020B0604020202020204" pitchFamily="34" charset="0"/>
              <a:buChar char="•"/>
              <a:defRPr/>
            </a:pPr>
            <a:r>
              <a:rPr lang="en-US" altLang="zh-CN" sz="1400" dirty="0"/>
              <a:t>SAM: </a:t>
            </a:r>
          </a:p>
          <a:p>
            <a:pPr marL="285750" indent="-285750">
              <a:lnSpc>
                <a:spcPct val="150000"/>
              </a:lnSpc>
              <a:spcAft>
                <a:spcPts val="600"/>
              </a:spcAft>
              <a:buFont typeface="Arial" panose="020B0604020202020204" pitchFamily="34" charset="0"/>
              <a:buChar char="•"/>
              <a:defRPr/>
            </a:pPr>
            <a:r>
              <a:rPr lang="en-US" altLang="zh-CN" sz="1400" dirty="0"/>
              <a:t>http://</a:t>
            </a:r>
            <a:r>
              <a:rPr lang="en-US" altLang="zh-CN" sz="1400" dirty="0" err="1"/>
              <a:t>www.nerc-bas.ac.uk</a:t>
            </a:r>
            <a:r>
              <a:rPr lang="en-US" altLang="zh-CN" sz="1400" dirty="0"/>
              <a:t>/</a:t>
            </a:r>
            <a:r>
              <a:rPr lang="en-US" altLang="zh-CN" sz="1400" dirty="0" err="1"/>
              <a:t>icd</a:t>
            </a:r>
            <a:r>
              <a:rPr lang="en-US" altLang="zh-CN" sz="1400" dirty="0"/>
              <a:t>/</a:t>
            </a:r>
            <a:r>
              <a:rPr lang="en-US" altLang="zh-CN" sz="1400" dirty="0" err="1"/>
              <a:t>gjma</a:t>
            </a:r>
            <a:r>
              <a:rPr lang="en-US" altLang="zh-CN" sz="1400" dirty="0"/>
              <a:t>/</a:t>
            </a:r>
            <a:r>
              <a:rPr lang="en-US" altLang="zh-CN" sz="1400" dirty="0" err="1"/>
              <a:t>sam.html</a:t>
            </a:r>
            <a:endParaRPr lang="en-US" altLang="zh-CN" sz="1400" dirty="0"/>
          </a:p>
          <a:p>
            <a:pPr marL="285750" lvl="0" indent="-285750">
              <a:lnSpc>
                <a:spcPct val="150000"/>
              </a:lnSpc>
              <a:spcAft>
                <a:spcPts val="600"/>
              </a:spcAft>
              <a:buFont typeface="Arial" panose="020B0604020202020204" pitchFamily="34" charset="0"/>
              <a:buChar char="•"/>
              <a:defRPr/>
            </a:pPr>
            <a:r>
              <a:rPr lang="en-US" altLang="zh-CN" sz="1400" dirty="0" err="1">
                <a:latin typeface="Gill Sans MT" panose="020B0502020104020203"/>
                <a:ea typeface="华文中宋" panose="02010600040101010101" pitchFamily="2" charset="-122"/>
              </a:rPr>
              <a:t>ZW3</a:t>
            </a:r>
            <a:r>
              <a:rPr lang="en-US" altLang="zh-CN" sz="1400" dirty="0"/>
              <a:t>: https://</a:t>
            </a:r>
            <a:r>
              <a:rPr lang="en-US" altLang="zh-CN" sz="1400" dirty="0" err="1"/>
              <a:t>data.mendeley.com</a:t>
            </a:r>
            <a:r>
              <a:rPr lang="en-US" altLang="zh-CN" sz="1400" dirty="0"/>
              <a:t>/datasets/</a:t>
            </a:r>
            <a:r>
              <a:rPr lang="en-US" altLang="zh-CN" sz="1400" dirty="0" err="1"/>
              <a:t>382gmc8937</a:t>
            </a:r>
            <a:r>
              <a:rPr lang="en-US" altLang="zh-CN" sz="1400" dirty="0"/>
              <a:t>/1</a:t>
            </a:r>
            <a:endParaRPr lang="zh-CN" altLang="en-US" sz="1400" dirty="0"/>
          </a:p>
        </p:txBody>
      </p:sp>
      <p:sp>
        <p:nvSpPr>
          <p:cNvPr id="7" name="内容占位符 6">
            <a:extLst>
              <a:ext uri="{FF2B5EF4-FFF2-40B4-BE49-F238E27FC236}">
                <a16:creationId xmlns:a16="http://schemas.microsoft.com/office/drawing/2014/main" id="{DB425974-2272-5652-37DC-EE38A33679A8}"/>
              </a:ext>
            </a:extLst>
          </p:cNvPr>
          <p:cNvSpPr>
            <a:spLocks noGrp="1"/>
          </p:cNvSpPr>
          <p:nvPr>
            <p:ph idx="1"/>
          </p:nvPr>
        </p:nvSpPr>
        <p:spPr>
          <a:xfrm>
            <a:off x="5156200" y="768351"/>
            <a:ext cx="6102350" cy="5505450"/>
          </a:xfrm>
        </p:spPr>
        <p:txBody>
          <a:bodyPr>
            <a:normAutofit fontScale="77500" lnSpcReduction="20000"/>
          </a:bodyPr>
          <a:lstStyle/>
          <a:p>
            <a:r>
              <a:rPr lang="en-NZ" altLang="zh-CN" b="1" dirty="0"/>
              <a:t>SOI (Southern Oscillation Index)</a:t>
            </a:r>
            <a:r>
              <a:rPr lang="zh-CN" altLang="en-US" b="1" dirty="0"/>
              <a:t>：</a:t>
            </a:r>
            <a:r>
              <a:rPr lang="en-NZ" altLang="zh-CN" dirty="0"/>
              <a:t>the sea-level pressure difference between Tahiti and Darwin to track </a:t>
            </a:r>
            <a:r>
              <a:rPr lang="en-NZ" altLang="zh-CN" dirty="0" err="1"/>
              <a:t>ENSO’s</a:t>
            </a:r>
            <a:r>
              <a:rPr lang="en-NZ" altLang="zh-CN" dirty="0"/>
              <a:t> atmospheric state—negative values typically indicate El Niño and positive values indicate La Niña. </a:t>
            </a:r>
            <a:r>
              <a:rPr lang="en-US" altLang="zh-CN" dirty="0"/>
              <a:t>Eastern Pacific pressure. Western Pacific pressure (</a:t>
            </a:r>
            <a:r>
              <a:rPr lang="en-US" altLang="zh-CN" dirty="0" err="1"/>
              <a:t>Restandardized</a:t>
            </a:r>
            <a:r>
              <a:rPr lang="en-US" altLang="zh-CN" dirty="0"/>
              <a:t>)</a:t>
            </a:r>
          </a:p>
          <a:p>
            <a:endParaRPr lang="en-US" altLang="zh-CN" dirty="0"/>
          </a:p>
          <a:p>
            <a:r>
              <a:rPr lang="en-US" altLang="zh-CN" b="1" dirty="0" err="1"/>
              <a:t>PDO</a:t>
            </a:r>
            <a:r>
              <a:rPr lang="en-US" altLang="zh-CN" b="1" dirty="0"/>
              <a:t>:</a:t>
            </a:r>
            <a:r>
              <a:rPr lang="en-US" altLang="zh-CN" dirty="0"/>
              <a:t> A decadal-scale “warm vs. cool” sea-surface temperature pattern in the North Pacific that shifts climate and rainfall patterns.</a:t>
            </a:r>
          </a:p>
          <a:p>
            <a:endParaRPr lang="en-US" altLang="zh-CN" dirty="0"/>
          </a:p>
          <a:p>
            <a:r>
              <a:rPr lang="en-US" altLang="zh-CN" b="1" dirty="0"/>
              <a:t>IOD/</a:t>
            </a:r>
            <a:r>
              <a:rPr lang="en-US" altLang="zh-CN" b="1" dirty="0" err="1"/>
              <a:t>DMI</a:t>
            </a:r>
            <a:r>
              <a:rPr lang="en-US" altLang="zh-CN" b="1" dirty="0"/>
              <a:t>:</a:t>
            </a:r>
            <a:r>
              <a:rPr lang="en-US" altLang="zh-CN" dirty="0"/>
              <a:t> Measures the west–east sea-surface temperature contrast in the Indian Ocean (quantified by </a:t>
            </a:r>
            <a:r>
              <a:rPr lang="en-US" altLang="zh-CN" dirty="0" err="1"/>
              <a:t>DMI</a:t>
            </a:r>
            <a:r>
              <a:rPr lang="en-US" altLang="zh-CN" dirty="0"/>
              <a:t>), shaping monsoon strength and rainfall. SST′(Western Indian Ocean) − SST′(Southeastern/Eastern Indian Ocean)</a:t>
            </a:r>
          </a:p>
          <a:p>
            <a:endParaRPr lang="en-US" altLang="zh-CN" dirty="0"/>
          </a:p>
          <a:p>
            <a:r>
              <a:rPr lang="en-US" altLang="zh-CN" b="1" dirty="0"/>
              <a:t>SAM:</a:t>
            </a:r>
            <a:r>
              <a:rPr lang="en-US" altLang="zh-CN" dirty="0"/>
              <a:t> Tracks how the Southern Hemisphere westerly wind belt strengthens and shifts north–south, affecting storm tracks and weather/ocean conditions.</a:t>
            </a:r>
          </a:p>
          <a:p>
            <a:endParaRPr lang="en-US" altLang="zh-CN" dirty="0"/>
          </a:p>
          <a:p>
            <a:r>
              <a:rPr lang="en-US" altLang="zh-CN" b="1" dirty="0" err="1"/>
              <a:t>ZW3</a:t>
            </a:r>
            <a:r>
              <a:rPr lang="en-US" altLang="zh-CN" b="1" dirty="0"/>
              <a:t>:</a:t>
            </a:r>
            <a:r>
              <a:rPr lang="en-US" altLang="zh-CN" dirty="0"/>
              <a:t> A Southern Ocean/Antarctic circulation pattern with three repeating ridges and troughs around the hemisphere, influencing winds and regional climate.</a:t>
            </a:r>
            <a:endParaRPr lang="zh-CN" altLang="en-US" dirty="0"/>
          </a:p>
        </p:txBody>
      </p:sp>
    </p:spTree>
    <p:extLst>
      <p:ext uri="{BB962C8B-B14F-4D97-AF65-F5344CB8AC3E}">
        <p14:creationId xmlns:p14="http://schemas.microsoft.com/office/powerpoint/2010/main" val="2992161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2736DFE-F935-3CDE-7EA8-CC69DF9964E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7EFF5CA-9EFD-C8ED-8640-159376DEBF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48635C8E-DD5B-AE3F-D084-BB4D160494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034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a:extLst>
              <a:ext uri="{FF2B5EF4-FFF2-40B4-BE49-F238E27FC236}">
                <a16:creationId xmlns:a16="http://schemas.microsoft.com/office/drawing/2014/main" id="{D81689B3-39D2-14A6-0108-FF0DBC1C0A16}"/>
              </a:ext>
            </a:extLst>
          </p:cNvPr>
          <p:cNvSpPr>
            <a:spLocks noGrp="1"/>
          </p:cNvSpPr>
          <p:nvPr>
            <p:ph type="title"/>
          </p:nvPr>
        </p:nvSpPr>
        <p:spPr>
          <a:xfrm>
            <a:off x="1114425" y="266700"/>
            <a:ext cx="2962275" cy="2095500"/>
          </a:xfrm>
        </p:spPr>
        <p:txBody>
          <a:bodyPr anchor="ctr">
            <a:normAutofit/>
          </a:bodyPr>
          <a:lstStyle/>
          <a:p>
            <a:r>
              <a:rPr lang="en-US" altLang="zh-CN" sz="3600" dirty="0"/>
              <a:t>Climate index</a:t>
            </a:r>
            <a:br>
              <a:rPr lang="en-US" altLang="zh-CN" sz="3600" dirty="0"/>
            </a:br>
            <a:endParaRPr lang="zh-CN" altLang="en-US" sz="3600" dirty="0"/>
          </a:p>
        </p:txBody>
      </p:sp>
      <p:sp>
        <p:nvSpPr>
          <p:cNvPr id="12" name="Freeform 6">
            <a:extLst>
              <a:ext uri="{FF2B5EF4-FFF2-40B4-BE49-F238E27FC236}">
                <a16:creationId xmlns:a16="http://schemas.microsoft.com/office/drawing/2014/main" id="{5DBE1FAB-C14E-3FC8-A41B-2AA9C69EA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75000"/>
              <a:alpha val="70000"/>
            </a:schemeClr>
          </a:solidFill>
          <a:ln w="0">
            <a:noFill/>
            <a:prstDash val="solid"/>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sp>
        <p:nvSpPr>
          <p:cNvPr id="3" name="文本框 2">
            <a:extLst>
              <a:ext uri="{FF2B5EF4-FFF2-40B4-BE49-F238E27FC236}">
                <a16:creationId xmlns:a16="http://schemas.microsoft.com/office/drawing/2014/main" id="{9CBB52D9-325D-6D77-695D-F3AD8486BA61}"/>
              </a:ext>
            </a:extLst>
          </p:cNvPr>
          <p:cNvSpPr txBox="1"/>
          <p:nvPr/>
        </p:nvSpPr>
        <p:spPr>
          <a:xfrm>
            <a:off x="361950" y="1708150"/>
            <a:ext cx="4195762" cy="5086457"/>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60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Data source:</a:t>
            </a:r>
          </a:p>
          <a:p>
            <a:pPr marL="285750" marR="0" lvl="0" indent="-285750" algn="l" defTabSz="4572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SOI: https://</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www.ncei.noaa.gov</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/access/monitoring/</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enso</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/soi</a:t>
            </a:r>
          </a:p>
          <a:p>
            <a:pPr marL="285750" marR="0" lvl="0" indent="-285750" algn="l" defTabSz="4572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PDO</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 https://</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www.data.jma.go.jp</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tcc</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tcc</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/products/</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elnino</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/decadal/</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pdo_month.html</a:t>
            </a:r>
            <a:endPar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a:p>
            <a:pPr marL="285750" marR="0" lvl="0" indent="-285750" algn="l" defTabSz="4572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IOD (</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DMI</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 https://</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www.jamstec.go.jp</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aplinfo</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sintexf</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iod</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dipole_mode_index.html</a:t>
            </a:r>
            <a:endPar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a:p>
            <a:pPr marL="285750" marR="0" lvl="0" indent="-285750" algn="l" defTabSz="4572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SAM: </a:t>
            </a:r>
          </a:p>
          <a:p>
            <a:pPr marL="285750" marR="0" lvl="0" indent="-285750" algn="l" defTabSz="4572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http://</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www.nerc-bas.ac.uk</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icd</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gjma</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sam.html</a:t>
            </a:r>
            <a:endPar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a:p>
            <a:pPr marL="285750" marR="0" lvl="0" indent="-285750" algn="l" defTabSz="4572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ZW3</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 https://</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data.mendeley.com</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/datasets/</a:t>
            </a:r>
            <a:r>
              <a:rPr kumimoji="0" lang="en-US" altLang="zh-CN" sz="1400" b="0" i="0" u="none" strike="noStrike" kern="1200" cap="none" spc="0" normalizeH="0" baseline="0" noProof="0" dirty="0" err="1">
                <a:ln>
                  <a:noFill/>
                </a:ln>
                <a:solidFill>
                  <a:prstClr val="black"/>
                </a:solidFill>
                <a:effectLst/>
                <a:uLnTx/>
                <a:uFillTx/>
                <a:latin typeface="Gill Sans MT" panose="020B0502020104020203"/>
                <a:ea typeface="华文中宋" panose="02010600040101010101" pitchFamily="2" charset="-122"/>
                <a:cs typeface="+mn-cs"/>
              </a:rPr>
              <a:t>382gmc8937</a:t>
            </a:r>
            <a:r>
              <a:rPr kumimoji="0" lang="en-US" altLang="zh-CN"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rPr>
              <a:t>/1</a:t>
            </a:r>
            <a:endParaRPr kumimoji="0" lang="zh-CN" altLang="en-US" sz="1400" b="0" i="0" u="none" strike="noStrike" kern="1200" cap="none" spc="0" normalizeH="0" baseline="0" noProof="0" dirty="0">
              <a:ln>
                <a:noFill/>
              </a:ln>
              <a:solidFill>
                <a:prstClr val="black"/>
              </a:solidFill>
              <a:effectLst/>
              <a:uLnTx/>
              <a:uFillTx/>
              <a:latin typeface="Gill Sans MT" panose="020B0502020104020203"/>
              <a:ea typeface="华文中宋" panose="02010600040101010101" pitchFamily="2" charset="-122"/>
              <a:cs typeface="+mn-cs"/>
            </a:endParaRPr>
          </a:p>
        </p:txBody>
      </p:sp>
      <p:graphicFrame>
        <p:nvGraphicFramePr>
          <p:cNvPr id="4" name="内容占位符 3">
            <a:extLst>
              <a:ext uri="{FF2B5EF4-FFF2-40B4-BE49-F238E27FC236}">
                <a16:creationId xmlns:a16="http://schemas.microsoft.com/office/drawing/2014/main" id="{0C3607EF-2491-F84F-CF04-A189593D00B3}"/>
              </a:ext>
            </a:extLst>
          </p:cNvPr>
          <p:cNvGraphicFramePr>
            <a:graphicFrameLocks noGrp="1"/>
          </p:cNvGraphicFramePr>
          <p:nvPr>
            <p:ph idx="1"/>
            <p:extLst>
              <p:ext uri="{D42A27DB-BD31-4B8C-83A1-F6EECF244321}">
                <p14:modId xmlns:p14="http://schemas.microsoft.com/office/powerpoint/2010/main" val="218997687"/>
              </p:ext>
            </p:extLst>
          </p:nvPr>
        </p:nvGraphicFramePr>
        <p:xfrm>
          <a:off x="5002293" y="577849"/>
          <a:ext cx="6769100" cy="5702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9643001"/>
      </p:ext>
    </p:extLst>
  </p:cSld>
  <p:clrMapOvr>
    <a:masterClrMapping/>
  </p:clrMapOvr>
</p:sld>
</file>

<file path=ppt/theme/theme1.xml><?xml version="1.0" encoding="utf-8"?>
<a:theme xmlns:a="http://schemas.openxmlformats.org/drawingml/2006/main" name="徽章">
  <a:themeElements>
    <a:clrScheme name="徽章">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徽章">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徽章">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
  <TotalTime>704</TotalTime>
  <Words>958</Words>
  <Application>Microsoft Office PowerPoint</Application>
  <PresentationFormat>宽屏</PresentationFormat>
  <Paragraphs>111</Paragraphs>
  <Slides>10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Arial</vt:lpstr>
      <vt:lpstr>Gill Sans MT</vt:lpstr>
      <vt:lpstr>Impact</vt:lpstr>
      <vt:lpstr>徽章</vt:lpstr>
      <vt:lpstr>Project update 2026.1.31</vt:lpstr>
      <vt:lpstr>Main change</vt:lpstr>
      <vt:lpstr>Optimizing Data Preprocessing </vt:lpstr>
      <vt:lpstr>Optimizing Data Preprocessing </vt:lpstr>
      <vt:lpstr>Cross-Correlation </vt:lpstr>
      <vt:lpstr>Cross-Correlation </vt:lpstr>
      <vt:lpstr>Cross-Correlation </vt:lpstr>
      <vt:lpstr>K-means / Wavelet analysis </vt:lpstr>
      <vt:lpstr>Climate index </vt:lpstr>
      <vt:lpstr>Climate index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Chang Liu</dc:creator>
  <cp:lastModifiedBy>Chang Liu</cp:lastModifiedBy>
  <cp:revision>2</cp:revision>
  <dcterms:created xsi:type="dcterms:W3CDTF">2026-01-30T23:00:11Z</dcterms:created>
  <dcterms:modified xsi:type="dcterms:W3CDTF">2026-01-31T10:46:43Z</dcterms:modified>
</cp:coreProperties>
</file>